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312" r:id="rId7"/>
    <p:sldId id="297" r:id="rId8"/>
    <p:sldId id="313" r:id="rId9"/>
    <p:sldId id="314" r:id="rId10"/>
    <p:sldId id="261" r:id="rId11"/>
    <p:sldId id="285" r:id="rId12"/>
    <p:sldId id="275" r:id="rId13"/>
    <p:sldId id="302" r:id="rId14"/>
    <p:sldId id="309" r:id="rId15"/>
    <p:sldId id="288" r:id="rId16"/>
    <p:sldId id="304" r:id="rId17"/>
    <p:sldId id="308" r:id="rId18"/>
    <p:sldId id="310" r:id="rId19"/>
    <p:sldId id="311" r:id="rId20"/>
    <p:sldId id="315" r:id="rId21"/>
    <p:sldId id="316" r:id="rId22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05" autoAdjust="0"/>
    <p:restoredTop sz="93142" autoAdjust="0"/>
  </p:normalViewPr>
  <p:slideViewPr>
    <p:cSldViewPr>
      <p:cViewPr varScale="1">
        <p:scale>
          <a:sx n="149" d="100"/>
          <a:sy n="149" d="100"/>
        </p:scale>
        <p:origin x="1632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07F8AE-45F7-49B6-AEAE-51E3D6862EAD}" type="doc">
      <dgm:prSet loTypeId="urn:microsoft.com/office/officeart/2005/8/layout/hierarchy2" loCatId="hierarchy" qsTypeId="urn:microsoft.com/office/officeart/2005/8/quickstyle/simple2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3405267E-2979-4CD1-A879-E4008ABDCEBF}">
      <dgm:prSet phldrT="[Text]" custT="1"/>
      <dgm:spPr>
        <a:xfrm>
          <a:off x="78736" y="2384331"/>
          <a:ext cx="2095428" cy="1047714"/>
        </a:xfrm>
        <a:prstGeom prst="roundRect">
          <a:avLst>
            <a:gd name="adj" fmla="val 10000"/>
          </a:avLst>
        </a:prstGeom>
        <a:ln>
          <a:solidFill>
            <a:srgbClr val="3333B2"/>
          </a:solidFill>
        </a:ln>
      </dgm:spPr>
      <dgm:t>
        <a:bodyPr/>
        <a:lstStyle/>
        <a:p>
          <a:pPr>
            <a:buNone/>
          </a:pPr>
          <a:r>
            <a:rPr lang="en-US" sz="1400" b="1" dirty="0">
              <a:solidFill>
                <a:schemeClr val="tx1"/>
              </a:solidFill>
            </a:rPr>
            <a:t>Two broad empirical strategies</a:t>
          </a:r>
          <a:endParaRPr lang="en-US" sz="1400" b="1" dirty="0">
            <a:latin typeface="Calisto MT" panose="02040603050505030304" pitchFamily="18" charset="0"/>
            <a:ea typeface="+mn-ea"/>
            <a:cs typeface="+mn-cs"/>
          </a:endParaRPr>
        </a:p>
      </dgm:t>
    </dgm:pt>
    <dgm:pt modelId="{53A7618A-3E3F-4F1C-8490-E59F7A2AF626}" type="parTrans" cxnId="{D4C2B6C5-6183-460A-885F-5F5A34EA27EB}">
      <dgm:prSet/>
      <dgm:spPr/>
      <dgm:t>
        <a:bodyPr/>
        <a:lstStyle/>
        <a:p>
          <a:endParaRPr lang="en-US"/>
        </a:p>
      </dgm:t>
    </dgm:pt>
    <dgm:pt modelId="{B17083E1-62CB-4E38-A7EE-F637B871D195}" type="sibTrans" cxnId="{D4C2B6C5-6183-460A-885F-5F5A34EA27EB}">
      <dgm:prSet/>
      <dgm:spPr/>
      <dgm:t>
        <a:bodyPr/>
        <a:lstStyle/>
        <a:p>
          <a:endParaRPr lang="en-US"/>
        </a:p>
      </dgm:t>
    </dgm:pt>
    <dgm:pt modelId="{0E92DC10-3B6D-48B9-8675-5B7D6F041301}">
      <dgm:prSet phldrT="[Text]" custT="1"/>
      <dgm:spPr>
        <a:xfrm>
          <a:off x="2939708" y="2416347"/>
          <a:ext cx="2095428" cy="1047714"/>
        </a:xfrm>
        <a:prstGeom prst="roundRect">
          <a:avLst>
            <a:gd name="adj" fmla="val 10000"/>
          </a:avLst>
        </a:prstGeom>
        <a:ln>
          <a:solidFill>
            <a:srgbClr val="3333B2"/>
          </a:solidFill>
        </a:ln>
      </dgm:spPr>
      <dgm:t>
        <a:bodyPr/>
        <a:lstStyle/>
        <a:p>
          <a:pPr algn="ctr">
            <a:lnSpc>
              <a:spcPct val="90000"/>
            </a:lnSpc>
            <a:spcAft>
              <a:spcPct val="35000"/>
            </a:spcAft>
            <a:buNone/>
          </a:pPr>
          <a:r>
            <a:rPr lang="en-US" sz="1000" b="1" dirty="0"/>
            <a:t>Three-step approach (3SLS)</a:t>
          </a:r>
        </a:p>
        <a:p>
          <a:pPr algn="ctr">
            <a:lnSpc>
              <a:spcPct val="100000"/>
            </a:lnSpc>
            <a:spcAft>
              <a:spcPts val="100"/>
            </a:spcAft>
            <a:buNone/>
          </a:pPr>
          <a:r>
            <a:rPr lang="en-US" sz="1000" b="1" dirty="0">
              <a:latin typeface="Calisto MT" panose="02040603050505030304" pitchFamily="18" charset="0"/>
              <a:ea typeface="+mn-ea"/>
              <a:cs typeface="+mn-cs"/>
            </a:rPr>
            <a:t>- </a:t>
          </a:r>
          <a:r>
            <a:rPr lang="en-US" sz="800" dirty="0"/>
            <a:t>deals with unconventional MP</a:t>
          </a:r>
        </a:p>
        <a:p>
          <a:pPr algn="ctr">
            <a:lnSpc>
              <a:spcPct val="100000"/>
            </a:lnSpc>
            <a:spcAft>
              <a:spcPts val="100"/>
            </a:spcAft>
            <a:buFontTx/>
            <a:buChar char="-"/>
          </a:pPr>
          <a:r>
            <a:rPr lang="en-US" sz="800" u="sng" dirty="0"/>
            <a:t>First step</a:t>
          </a:r>
          <a:r>
            <a:rPr lang="en-US" sz="800" dirty="0"/>
            <a:t>: VAR model to estimate the aggregate effects of monetary policy on economic variables. </a:t>
          </a:r>
        </a:p>
        <a:p>
          <a:pPr algn="ctr">
            <a:lnSpc>
              <a:spcPct val="100000"/>
            </a:lnSpc>
            <a:spcAft>
              <a:spcPts val="100"/>
            </a:spcAft>
            <a:buFontTx/>
            <a:buChar char="-"/>
          </a:pPr>
          <a:r>
            <a:rPr lang="en-US" sz="800" u="sng" dirty="0"/>
            <a:t>Second step</a:t>
          </a:r>
          <a:r>
            <a:rPr lang="en-US" sz="800" dirty="0"/>
            <a:t>: Logit/Probit models to distribute aggregate changes into individual-level data</a:t>
          </a:r>
        </a:p>
        <a:p>
          <a:pPr algn="ctr">
            <a:lnSpc>
              <a:spcPct val="100000"/>
            </a:lnSpc>
            <a:spcAft>
              <a:spcPts val="100"/>
            </a:spcAft>
            <a:buFontTx/>
            <a:buChar char="-"/>
          </a:pPr>
          <a:r>
            <a:rPr lang="en-US" sz="800" u="sng" dirty="0"/>
            <a:t>Third step</a:t>
          </a:r>
          <a:r>
            <a:rPr lang="en-US" sz="800" dirty="0"/>
            <a:t>: Individual changes are re-aggregated in inequality measures to be compared</a:t>
          </a:r>
          <a:endParaRPr lang="en-US" sz="800" dirty="0">
            <a:latin typeface="Calisto MT" panose="02040603050505030304" pitchFamily="18" charset="0"/>
            <a:ea typeface="+mn-ea"/>
            <a:cs typeface="+mn-cs"/>
          </a:endParaRPr>
        </a:p>
      </dgm:t>
    </dgm:pt>
    <dgm:pt modelId="{346F61E1-6331-4FEE-B596-0BB815BB4E59}" type="parTrans" cxnId="{B9F18325-BF34-46C3-A2BC-BD9766621D85}">
      <dgm:prSet/>
      <dgm:spPr>
        <a:xfrm rot="143685">
          <a:off x="2173830" y="2908567"/>
          <a:ext cx="766213" cy="31258"/>
        </a:xfrm>
        <a:custGeom>
          <a:avLst/>
          <a:gdLst/>
          <a:ahLst/>
          <a:cxnLst/>
          <a:rect l="0" t="0" r="0" b="0"/>
          <a:pathLst>
            <a:path>
              <a:moveTo>
                <a:pt x="0" y="15629"/>
              </a:moveTo>
              <a:lnTo>
                <a:pt x="766213" y="15629"/>
              </a:lnTo>
            </a:path>
          </a:pathLst>
        </a:custGeom>
        <a:ln>
          <a:solidFill>
            <a:srgbClr val="3333B2"/>
          </a:solidFill>
        </a:ln>
      </dgm:spPr>
      <dgm:t>
        <a:bodyPr/>
        <a:lstStyle/>
        <a:p>
          <a:pPr>
            <a:buNone/>
          </a:pPr>
          <a:endParaRPr lang="en-US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Franklin Gothic Book" panose="020B0503020102020204"/>
            <a:ea typeface="+mn-ea"/>
            <a:cs typeface="+mn-cs"/>
          </a:endParaRPr>
        </a:p>
      </dgm:t>
    </dgm:pt>
    <dgm:pt modelId="{AE4AB54A-A47A-45DB-B540-28A828CEBC46}" type="sibTrans" cxnId="{B9F18325-BF34-46C3-A2BC-BD9766621D85}">
      <dgm:prSet/>
      <dgm:spPr/>
      <dgm:t>
        <a:bodyPr/>
        <a:lstStyle/>
        <a:p>
          <a:endParaRPr lang="en-US"/>
        </a:p>
      </dgm:t>
    </dgm:pt>
    <dgm:pt modelId="{374C7292-F035-45D5-BA1B-3064AB9ED583}">
      <dgm:prSet phldrT="[Text]" custT="1"/>
      <dgm:spPr>
        <a:xfrm>
          <a:off x="2939708" y="3779926"/>
          <a:ext cx="2095428" cy="1047714"/>
        </a:xfrm>
        <a:prstGeom prst="roundRect">
          <a:avLst>
            <a:gd name="adj" fmla="val 10000"/>
          </a:avLst>
        </a:prstGeom>
        <a:ln>
          <a:solidFill>
            <a:srgbClr val="3333B2"/>
          </a:solidFill>
        </a:ln>
      </dgm:spPr>
      <dgm:t>
        <a:bodyPr/>
        <a:lstStyle/>
        <a:p>
          <a:pPr>
            <a:buNone/>
          </a:pPr>
          <a:r>
            <a:rPr lang="en-US" sz="1050" b="1" dirty="0"/>
            <a:t>Using readily disposable data</a:t>
          </a:r>
        </a:p>
        <a:p>
          <a:r>
            <a:rPr lang="en-US" sz="800" b="1" dirty="0"/>
            <a:t>- </a:t>
          </a:r>
          <a:r>
            <a:rPr lang="en-US" sz="800" b="0" dirty="0"/>
            <a:t>deals with conventional MP</a:t>
          </a:r>
        </a:p>
        <a:p>
          <a:r>
            <a:rPr lang="en-US" sz="800" b="0" dirty="0"/>
            <a:t>-data on Gini coefficients or percentiles ratios </a:t>
          </a:r>
        </a:p>
        <a:p>
          <a:r>
            <a:rPr lang="en-US" sz="800" b="0" dirty="0"/>
            <a:t>-uses VAR models (Bayesian VAR, Panel VAR, Structural VAR) or Local Projections </a:t>
          </a:r>
        </a:p>
        <a:p>
          <a:endParaRPr lang="en-US" sz="800" dirty="0">
            <a:latin typeface="Calisto MT" panose="02040603050505030304" pitchFamily="18" charset="0"/>
            <a:ea typeface="+mn-ea"/>
            <a:cs typeface="+mn-cs"/>
          </a:endParaRPr>
        </a:p>
      </dgm:t>
    </dgm:pt>
    <dgm:pt modelId="{821A7E3C-232C-47E3-BC58-D7F716BDDF87}" type="sibTrans" cxnId="{691B8E65-C656-462C-B42F-E981DBD83928}">
      <dgm:prSet/>
      <dgm:spPr/>
      <dgm:t>
        <a:bodyPr/>
        <a:lstStyle/>
        <a:p>
          <a:endParaRPr lang="en-US"/>
        </a:p>
      </dgm:t>
    </dgm:pt>
    <dgm:pt modelId="{7866F99F-1E66-4308-B18C-D29AA9CF6695}" type="parTrans" cxnId="{691B8E65-C656-462C-B42F-E981DBD83928}">
      <dgm:prSet/>
      <dgm:spPr>
        <a:xfrm rot="3675200">
          <a:off x="1761050" y="3590357"/>
          <a:ext cx="1591773" cy="31258"/>
        </a:xfrm>
        <a:custGeom>
          <a:avLst/>
          <a:gdLst/>
          <a:ahLst/>
          <a:cxnLst/>
          <a:rect l="0" t="0" r="0" b="0"/>
          <a:pathLst>
            <a:path>
              <a:moveTo>
                <a:pt x="0" y="15629"/>
              </a:moveTo>
              <a:lnTo>
                <a:pt x="1591773" y="15629"/>
              </a:lnTo>
            </a:path>
          </a:pathLst>
        </a:custGeom>
        <a:ln>
          <a:solidFill>
            <a:srgbClr val="3333B2"/>
          </a:solidFill>
        </a:ln>
      </dgm:spPr>
      <dgm:t>
        <a:bodyPr/>
        <a:lstStyle/>
        <a:p>
          <a:pPr>
            <a:buNone/>
          </a:pPr>
          <a:endParaRPr lang="en-US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Franklin Gothic Book" panose="020B0503020102020204"/>
            <a:ea typeface="+mn-ea"/>
            <a:cs typeface="+mn-cs"/>
          </a:endParaRPr>
        </a:p>
      </dgm:t>
    </dgm:pt>
    <dgm:pt modelId="{F4F77239-7E09-485C-AE15-A1B34BF0D139}" type="pres">
      <dgm:prSet presAssocID="{5707F8AE-45F7-49B6-AEAE-51E3D6862EAD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99ACCEBE-6807-4910-9F28-DD5C072F64E2}" type="pres">
      <dgm:prSet presAssocID="{3405267E-2979-4CD1-A879-E4008ABDCEBF}" presName="root1" presStyleCnt="0"/>
      <dgm:spPr/>
    </dgm:pt>
    <dgm:pt modelId="{481B6873-3A7A-4B65-A933-F0FBF50D969B}" type="pres">
      <dgm:prSet presAssocID="{3405267E-2979-4CD1-A879-E4008ABDCEBF}" presName="LevelOneTextNode" presStyleLbl="node0" presStyleIdx="0" presStyleCnt="1" custScaleX="105520" custScaleY="126325" custLinFactNeighborX="3466" custLinFactNeighborY="-2773">
        <dgm:presLayoutVars>
          <dgm:chPref val="3"/>
        </dgm:presLayoutVars>
      </dgm:prSet>
      <dgm:spPr/>
    </dgm:pt>
    <dgm:pt modelId="{2B3C0738-E7BB-42C6-AAB6-727A9E8D7657}" type="pres">
      <dgm:prSet presAssocID="{3405267E-2979-4CD1-A879-E4008ABDCEBF}" presName="level2hierChild" presStyleCnt="0"/>
      <dgm:spPr/>
    </dgm:pt>
    <dgm:pt modelId="{4466765A-BF64-40B9-AA58-A27070902288}" type="pres">
      <dgm:prSet presAssocID="{346F61E1-6331-4FEE-B596-0BB815BB4E59}" presName="conn2-1" presStyleLbl="parChTrans1D2" presStyleIdx="0" presStyleCnt="2"/>
      <dgm:spPr/>
    </dgm:pt>
    <dgm:pt modelId="{637BA7E3-3454-405C-8E88-B3E1E054F4B1}" type="pres">
      <dgm:prSet presAssocID="{346F61E1-6331-4FEE-B596-0BB815BB4E59}" presName="connTx" presStyleLbl="parChTrans1D2" presStyleIdx="0" presStyleCnt="2"/>
      <dgm:spPr/>
    </dgm:pt>
    <dgm:pt modelId="{B0315F0B-7963-4E02-8F94-F78A08279E25}" type="pres">
      <dgm:prSet presAssocID="{0E92DC10-3B6D-48B9-8675-5B7D6F041301}" presName="root2" presStyleCnt="0"/>
      <dgm:spPr/>
    </dgm:pt>
    <dgm:pt modelId="{FD1DECA5-CFFD-4048-84E5-93C8B2F26835}" type="pres">
      <dgm:prSet presAssocID="{0E92DC10-3B6D-48B9-8675-5B7D6F041301}" presName="LevelTwoTextNode" presStyleLbl="node2" presStyleIdx="0" presStyleCnt="2" custScaleX="189122" custScaleY="213234">
        <dgm:presLayoutVars>
          <dgm:chPref val="3"/>
        </dgm:presLayoutVars>
      </dgm:prSet>
      <dgm:spPr/>
    </dgm:pt>
    <dgm:pt modelId="{CFA1421D-20C3-42FB-A1F8-4CF57DF29926}" type="pres">
      <dgm:prSet presAssocID="{0E92DC10-3B6D-48B9-8675-5B7D6F041301}" presName="level3hierChild" presStyleCnt="0"/>
      <dgm:spPr/>
    </dgm:pt>
    <dgm:pt modelId="{ED44B622-8A67-4766-AE38-45F78B95E8A9}" type="pres">
      <dgm:prSet presAssocID="{7866F99F-1E66-4308-B18C-D29AA9CF6695}" presName="conn2-1" presStyleLbl="parChTrans1D2" presStyleIdx="1" presStyleCnt="2"/>
      <dgm:spPr/>
    </dgm:pt>
    <dgm:pt modelId="{A5E0337B-01CD-4F2D-BE7F-D77A6C253C21}" type="pres">
      <dgm:prSet presAssocID="{7866F99F-1E66-4308-B18C-D29AA9CF6695}" presName="connTx" presStyleLbl="parChTrans1D2" presStyleIdx="1" presStyleCnt="2"/>
      <dgm:spPr/>
    </dgm:pt>
    <dgm:pt modelId="{7688A89F-E257-4986-B96B-40BF2A4F9A34}" type="pres">
      <dgm:prSet presAssocID="{374C7292-F035-45D5-BA1B-3064AB9ED583}" presName="root2" presStyleCnt="0"/>
      <dgm:spPr/>
    </dgm:pt>
    <dgm:pt modelId="{07B0F2EB-38D6-4604-B4D7-9B8232656C8F}" type="pres">
      <dgm:prSet presAssocID="{374C7292-F035-45D5-BA1B-3064AB9ED583}" presName="LevelTwoTextNode" presStyleLbl="node2" presStyleIdx="1" presStyleCnt="2" custScaleX="194477" custScaleY="210026">
        <dgm:presLayoutVars>
          <dgm:chPref val="3"/>
        </dgm:presLayoutVars>
      </dgm:prSet>
      <dgm:spPr/>
    </dgm:pt>
    <dgm:pt modelId="{A53E3C66-035E-47BB-9F65-09FFF8DA665D}" type="pres">
      <dgm:prSet presAssocID="{374C7292-F035-45D5-BA1B-3064AB9ED583}" presName="level3hierChild" presStyleCnt="0"/>
      <dgm:spPr/>
    </dgm:pt>
  </dgm:ptLst>
  <dgm:cxnLst>
    <dgm:cxn modelId="{B9F18325-BF34-46C3-A2BC-BD9766621D85}" srcId="{3405267E-2979-4CD1-A879-E4008ABDCEBF}" destId="{0E92DC10-3B6D-48B9-8675-5B7D6F041301}" srcOrd="0" destOrd="0" parTransId="{346F61E1-6331-4FEE-B596-0BB815BB4E59}" sibTransId="{AE4AB54A-A47A-45DB-B540-28A828CEBC46}"/>
    <dgm:cxn modelId="{81B4BB2F-2303-4DCC-845F-C4BCBCE53AFB}" type="presOf" srcId="{0E92DC10-3B6D-48B9-8675-5B7D6F041301}" destId="{FD1DECA5-CFFD-4048-84E5-93C8B2F26835}" srcOrd="0" destOrd="0" presId="urn:microsoft.com/office/officeart/2005/8/layout/hierarchy2"/>
    <dgm:cxn modelId="{691B8E65-C656-462C-B42F-E981DBD83928}" srcId="{3405267E-2979-4CD1-A879-E4008ABDCEBF}" destId="{374C7292-F035-45D5-BA1B-3064AB9ED583}" srcOrd="1" destOrd="0" parTransId="{7866F99F-1E66-4308-B18C-D29AA9CF6695}" sibTransId="{821A7E3C-232C-47E3-BC58-D7F716BDDF87}"/>
    <dgm:cxn modelId="{7E74597A-69DC-4D88-AD7D-710C0FB1914E}" type="presOf" srcId="{7866F99F-1E66-4308-B18C-D29AA9CF6695}" destId="{ED44B622-8A67-4766-AE38-45F78B95E8A9}" srcOrd="0" destOrd="0" presId="urn:microsoft.com/office/officeart/2005/8/layout/hierarchy2"/>
    <dgm:cxn modelId="{E3EA0E90-2031-4A42-82E3-40CC14BD3EA1}" type="presOf" srcId="{346F61E1-6331-4FEE-B596-0BB815BB4E59}" destId="{4466765A-BF64-40B9-AA58-A27070902288}" srcOrd="0" destOrd="0" presId="urn:microsoft.com/office/officeart/2005/8/layout/hierarchy2"/>
    <dgm:cxn modelId="{91B7B0B9-B61D-4D28-BBAD-386796D872A9}" type="presOf" srcId="{7866F99F-1E66-4308-B18C-D29AA9CF6695}" destId="{A5E0337B-01CD-4F2D-BE7F-D77A6C253C21}" srcOrd="1" destOrd="0" presId="urn:microsoft.com/office/officeart/2005/8/layout/hierarchy2"/>
    <dgm:cxn modelId="{D4C2B6C5-6183-460A-885F-5F5A34EA27EB}" srcId="{5707F8AE-45F7-49B6-AEAE-51E3D6862EAD}" destId="{3405267E-2979-4CD1-A879-E4008ABDCEBF}" srcOrd="0" destOrd="0" parTransId="{53A7618A-3E3F-4F1C-8490-E59F7A2AF626}" sibTransId="{B17083E1-62CB-4E38-A7EE-F637B871D195}"/>
    <dgm:cxn modelId="{F98F0BCD-7EF6-41CC-8D8B-DB0DFE554263}" type="presOf" srcId="{3405267E-2979-4CD1-A879-E4008ABDCEBF}" destId="{481B6873-3A7A-4B65-A933-F0FBF50D969B}" srcOrd="0" destOrd="0" presId="urn:microsoft.com/office/officeart/2005/8/layout/hierarchy2"/>
    <dgm:cxn modelId="{88BED8D5-31A0-46ED-BB13-2D8A04F65832}" type="presOf" srcId="{374C7292-F035-45D5-BA1B-3064AB9ED583}" destId="{07B0F2EB-38D6-4604-B4D7-9B8232656C8F}" srcOrd="0" destOrd="0" presId="urn:microsoft.com/office/officeart/2005/8/layout/hierarchy2"/>
    <dgm:cxn modelId="{1CF8D2EF-3447-414C-8AA2-39F4EB8DCD12}" type="presOf" srcId="{5707F8AE-45F7-49B6-AEAE-51E3D6862EAD}" destId="{F4F77239-7E09-485C-AE15-A1B34BF0D139}" srcOrd="0" destOrd="0" presId="urn:microsoft.com/office/officeart/2005/8/layout/hierarchy2"/>
    <dgm:cxn modelId="{A68FD4F3-B5E4-4215-A7E3-743AA9013F71}" type="presOf" srcId="{346F61E1-6331-4FEE-B596-0BB815BB4E59}" destId="{637BA7E3-3454-405C-8E88-B3E1E054F4B1}" srcOrd="1" destOrd="0" presId="urn:microsoft.com/office/officeart/2005/8/layout/hierarchy2"/>
    <dgm:cxn modelId="{450E9086-57B0-40E1-AF75-E2CEC073BFD9}" type="presParOf" srcId="{F4F77239-7E09-485C-AE15-A1B34BF0D139}" destId="{99ACCEBE-6807-4910-9F28-DD5C072F64E2}" srcOrd="0" destOrd="0" presId="urn:microsoft.com/office/officeart/2005/8/layout/hierarchy2"/>
    <dgm:cxn modelId="{6D011E9B-BFA5-4236-82E9-F23A6297F36A}" type="presParOf" srcId="{99ACCEBE-6807-4910-9F28-DD5C072F64E2}" destId="{481B6873-3A7A-4B65-A933-F0FBF50D969B}" srcOrd="0" destOrd="0" presId="urn:microsoft.com/office/officeart/2005/8/layout/hierarchy2"/>
    <dgm:cxn modelId="{01247AC7-E37D-4A11-8564-162AF47EFCEF}" type="presParOf" srcId="{99ACCEBE-6807-4910-9F28-DD5C072F64E2}" destId="{2B3C0738-E7BB-42C6-AAB6-727A9E8D7657}" srcOrd="1" destOrd="0" presId="urn:microsoft.com/office/officeart/2005/8/layout/hierarchy2"/>
    <dgm:cxn modelId="{15B7D2D3-498A-45AC-A9B3-A75C7BEC50ED}" type="presParOf" srcId="{2B3C0738-E7BB-42C6-AAB6-727A9E8D7657}" destId="{4466765A-BF64-40B9-AA58-A27070902288}" srcOrd="0" destOrd="0" presId="urn:microsoft.com/office/officeart/2005/8/layout/hierarchy2"/>
    <dgm:cxn modelId="{EAF120D5-71C0-4453-9081-4360A5C4F7D2}" type="presParOf" srcId="{4466765A-BF64-40B9-AA58-A27070902288}" destId="{637BA7E3-3454-405C-8E88-B3E1E054F4B1}" srcOrd="0" destOrd="0" presId="urn:microsoft.com/office/officeart/2005/8/layout/hierarchy2"/>
    <dgm:cxn modelId="{738B5D43-1FAB-4497-BB52-3499F925C828}" type="presParOf" srcId="{2B3C0738-E7BB-42C6-AAB6-727A9E8D7657}" destId="{B0315F0B-7963-4E02-8F94-F78A08279E25}" srcOrd="1" destOrd="0" presId="urn:microsoft.com/office/officeart/2005/8/layout/hierarchy2"/>
    <dgm:cxn modelId="{EFC9D25A-10EE-4C40-92EB-3350A7BB0C31}" type="presParOf" srcId="{B0315F0B-7963-4E02-8F94-F78A08279E25}" destId="{FD1DECA5-CFFD-4048-84E5-93C8B2F26835}" srcOrd="0" destOrd="0" presId="urn:microsoft.com/office/officeart/2005/8/layout/hierarchy2"/>
    <dgm:cxn modelId="{108DF57E-931D-413F-B9A8-9F332725969A}" type="presParOf" srcId="{B0315F0B-7963-4E02-8F94-F78A08279E25}" destId="{CFA1421D-20C3-42FB-A1F8-4CF57DF29926}" srcOrd="1" destOrd="0" presId="urn:microsoft.com/office/officeart/2005/8/layout/hierarchy2"/>
    <dgm:cxn modelId="{669A7776-FFC7-4EBA-A1B2-29B784563699}" type="presParOf" srcId="{2B3C0738-E7BB-42C6-AAB6-727A9E8D7657}" destId="{ED44B622-8A67-4766-AE38-45F78B95E8A9}" srcOrd="2" destOrd="0" presId="urn:microsoft.com/office/officeart/2005/8/layout/hierarchy2"/>
    <dgm:cxn modelId="{1A57DDB5-448A-4ADB-9D38-E6169C5354B6}" type="presParOf" srcId="{ED44B622-8A67-4766-AE38-45F78B95E8A9}" destId="{A5E0337B-01CD-4F2D-BE7F-D77A6C253C21}" srcOrd="0" destOrd="0" presId="urn:microsoft.com/office/officeart/2005/8/layout/hierarchy2"/>
    <dgm:cxn modelId="{07908F04-AFCB-402E-9D46-F2BBC0416DA2}" type="presParOf" srcId="{2B3C0738-E7BB-42C6-AAB6-727A9E8D7657}" destId="{7688A89F-E257-4986-B96B-40BF2A4F9A34}" srcOrd="3" destOrd="0" presId="urn:microsoft.com/office/officeart/2005/8/layout/hierarchy2"/>
    <dgm:cxn modelId="{B1502513-2193-4CD0-A51D-A60034EB47B9}" type="presParOf" srcId="{7688A89F-E257-4986-B96B-40BF2A4F9A34}" destId="{07B0F2EB-38D6-4604-B4D7-9B8232656C8F}" srcOrd="0" destOrd="0" presId="urn:microsoft.com/office/officeart/2005/8/layout/hierarchy2"/>
    <dgm:cxn modelId="{44DD9A44-9D5D-48E4-B720-99609891D510}" type="presParOf" srcId="{7688A89F-E257-4986-B96B-40BF2A4F9A34}" destId="{A53E3C66-035E-47BB-9F65-09FFF8DA665D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707F8AE-45F7-49B6-AEAE-51E3D6862EAD}" type="doc">
      <dgm:prSet loTypeId="urn:microsoft.com/office/officeart/2005/8/layout/hierarchy2" loCatId="hierarchy" qsTypeId="urn:microsoft.com/office/officeart/2005/8/quickstyle/simple2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3405267E-2979-4CD1-A879-E4008ABDCEBF}">
      <dgm:prSet phldrT="[Text]" custT="1"/>
      <dgm:spPr>
        <a:xfrm>
          <a:off x="78736" y="2384331"/>
          <a:ext cx="2095428" cy="1047714"/>
        </a:xfrm>
        <a:prstGeom prst="roundRect">
          <a:avLst>
            <a:gd name="adj" fmla="val 10000"/>
          </a:avLst>
        </a:prstGeom>
        <a:ln>
          <a:solidFill>
            <a:srgbClr val="3333B2"/>
          </a:solidFill>
        </a:ln>
      </dgm:spPr>
      <dgm:t>
        <a:bodyPr/>
        <a:lstStyle/>
        <a:p>
          <a:pPr>
            <a:buNone/>
          </a:pPr>
          <a:r>
            <a:rPr lang="en-US" sz="1100" b="1" dirty="0">
              <a:latin typeface="Calisto MT" panose="02040603050505030304" pitchFamily="18" charset="0"/>
              <a:ea typeface="+mn-ea"/>
              <a:cs typeface="+mn-cs"/>
            </a:rPr>
            <a:t>Literature Review on MP and income inequality</a:t>
          </a:r>
        </a:p>
      </dgm:t>
    </dgm:pt>
    <dgm:pt modelId="{53A7618A-3E3F-4F1C-8490-E59F7A2AF626}" type="parTrans" cxnId="{D4C2B6C5-6183-460A-885F-5F5A34EA27EB}">
      <dgm:prSet/>
      <dgm:spPr/>
      <dgm:t>
        <a:bodyPr/>
        <a:lstStyle/>
        <a:p>
          <a:endParaRPr lang="en-US"/>
        </a:p>
      </dgm:t>
    </dgm:pt>
    <dgm:pt modelId="{B17083E1-62CB-4E38-A7EE-F637B871D195}" type="sibTrans" cxnId="{D4C2B6C5-6183-460A-885F-5F5A34EA27EB}">
      <dgm:prSet/>
      <dgm:spPr/>
      <dgm:t>
        <a:bodyPr/>
        <a:lstStyle/>
        <a:p>
          <a:endParaRPr lang="en-US"/>
        </a:p>
      </dgm:t>
    </dgm:pt>
    <dgm:pt modelId="{0E92DC10-3B6D-48B9-8675-5B7D6F041301}">
      <dgm:prSet phldrT="[Text]" custT="1"/>
      <dgm:spPr>
        <a:xfrm>
          <a:off x="2939708" y="2416347"/>
          <a:ext cx="2095428" cy="1047714"/>
        </a:xfrm>
        <a:prstGeom prst="roundRect">
          <a:avLst>
            <a:gd name="adj" fmla="val 10000"/>
          </a:avLst>
        </a:prstGeom>
        <a:ln>
          <a:solidFill>
            <a:srgbClr val="3333B2"/>
          </a:solidFill>
        </a:ln>
      </dgm:spPr>
      <dgm:t>
        <a:bodyPr/>
        <a:lstStyle/>
        <a:p>
          <a:pPr>
            <a:buNone/>
          </a:pPr>
          <a:r>
            <a:rPr lang="en-US" sz="1100" dirty="0">
              <a:latin typeface="Calisto MT" panose="02040603050505030304" pitchFamily="18" charset="0"/>
              <a:ea typeface="+mn-ea"/>
              <a:cs typeface="+mn-cs"/>
            </a:rPr>
            <a:t>2. Studies dealing with conventional MP</a:t>
          </a:r>
        </a:p>
      </dgm:t>
    </dgm:pt>
    <dgm:pt modelId="{346F61E1-6331-4FEE-B596-0BB815BB4E59}" type="parTrans" cxnId="{B9F18325-BF34-46C3-A2BC-BD9766621D85}">
      <dgm:prSet/>
      <dgm:spPr>
        <a:xfrm rot="143685">
          <a:off x="2173830" y="2908567"/>
          <a:ext cx="766213" cy="31258"/>
        </a:xfrm>
        <a:custGeom>
          <a:avLst/>
          <a:gdLst/>
          <a:ahLst/>
          <a:cxnLst/>
          <a:rect l="0" t="0" r="0" b="0"/>
          <a:pathLst>
            <a:path>
              <a:moveTo>
                <a:pt x="0" y="15629"/>
              </a:moveTo>
              <a:lnTo>
                <a:pt x="766213" y="15629"/>
              </a:lnTo>
            </a:path>
          </a:pathLst>
        </a:custGeom>
        <a:ln>
          <a:solidFill>
            <a:srgbClr val="3333B2"/>
          </a:solidFill>
        </a:ln>
      </dgm:spPr>
      <dgm:t>
        <a:bodyPr/>
        <a:lstStyle/>
        <a:p>
          <a:pPr>
            <a:buNone/>
          </a:pPr>
          <a:endParaRPr lang="en-US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Franklin Gothic Book" panose="020B0503020102020204"/>
            <a:ea typeface="+mn-ea"/>
            <a:cs typeface="+mn-cs"/>
          </a:endParaRPr>
        </a:p>
      </dgm:t>
    </dgm:pt>
    <dgm:pt modelId="{AE4AB54A-A47A-45DB-B540-28A828CEBC46}" type="sibTrans" cxnId="{B9F18325-BF34-46C3-A2BC-BD9766621D85}">
      <dgm:prSet/>
      <dgm:spPr/>
      <dgm:t>
        <a:bodyPr/>
        <a:lstStyle/>
        <a:p>
          <a:endParaRPr lang="en-US"/>
        </a:p>
      </dgm:t>
    </dgm:pt>
    <dgm:pt modelId="{1F859B8D-44DF-4261-B520-8FB463CFBC08}">
      <dgm:prSet phldrT="[Text]" custT="1"/>
      <dgm:spPr>
        <a:xfrm>
          <a:off x="2927094" y="1059457"/>
          <a:ext cx="2095428" cy="1047714"/>
        </a:xfrm>
        <a:prstGeom prst="roundRect">
          <a:avLst>
            <a:gd name="adj" fmla="val 10000"/>
          </a:avLst>
        </a:prstGeom>
        <a:ln>
          <a:solidFill>
            <a:srgbClr val="3333B2"/>
          </a:solidFill>
        </a:ln>
      </dgm:spPr>
      <dgm:t>
        <a:bodyPr/>
        <a:lstStyle/>
        <a:p>
          <a:pPr>
            <a:buNone/>
          </a:pPr>
          <a:r>
            <a:rPr lang="en-US" sz="1100" dirty="0">
              <a:latin typeface="Calisto MT" panose="02040603050505030304" pitchFamily="18" charset="0"/>
              <a:ea typeface="+mn-ea"/>
              <a:cs typeface="+mn-cs"/>
            </a:rPr>
            <a:t>1. Studies dealing with unconventional MP</a:t>
          </a:r>
        </a:p>
      </dgm:t>
    </dgm:pt>
    <dgm:pt modelId="{55C2AF20-129B-4D74-B429-1F70D44260C6}" type="parTrans" cxnId="{275E9B62-FD87-41CA-9766-0712F02EFA1D}">
      <dgm:prSet/>
      <dgm:spPr>
        <a:xfrm rot="17976581">
          <a:off x="1788692" y="2230122"/>
          <a:ext cx="1523874" cy="31258"/>
        </a:xfrm>
        <a:custGeom>
          <a:avLst/>
          <a:gdLst/>
          <a:ahLst/>
          <a:cxnLst/>
          <a:rect l="0" t="0" r="0" b="0"/>
          <a:pathLst>
            <a:path>
              <a:moveTo>
                <a:pt x="0" y="15629"/>
              </a:moveTo>
              <a:lnTo>
                <a:pt x="1523874" y="15629"/>
              </a:lnTo>
            </a:path>
          </a:pathLst>
        </a:custGeom>
        <a:ln>
          <a:solidFill>
            <a:srgbClr val="3333B2"/>
          </a:solidFill>
        </a:ln>
      </dgm:spPr>
      <dgm:t>
        <a:bodyPr/>
        <a:lstStyle/>
        <a:p>
          <a:endParaRPr lang="en-US"/>
        </a:p>
      </dgm:t>
    </dgm:pt>
    <dgm:pt modelId="{FDB6B3C5-CDF1-4305-A2B8-53EACA5A1369}" type="sibTrans" cxnId="{275E9B62-FD87-41CA-9766-0712F02EFA1D}">
      <dgm:prSet/>
      <dgm:spPr/>
      <dgm:t>
        <a:bodyPr/>
        <a:lstStyle/>
        <a:p>
          <a:endParaRPr lang="en-US"/>
        </a:p>
      </dgm:t>
    </dgm:pt>
    <dgm:pt modelId="{374C7292-F035-45D5-BA1B-3064AB9ED583}">
      <dgm:prSet phldrT="[Text]" custT="1"/>
      <dgm:spPr>
        <a:xfrm>
          <a:off x="2939708" y="3779926"/>
          <a:ext cx="2095428" cy="1047714"/>
        </a:xfrm>
        <a:prstGeom prst="roundRect">
          <a:avLst>
            <a:gd name="adj" fmla="val 10000"/>
          </a:avLst>
        </a:prstGeom>
        <a:ln>
          <a:solidFill>
            <a:srgbClr val="3333B2"/>
          </a:solidFill>
        </a:ln>
      </dgm:spPr>
      <dgm:t>
        <a:bodyPr/>
        <a:lstStyle/>
        <a:p>
          <a:pPr>
            <a:buNone/>
          </a:pPr>
          <a:r>
            <a:rPr lang="en-US" sz="1100" dirty="0">
              <a:latin typeface="Calisto MT" panose="02040603050505030304" pitchFamily="18" charset="0"/>
              <a:ea typeface="+mn-ea"/>
              <a:cs typeface="+mn-cs"/>
            </a:rPr>
            <a:t>3. Studies dealing with both conventional  and unconventional MP</a:t>
          </a:r>
        </a:p>
      </dgm:t>
    </dgm:pt>
    <dgm:pt modelId="{7866F99F-1E66-4308-B18C-D29AA9CF6695}" type="parTrans" cxnId="{691B8E65-C656-462C-B42F-E981DBD83928}">
      <dgm:prSet/>
      <dgm:spPr>
        <a:xfrm rot="3675200">
          <a:off x="1761050" y="3590357"/>
          <a:ext cx="1591773" cy="31258"/>
        </a:xfrm>
        <a:custGeom>
          <a:avLst/>
          <a:gdLst/>
          <a:ahLst/>
          <a:cxnLst/>
          <a:rect l="0" t="0" r="0" b="0"/>
          <a:pathLst>
            <a:path>
              <a:moveTo>
                <a:pt x="0" y="15629"/>
              </a:moveTo>
              <a:lnTo>
                <a:pt x="1591773" y="15629"/>
              </a:lnTo>
            </a:path>
          </a:pathLst>
        </a:custGeom>
        <a:ln>
          <a:solidFill>
            <a:srgbClr val="3333B2"/>
          </a:solidFill>
        </a:ln>
      </dgm:spPr>
      <dgm:t>
        <a:bodyPr/>
        <a:lstStyle/>
        <a:p>
          <a:pPr>
            <a:buNone/>
          </a:pPr>
          <a:endParaRPr lang="en-US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Franklin Gothic Book" panose="020B0503020102020204"/>
            <a:ea typeface="+mn-ea"/>
            <a:cs typeface="+mn-cs"/>
          </a:endParaRPr>
        </a:p>
      </dgm:t>
    </dgm:pt>
    <dgm:pt modelId="{821A7E3C-232C-47E3-BC58-D7F716BDDF87}" type="sibTrans" cxnId="{691B8E65-C656-462C-B42F-E981DBD83928}">
      <dgm:prSet/>
      <dgm:spPr/>
      <dgm:t>
        <a:bodyPr/>
        <a:lstStyle/>
        <a:p>
          <a:endParaRPr lang="en-US"/>
        </a:p>
      </dgm:t>
    </dgm:pt>
    <dgm:pt modelId="{F4F77239-7E09-485C-AE15-A1B34BF0D139}" type="pres">
      <dgm:prSet presAssocID="{5707F8AE-45F7-49B6-AEAE-51E3D6862EAD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99ACCEBE-6807-4910-9F28-DD5C072F64E2}" type="pres">
      <dgm:prSet presAssocID="{3405267E-2979-4CD1-A879-E4008ABDCEBF}" presName="root1" presStyleCnt="0"/>
      <dgm:spPr/>
    </dgm:pt>
    <dgm:pt modelId="{481B6873-3A7A-4B65-A933-F0FBF50D969B}" type="pres">
      <dgm:prSet presAssocID="{3405267E-2979-4CD1-A879-E4008ABDCEBF}" presName="LevelOneTextNode" presStyleLbl="node0" presStyleIdx="0" presStyleCnt="1" custLinFactNeighborX="3466" custLinFactNeighborY="-2773">
        <dgm:presLayoutVars>
          <dgm:chPref val="3"/>
        </dgm:presLayoutVars>
      </dgm:prSet>
      <dgm:spPr/>
    </dgm:pt>
    <dgm:pt modelId="{2B3C0738-E7BB-42C6-AAB6-727A9E8D7657}" type="pres">
      <dgm:prSet presAssocID="{3405267E-2979-4CD1-A879-E4008ABDCEBF}" presName="level2hierChild" presStyleCnt="0"/>
      <dgm:spPr/>
    </dgm:pt>
    <dgm:pt modelId="{F9E18E73-F18F-4C0A-A7AE-992C88281842}" type="pres">
      <dgm:prSet presAssocID="{55C2AF20-129B-4D74-B429-1F70D44260C6}" presName="conn2-1" presStyleLbl="parChTrans1D2" presStyleIdx="0" presStyleCnt="3"/>
      <dgm:spPr/>
    </dgm:pt>
    <dgm:pt modelId="{D4A3696B-5D5E-4CD5-8E1C-D60A0109AF1B}" type="pres">
      <dgm:prSet presAssocID="{55C2AF20-129B-4D74-B429-1F70D44260C6}" presName="connTx" presStyleLbl="parChTrans1D2" presStyleIdx="0" presStyleCnt="3"/>
      <dgm:spPr/>
    </dgm:pt>
    <dgm:pt modelId="{DA928565-AE3B-4834-880A-3785B13249D5}" type="pres">
      <dgm:prSet presAssocID="{1F859B8D-44DF-4261-B520-8FB463CFBC08}" presName="root2" presStyleCnt="0"/>
      <dgm:spPr/>
    </dgm:pt>
    <dgm:pt modelId="{C509DF64-AE5E-49AF-AE3F-BB6DDB329115}" type="pres">
      <dgm:prSet presAssocID="{1F859B8D-44DF-4261-B520-8FB463CFBC08}" presName="LevelTwoTextNode" presStyleLbl="node2" presStyleIdx="0" presStyleCnt="3" custLinFactNeighborX="-602" custLinFactNeighborY="1204">
        <dgm:presLayoutVars>
          <dgm:chPref val="3"/>
        </dgm:presLayoutVars>
      </dgm:prSet>
      <dgm:spPr/>
    </dgm:pt>
    <dgm:pt modelId="{BE53DC25-D9E1-4C5B-AE2A-CC3F262C74AB}" type="pres">
      <dgm:prSet presAssocID="{1F859B8D-44DF-4261-B520-8FB463CFBC08}" presName="level3hierChild" presStyleCnt="0"/>
      <dgm:spPr/>
    </dgm:pt>
    <dgm:pt modelId="{4466765A-BF64-40B9-AA58-A27070902288}" type="pres">
      <dgm:prSet presAssocID="{346F61E1-6331-4FEE-B596-0BB815BB4E59}" presName="conn2-1" presStyleLbl="parChTrans1D2" presStyleIdx="1" presStyleCnt="3"/>
      <dgm:spPr/>
    </dgm:pt>
    <dgm:pt modelId="{637BA7E3-3454-405C-8E88-B3E1E054F4B1}" type="pres">
      <dgm:prSet presAssocID="{346F61E1-6331-4FEE-B596-0BB815BB4E59}" presName="connTx" presStyleLbl="parChTrans1D2" presStyleIdx="1" presStyleCnt="3"/>
      <dgm:spPr/>
    </dgm:pt>
    <dgm:pt modelId="{B0315F0B-7963-4E02-8F94-F78A08279E25}" type="pres">
      <dgm:prSet presAssocID="{0E92DC10-3B6D-48B9-8675-5B7D6F041301}" presName="root2" presStyleCnt="0"/>
      <dgm:spPr/>
    </dgm:pt>
    <dgm:pt modelId="{FD1DECA5-CFFD-4048-84E5-93C8B2F26835}" type="pres">
      <dgm:prSet presAssocID="{0E92DC10-3B6D-48B9-8675-5B7D6F041301}" presName="LevelTwoTextNode" presStyleLbl="node2" presStyleIdx="1" presStyleCnt="3">
        <dgm:presLayoutVars>
          <dgm:chPref val="3"/>
        </dgm:presLayoutVars>
      </dgm:prSet>
      <dgm:spPr/>
    </dgm:pt>
    <dgm:pt modelId="{CFA1421D-20C3-42FB-A1F8-4CF57DF29926}" type="pres">
      <dgm:prSet presAssocID="{0E92DC10-3B6D-48B9-8675-5B7D6F041301}" presName="level3hierChild" presStyleCnt="0"/>
      <dgm:spPr/>
    </dgm:pt>
    <dgm:pt modelId="{ED44B622-8A67-4766-AE38-45F78B95E8A9}" type="pres">
      <dgm:prSet presAssocID="{7866F99F-1E66-4308-B18C-D29AA9CF6695}" presName="conn2-1" presStyleLbl="parChTrans1D2" presStyleIdx="2" presStyleCnt="3"/>
      <dgm:spPr/>
    </dgm:pt>
    <dgm:pt modelId="{A5E0337B-01CD-4F2D-BE7F-D77A6C253C21}" type="pres">
      <dgm:prSet presAssocID="{7866F99F-1E66-4308-B18C-D29AA9CF6695}" presName="connTx" presStyleLbl="parChTrans1D2" presStyleIdx="2" presStyleCnt="3"/>
      <dgm:spPr/>
    </dgm:pt>
    <dgm:pt modelId="{7688A89F-E257-4986-B96B-40BF2A4F9A34}" type="pres">
      <dgm:prSet presAssocID="{374C7292-F035-45D5-BA1B-3064AB9ED583}" presName="root2" presStyleCnt="0"/>
      <dgm:spPr/>
    </dgm:pt>
    <dgm:pt modelId="{07B0F2EB-38D6-4604-B4D7-9B8232656C8F}" type="pres">
      <dgm:prSet presAssocID="{374C7292-F035-45D5-BA1B-3064AB9ED583}" presName="LevelTwoTextNode" presStyleLbl="node2" presStyleIdx="2" presStyleCnt="3">
        <dgm:presLayoutVars>
          <dgm:chPref val="3"/>
        </dgm:presLayoutVars>
      </dgm:prSet>
      <dgm:spPr/>
    </dgm:pt>
    <dgm:pt modelId="{A53E3C66-035E-47BB-9F65-09FFF8DA665D}" type="pres">
      <dgm:prSet presAssocID="{374C7292-F035-45D5-BA1B-3064AB9ED583}" presName="level3hierChild" presStyleCnt="0"/>
      <dgm:spPr/>
    </dgm:pt>
  </dgm:ptLst>
  <dgm:cxnLst>
    <dgm:cxn modelId="{01A39223-52B6-46FC-9301-BE058237FEA8}" type="presOf" srcId="{55C2AF20-129B-4D74-B429-1F70D44260C6}" destId="{F9E18E73-F18F-4C0A-A7AE-992C88281842}" srcOrd="0" destOrd="0" presId="urn:microsoft.com/office/officeart/2005/8/layout/hierarchy2"/>
    <dgm:cxn modelId="{B9F18325-BF34-46C3-A2BC-BD9766621D85}" srcId="{3405267E-2979-4CD1-A879-E4008ABDCEBF}" destId="{0E92DC10-3B6D-48B9-8675-5B7D6F041301}" srcOrd="1" destOrd="0" parTransId="{346F61E1-6331-4FEE-B596-0BB815BB4E59}" sibTransId="{AE4AB54A-A47A-45DB-B540-28A828CEBC46}"/>
    <dgm:cxn modelId="{81B4BB2F-2303-4DCC-845F-C4BCBCE53AFB}" type="presOf" srcId="{0E92DC10-3B6D-48B9-8675-5B7D6F041301}" destId="{FD1DECA5-CFFD-4048-84E5-93C8B2F26835}" srcOrd="0" destOrd="0" presId="urn:microsoft.com/office/officeart/2005/8/layout/hierarchy2"/>
    <dgm:cxn modelId="{65F3B732-59C4-4AA5-936E-12F8AB000DFB}" type="presOf" srcId="{1F859B8D-44DF-4261-B520-8FB463CFBC08}" destId="{C509DF64-AE5E-49AF-AE3F-BB6DDB329115}" srcOrd="0" destOrd="0" presId="urn:microsoft.com/office/officeart/2005/8/layout/hierarchy2"/>
    <dgm:cxn modelId="{275E9B62-FD87-41CA-9766-0712F02EFA1D}" srcId="{3405267E-2979-4CD1-A879-E4008ABDCEBF}" destId="{1F859B8D-44DF-4261-B520-8FB463CFBC08}" srcOrd="0" destOrd="0" parTransId="{55C2AF20-129B-4D74-B429-1F70D44260C6}" sibTransId="{FDB6B3C5-CDF1-4305-A2B8-53EACA5A1369}"/>
    <dgm:cxn modelId="{691B8E65-C656-462C-B42F-E981DBD83928}" srcId="{3405267E-2979-4CD1-A879-E4008ABDCEBF}" destId="{374C7292-F035-45D5-BA1B-3064AB9ED583}" srcOrd="2" destOrd="0" parTransId="{7866F99F-1E66-4308-B18C-D29AA9CF6695}" sibTransId="{821A7E3C-232C-47E3-BC58-D7F716BDDF87}"/>
    <dgm:cxn modelId="{7E74597A-69DC-4D88-AD7D-710C0FB1914E}" type="presOf" srcId="{7866F99F-1E66-4308-B18C-D29AA9CF6695}" destId="{ED44B622-8A67-4766-AE38-45F78B95E8A9}" srcOrd="0" destOrd="0" presId="urn:microsoft.com/office/officeart/2005/8/layout/hierarchy2"/>
    <dgm:cxn modelId="{E3EA0E90-2031-4A42-82E3-40CC14BD3EA1}" type="presOf" srcId="{346F61E1-6331-4FEE-B596-0BB815BB4E59}" destId="{4466765A-BF64-40B9-AA58-A27070902288}" srcOrd="0" destOrd="0" presId="urn:microsoft.com/office/officeart/2005/8/layout/hierarchy2"/>
    <dgm:cxn modelId="{91B7B0B9-B61D-4D28-BBAD-386796D872A9}" type="presOf" srcId="{7866F99F-1E66-4308-B18C-D29AA9CF6695}" destId="{A5E0337B-01CD-4F2D-BE7F-D77A6C253C21}" srcOrd="1" destOrd="0" presId="urn:microsoft.com/office/officeart/2005/8/layout/hierarchy2"/>
    <dgm:cxn modelId="{D4C2B6C5-6183-460A-885F-5F5A34EA27EB}" srcId="{5707F8AE-45F7-49B6-AEAE-51E3D6862EAD}" destId="{3405267E-2979-4CD1-A879-E4008ABDCEBF}" srcOrd="0" destOrd="0" parTransId="{53A7618A-3E3F-4F1C-8490-E59F7A2AF626}" sibTransId="{B17083E1-62CB-4E38-A7EE-F637B871D195}"/>
    <dgm:cxn modelId="{F98F0BCD-7EF6-41CC-8D8B-DB0DFE554263}" type="presOf" srcId="{3405267E-2979-4CD1-A879-E4008ABDCEBF}" destId="{481B6873-3A7A-4B65-A933-F0FBF50D969B}" srcOrd="0" destOrd="0" presId="urn:microsoft.com/office/officeart/2005/8/layout/hierarchy2"/>
    <dgm:cxn modelId="{88BED8D5-31A0-46ED-BB13-2D8A04F65832}" type="presOf" srcId="{374C7292-F035-45D5-BA1B-3064AB9ED583}" destId="{07B0F2EB-38D6-4604-B4D7-9B8232656C8F}" srcOrd="0" destOrd="0" presId="urn:microsoft.com/office/officeart/2005/8/layout/hierarchy2"/>
    <dgm:cxn modelId="{1CF8D2EF-3447-414C-8AA2-39F4EB8DCD12}" type="presOf" srcId="{5707F8AE-45F7-49B6-AEAE-51E3D6862EAD}" destId="{F4F77239-7E09-485C-AE15-A1B34BF0D139}" srcOrd="0" destOrd="0" presId="urn:microsoft.com/office/officeart/2005/8/layout/hierarchy2"/>
    <dgm:cxn modelId="{A68FD4F3-B5E4-4215-A7E3-743AA9013F71}" type="presOf" srcId="{346F61E1-6331-4FEE-B596-0BB815BB4E59}" destId="{637BA7E3-3454-405C-8E88-B3E1E054F4B1}" srcOrd="1" destOrd="0" presId="urn:microsoft.com/office/officeart/2005/8/layout/hierarchy2"/>
    <dgm:cxn modelId="{935363F7-426F-4E9B-97F6-003838BB1C62}" type="presOf" srcId="{55C2AF20-129B-4D74-B429-1F70D44260C6}" destId="{D4A3696B-5D5E-4CD5-8E1C-D60A0109AF1B}" srcOrd="1" destOrd="0" presId="urn:microsoft.com/office/officeart/2005/8/layout/hierarchy2"/>
    <dgm:cxn modelId="{450E9086-57B0-40E1-AF75-E2CEC073BFD9}" type="presParOf" srcId="{F4F77239-7E09-485C-AE15-A1B34BF0D139}" destId="{99ACCEBE-6807-4910-9F28-DD5C072F64E2}" srcOrd="0" destOrd="0" presId="urn:microsoft.com/office/officeart/2005/8/layout/hierarchy2"/>
    <dgm:cxn modelId="{6D011E9B-BFA5-4236-82E9-F23A6297F36A}" type="presParOf" srcId="{99ACCEBE-6807-4910-9F28-DD5C072F64E2}" destId="{481B6873-3A7A-4B65-A933-F0FBF50D969B}" srcOrd="0" destOrd="0" presId="urn:microsoft.com/office/officeart/2005/8/layout/hierarchy2"/>
    <dgm:cxn modelId="{01247AC7-E37D-4A11-8564-162AF47EFCEF}" type="presParOf" srcId="{99ACCEBE-6807-4910-9F28-DD5C072F64E2}" destId="{2B3C0738-E7BB-42C6-AAB6-727A9E8D7657}" srcOrd="1" destOrd="0" presId="urn:microsoft.com/office/officeart/2005/8/layout/hierarchy2"/>
    <dgm:cxn modelId="{0AB0B1F0-40A9-492D-900A-9D2BEEC30B6F}" type="presParOf" srcId="{2B3C0738-E7BB-42C6-AAB6-727A9E8D7657}" destId="{F9E18E73-F18F-4C0A-A7AE-992C88281842}" srcOrd="0" destOrd="0" presId="urn:microsoft.com/office/officeart/2005/8/layout/hierarchy2"/>
    <dgm:cxn modelId="{A90F35BC-445C-430C-AC10-BEF1D1FC5F8A}" type="presParOf" srcId="{F9E18E73-F18F-4C0A-A7AE-992C88281842}" destId="{D4A3696B-5D5E-4CD5-8E1C-D60A0109AF1B}" srcOrd="0" destOrd="0" presId="urn:microsoft.com/office/officeart/2005/8/layout/hierarchy2"/>
    <dgm:cxn modelId="{13DC7668-4A55-4C2B-B907-EADFE5D110E0}" type="presParOf" srcId="{2B3C0738-E7BB-42C6-AAB6-727A9E8D7657}" destId="{DA928565-AE3B-4834-880A-3785B13249D5}" srcOrd="1" destOrd="0" presId="urn:microsoft.com/office/officeart/2005/8/layout/hierarchy2"/>
    <dgm:cxn modelId="{CC705282-E9A2-415C-B33B-C0B65903867A}" type="presParOf" srcId="{DA928565-AE3B-4834-880A-3785B13249D5}" destId="{C509DF64-AE5E-49AF-AE3F-BB6DDB329115}" srcOrd="0" destOrd="0" presId="urn:microsoft.com/office/officeart/2005/8/layout/hierarchy2"/>
    <dgm:cxn modelId="{F5A7749E-942C-4A8B-B782-CFC7832FC2CB}" type="presParOf" srcId="{DA928565-AE3B-4834-880A-3785B13249D5}" destId="{BE53DC25-D9E1-4C5B-AE2A-CC3F262C74AB}" srcOrd="1" destOrd="0" presId="urn:microsoft.com/office/officeart/2005/8/layout/hierarchy2"/>
    <dgm:cxn modelId="{15B7D2D3-498A-45AC-A9B3-A75C7BEC50ED}" type="presParOf" srcId="{2B3C0738-E7BB-42C6-AAB6-727A9E8D7657}" destId="{4466765A-BF64-40B9-AA58-A27070902288}" srcOrd="2" destOrd="0" presId="urn:microsoft.com/office/officeart/2005/8/layout/hierarchy2"/>
    <dgm:cxn modelId="{EAF120D5-71C0-4453-9081-4360A5C4F7D2}" type="presParOf" srcId="{4466765A-BF64-40B9-AA58-A27070902288}" destId="{637BA7E3-3454-405C-8E88-B3E1E054F4B1}" srcOrd="0" destOrd="0" presId="urn:microsoft.com/office/officeart/2005/8/layout/hierarchy2"/>
    <dgm:cxn modelId="{738B5D43-1FAB-4497-BB52-3499F925C828}" type="presParOf" srcId="{2B3C0738-E7BB-42C6-AAB6-727A9E8D7657}" destId="{B0315F0B-7963-4E02-8F94-F78A08279E25}" srcOrd="3" destOrd="0" presId="urn:microsoft.com/office/officeart/2005/8/layout/hierarchy2"/>
    <dgm:cxn modelId="{EFC9D25A-10EE-4C40-92EB-3350A7BB0C31}" type="presParOf" srcId="{B0315F0B-7963-4E02-8F94-F78A08279E25}" destId="{FD1DECA5-CFFD-4048-84E5-93C8B2F26835}" srcOrd="0" destOrd="0" presId="urn:microsoft.com/office/officeart/2005/8/layout/hierarchy2"/>
    <dgm:cxn modelId="{108DF57E-931D-413F-B9A8-9F332725969A}" type="presParOf" srcId="{B0315F0B-7963-4E02-8F94-F78A08279E25}" destId="{CFA1421D-20C3-42FB-A1F8-4CF57DF29926}" srcOrd="1" destOrd="0" presId="urn:microsoft.com/office/officeart/2005/8/layout/hierarchy2"/>
    <dgm:cxn modelId="{669A7776-FFC7-4EBA-A1B2-29B784563699}" type="presParOf" srcId="{2B3C0738-E7BB-42C6-AAB6-727A9E8D7657}" destId="{ED44B622-8A67-4766-AE38-45F78B95E8A9}" srcOrd="4" destOrd="0" presId="urn:microsoft.com/office/officeart/2005/8/layout/hierarchy2"/>
    <dgm:cxn modelId="{1A57DDB5-448A-4ADB-9D38-E6169C5354B6}" type="presParOf" srcId="{ED44B622-8A67-4766-AE38-45F78B95E8A9}" destId="{A5E0337B-01CD-4F2D-BE7F-D77A6C253C21}" srcOrd="0" destOrd="0" presId="urn:microsoft.com/office/officeart/2005/8/layout/hierarchy2"/>
    <dgm:cxn modelId="{07908F04-AFCB-402E-9D46-F2BBC0416DA2}" type="presParOf" srcId="{2B3C0738-E7BB-42C6-AAB6-727A9E8D7657}" destId="{7688A89F-E257-4986-B96B-40BF2A4F9A34}" srcOrd="5" destOrd="0" presId="urn:microsoft.com/office/officeart/2005/8/layout/hierarchy2"/>
    <dgm:cxn modelId="{B1502513-2193-4CD0-A51D-A60034EB47B9}" type="presParOf" srcId="{7688A89F-E257-4986-B96B-40BF2A4F9A34}" destId="{07B0F2EB-38D6-4604-B4D7-9B8232656C8F}" srcOrd="0" destOrd="0" presId="urn:microsoft.com/office/officeart/2005/8/layout/hierarchy2"/>
    <dgm:cxn modelId="{44DD9A44-9D5D-48E4-B720-99609891D510}" type="presParOf" srcId="{7688A89F-E257-4986-B96B-40BF2A4F9A34}" destId="{A53E3C66-035E-47BB-9F65-09FFF8DA665D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D133D48-D3D3-44E6-8801-F11962543AF1}" type="doc">
      <dgm:prSet loTypeId="urn:microsoft.com/office/officeart/2005/8/layout/hList1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FF4AA4ED-0F44-40C0-ABBF-D9664DAB84EE}">
      <dgm:prSet phldrT="[Text]" custT="1"/>
      <dgm:spPr>
        <a:ln>
          <a:solidFill>
            <a:srgbClr val="3333B2"/>
          </a:solidFill>
        </a:ln>
      </dgm:spPr>
      <dgm:t>
        <a:bodyPr/>
        <a:lstStyle/>
        <a:p>
          <a:r>
            <a:rPr lang="en-US" sz="900" b="1" dirty="0">
              <a:latin typeface="Times New Roman" panose="02020603050405020304" pitchFamily="18" charset="0"/>
              <a:cs typeface="Times New Roman" panose="02020603050405020304" pitchFamily="18" charset="0"/>
            </a:rPr>
            <a:t>Saiki and Frost (2014) </a:t>
          </a:r>
        </a:p>
      </dgm:t>
    </dgm:pt>
    <dgm:pt modelId="{2B11B76A-7D5F-403A-ABF5-A5A46DCE3606}" type="parTrans" cxnId="{40FE621A-5385-42E0-8806-383202F51A64}">
      <dgm:prSet/>
      <dgm:spPr/>
      <dgm:t>
        <a:bodyPr/>
        <a:lstStyle/>
        <a:p>
          <a:endParaRPr lang="en-US"/>
        </a:p>
      </dgm:t>
    </dgm:pt>
    <dgm:pt modelId="{B11AF3F8-372A-451D-8E88-35BAE622C04B}" type="sibTrans" cxnId="{40FE621A-5385-42E0-8806-383202F51A64}">
      <dgm:prSet/>
      <dgm:spPr/>
      <dgm:t>
        <a:bodyPr/>
        <a:lstStyle/>
        <a:p>
          <a:endParaRPr lang="en-US"/>
        </a:p>
      </dgm:t>
    </dgm:pt>
    <dgm:pt modelId="{BD17711D-885A-44DC-AC61-5A20407BF71F}">
      <dgm:prSet phldrT="[Text]" custT="1"/>
      <dgm:spPr>
        <a:ln>
          <a:solidFill>
            <a:srgbClr val="3333B2"/>
          </a:solidFill>
        </a:ln>
      </dgm:spPr>
      <dgm:t>
        <a:bodyPr/>
        <a:lstStyle/>
        <a:p>
          <a:r>
            <a:rPr lang="en-US" sz="800" b="1" dirty="0">
              <a:latin typeface="Times New Roman" panose="02020603050405020304" pitchFamily="18" charset="0"/>
              <a:cs typeface="Times New Roman" panose="02020603050405020304" pitchFamily="18" charset="0"/>
            </a:rPr>
            <a:t>Casiraghi et al. (2018) </a:t>
          </a:r>
        </a:p>
      </dgm:t>
    </dgm:pt>
    <dgm:pt modelId="{29ADFF8F-CE9C-40FE-86B5-C1D3EFBC5F13}" type="parTrans" cxnId="{6E9C0CBA-649D-4E3C-BA70-BAB90CE2EAC5}">
      <dgm:prSet/>
      <dgm:spPr/>
      <dgm:t>
        <a:bodyPr/>
        <a:lstStyle/>
        <a:p>
          <a:endParaRPr lang="en-US"/>
        </a:p>
      </dgm:t>
    </dgm:pt>
    <dgm:pt modelId="{29F927A9-E95B-4F85-99B1-CCDD1E883207}" type="sibTrans" cxnId="{6E9C0CBA-649D-4E3C-BA70-BAB90CE2EAC5}">
      <dgm:prSet/>
      <dgm:spPr/>
      <dgm:t>
        <a:bodyPr/>
        <a:lstStyle/>
        <a:p>
          <a:endParaRPr lang="en-US"/>
        </a:p>
      </dgm:t>
    </dgm:pt>
    <dgm:pt modelId="{5FC60275-69BF-4A01-84B8-4D781F843655}">
      <dgm:prSet phldrT="[Text]" custT="1"/>
      <dgm:spPr>
        <a:ln>
          <a:solidFill>
            <a:srgbClr val="3333B2"/>
          </a:solidFill>
        </a:ln>
      </dgm:spPr>
      <dgm:t>
        <a:bodyPr/>
        <a:lstStyle/>
        <a:p>
          <a:r>
            <a:rPr lang="en-US" sz="800" b="1" dirty="0">
              <a:latin typeface="Times New Roman" panose="02020603050405020304" pitchFamily="18" charset="0"/>
              <a:cs typeface="Times New Roman" panose="02020603050405020304" pitchFamily="18" charset="0"/>
            </a:rPr>
            <a:t>Lenza and Slacalek (2018) </a:t>
          </a:r>
        </a:p>
      </dgm:t>
    </dgm:pt>
    <dgm:pt modelId="{EE7BB46C-527D-4595-B83D-CFA72994121F}" type="parTrans" cxnId="{EB9929E1-8A31-488F-B6A7-4876BCE6E320}">
      <dgm:prSet/>
      <dgm:spPr/>
      <dgm:t>
        <a:bodyPr/>
        <a:lstStyle/>
        <a:p>
          <a:endParaRPr lang="en-US"/>
        </a:p>
      </dgm:t>
    </dgm:pt>
    <dgm:pt modelId="{7AACCDD8-7E81-4EC7-9621-0EA89E1F9921}" type="sibTrans" cxnId="{EB9929E1-8A31-488F-B6A7-4876BCE6E320}">
      <dgm:prSet/>
      <dgm:spPr/>
      <dgm:t>
        <a:bodyPr/>
        <a:lstStyle/>
        <a:p>
          <a:endParaRPr lang="en-US"/>
        </a:p>
      </dgm:t>
    </dgm:pt>
    <dgm:pt modelId="{40466935-5395-43AC-83C8-F002704BF247}">
      <dgm:prSet phldrT="[Text]" custT="1"/>
      <dgm:spPr>
        <a:ln>
          <a:solidFill>
            <a:srgbClr val="3333B2"/>
          </a:solidFill>
        </a:ln>
      </dgm:spPr>
      <dgm:t>
        <a:bodyPr/>
        <a:lstStyle/>
        <a:p>
          <a:r>
            <a:rPr lang="en-US" sz="770" b="1" dirty="0">
              <a:latin typeface="Times New Roman" panose="02020603050405020304" pitchFamily="18" charset="0"/>
              <a:cs typeface="Times New Roman" panose="02020603050405020304" pitchFamily="18" charset="0"/>
            </a:rPr>
            <a:t>Bunn et al. (2018) </a:t>
          </a:r>
        </a:p>
      </dgm:t>
    </dgm:pt>
    <dgm:pt modelId="{90433593-A985-4A94-9E62-9EC9D628F791}" type="parTrans" cxnId="{05315249-890F-41F0-B16D-ED65C7017FD4}">
      <dgm:prSet/>
      <dgm:spPr/>
      <dgm:t>
        <a:bodyPr/>
        <a:lstStyle/>
        <a:p>
          <a:endParaRPr lang="en-US"/>
        </a:p>
      </dgm:t>
    </dgm:pt>
    <dgm:pt modelId="{117C6F3C-6A5C-4CC5-8C1B-93E9DBC6AA8E}" type="sibTrans" cxnId="{05315249-890F-41F0-B16D-ED65C7017FD4}">
      <dgm:prSet/>
      <dgm:spPr/>
      <dgm:t>
        <a:bodyPr/>
        <a:lstStyle/>
        <a:p>
          <a:endParaRPr lang="en-US"/>
        </a:p>
      </dgm:t>
    </dgm:pt>
    <dgm:pt modelId="{5B0055EE-2FBD-470E-8E1A-1A8D12C0F7FD}">
      <dgm:prSet phldrT="[Text]" custT="1"/>
      <dgm:spPr>
        <a:ln>
          <a:solidFill>
            <a:srgbClr val="3333B2"/>
          </a:solidFill>
        </a:ln>
      </dgm:spPr>
      <dgm:t>
        <a:bodyPr/>
        <a:lstStyle/>
        <a:p>
          <a:r>
            <a:rPr lang="en-US" sz="800" dirty="0">
              <a:latin typeface="Times New Roman" panose="02020603050405020304" pitchFamily="18" charset="0"/>
              <a:cs typeface="Times New Roman" panose="02020603050405020304" pitchFamily="18" charset="0"/>
            </a:rPr>
            <a:t>Japan 2008-2014</a:t>
          </a:r>
        </a:p>
      </dgm:t>
    </dgm:pt>
    <dgm:pt modelId="{497A1C1A-7221-4DF8-8AF4-57B0A104F8FE}" type="parTrans" cxnId="{83AAA011-6206-4C37-837D-A2B8BC684288}">
      <dgm:prSet/>
      <dgm:spPr/>
      <dgm:t>
        <a:bodyPr/>
        <a:lstStyle/>
        <a:p>
          <a:endParaRPr lang="en-US"/>
        </a:p>
      </dgm:t>
    </dgm:pt>
    <dgm:pt modelId="{1ABF42B1-6E4C-444B-A60A-9582C24FFD53}" type="sibTrans" cxnId="{83AAA011-6206-4C37-837D-A2B8BC684288}">
      <dgm:prSet/>
      <dgm:spPr/>
      <dgm:t>
        <a:bodyPr/>
        <a:lstStyle/>
        <a:p>
          <a:endParaRPr lang="en-US"/>
        </a:p>
      </dgm:t>
    </dgm:pt>
    <dgm:pt modelId="{BEEFB828-B5D5-44F6-974D-6DAA6A9151CE}">
      <dgm:prSet phldrT="[Text]" custT="1"/>
      <dgm:spPr>
        <a:ln>
          <a:solidFill>
            <a:srgbClr val="3333B2"/>
          </a:solidFill>
        </a:ln>
      </dgm:spPr>
      <dgm:t>
        <a:bodyPr/>
        <a:lstStyle/>
        <a:p>
          <a:r>
            <a:rPr lang="en-US" sz="800" dirty="0">
              <a:latin typeface="Times New Roman" panose="02020603050405020304" pitchFamily="18" charset="0"/>
              <a:cs typeface="Times New Roman" panose="02020603050405020304" pitchFamily="18" charset="0"/>
            </a:rPr>
            <a:t>An increase in the assets increases inequality</a:t>
          </a:r>
        </a:p>
      </dgm:t>
    </dgm:pt>
    <dgm:pt modelId="{4A15BA90-6207-4395-B1A8-F13E0D0A4DFE}" type="parTrans" cxnId="{60E31DD8-7AAE-49A8-9BF8-5EA0FF1C1860}">
      <dgm:prSet/>
      <dgm:spPr/>
      <dgm:t>
        <a:bodyPr/>
        <a:lstStyle/>
        <a:p>
          <a:endParaRPr lang="en-US"/>
        </a:p>
      </dgm:t>
    </dgm:pt>
    <dgm:pt modelId="{7ACE013F-3DDC-4622-8B8D-7981CF963BC0}" type="sibTrans" cxnId="{60E31DD8-7AAE-49A8-9BF8-5EA0FF1C1860}">
      <dgm:prSet/>
      <dgm:spPr/>
      <dgm:t>
        <a:bodyPr/>
        <a:lstStyle/>
        <a:p>
          <a:endParaRPr lang="en-US"/>
        </a:p>
      </dgm:t>
    </dgm:pt>
    <dgm:pt modelId="{AA8F9812-D45D-493C-8D48-0B3A35BD4488}">
      <dgm:prSet phldrT="[Text]" custT="1"/>
      <dgm:spPr>
        <a:ln>
          <a:solidFill>
            <a:srgbClr val="3333B2"/>
          </a:solidFill>
        </a:ln>
      </dgm:spPr>
      <dgm:t>
        <a:bodyPr/>
        <a:lstStyle/>
        <a:p>
          <a:r>
            <a:rPr lang="en-US" sz="800" dirty="0">
              <a:latin typeface="Times New Roman" panose="02020603050405020304" pitchFamily="18" charset="0"/>
              <a:cs typeface="Times New Roman" panose="02020603050405020304" pitchFamily="18" charset="0"/>
            </a:rPr>
            <a:t>Effect of central bank assets to nominal GDP on 80/20 ratio</a:t>
          </a:r>
        </a:p>
      </dgm:t>
    </dgm:pt>
    <dgm:pt modelId="{B06B5F1E-1D37-4D63-A474-D684C8355465}" type="parTrans" cxnId="{71F443AD-F89D-4547-A72E-5E9A506F077E}">
      <dgm:prSet/>
      <dgm:spPr/>
      <dgm:t>
        <a:bodyPr/>
        <a:lstStyle/>
        <a:p>
          <a:endParaRPr lang="en-US"/>
        </a:p>
      </dgm:t>
    </dgm:pt>
    <dgm:pt modelId="{0558BA56-A118-4E45-9DFB-2C37084E7F2D}" type="sibTrans" cxnId="{71F443AD-F89D-4547-A72E-5E9A506F077E}">
      <dgm:prSet/>
      <dgm:spPr/>
      <dgm:t>
        <a:bodyPr/>
        <a:lstStyle/>
        <a:p>
          <a:endParaRPr lang="en-US"/>
        </a:p>
      </dgm:t>
    </dgm:pt>
    <dgm:pt modelId="{EF8BA0CB-9168-4DF3-B39A-B3701722FE40}">
      <dgm:prSet phldrT="[Text]" custT="1"/>
      <dgm:spPr>
        <a:ln>
          <a:solidFill>
            <a:srgbClr val="3333B2"/>
          </a:solidFill>
        </a:ln>
      </dgm:spPr>
      <dgm:t>
        <a:bodyPr/>
        <a:lstStyle/>
        <a:p>
          <a:r>
            <a:rPr lang="en-US" sz="800" dirty="0">
              <a:latin typeface="Times New Roman" panose="02020603050405020304" pitchFamily="18" charset="0"/>
              <a:cs typeface="Times New Roman" panose="02020603050405020304" pitchFamily="18" charset="0"/>
            </a:rPr>
            <a:t>VAR model </a:t>
          </a:r>
          <a:endParaRPr lang="en-US" sz="7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151EFA4-CE43-4C1E-8A9A-E1C2C7329AE3}" type="parTrans" cxnId="{AC32A1C3-09DE-4318-9303-CE99C2666100}">
      <dgm:prSet/>
      <dgm:spPr/>
      <dgm:t>
        <a:bodyPr/>
        <a:lstStyle/>
        <a:p>
          <a:endParaRPr lang="en-US"/>
        </a:p>
      </dgm:t>
    </dgm:pt>
    <dgm:pt modelId="{87041C25-A7F6-42E9-9BEB-6980420FBFD1}" type="sibTrans" cxnId="{AC32A1C3-09DE-4318-9303-CE99C2666100}">
      <dgm:prSet/>
      <dgm:spPr/>
      <dgm:t>
        <a:bodyPr/>
        <a:lstStyle/>
        <a:p>
          <a:endParaRPr lang="en-US"/>
        </a:p>
      </dgm:t>
    </dgm:pt>
    <dgm:pt modelId="{C894076E-4C54-4D9B-9D2E-9C731BC36216}">
      <dgm:prSet custT="1"/>
      <dgm:spPr>
        <a:ln>
          <a:solidFill>
            <a:srgbClr val="3333B2"/>
          </a:solidFill>
        </a:ln>
      </dgm:spPr>
      <dgm:t>
        <a:bodyPr/>
        <a:lstStyle/>
        <a:p>
          <a:r>
            <a:rPr lang="en-US" sz="800" dirty="0">
              <a:latin typeface="Times New Roman" panose="02020603050405020304" pitchFamily="18" charset="0"/>
              <a:cs typeface="Times New Roman" panose="02020603050405020304" pitchFamily="18" charset="0"/>
            </a:rPr>
            <a:t>US 2008-2014</a:t>
          </a:r>
        </a:p>
      </dgm:t>
    </dgm:pt>
    <dgm:pt modelId="{0A25D404-2054-4679-B0AE-E0A960FB0DDE}" type="parTrans" cxnId="{D0322E22-4A74-49AE-9E9B-A0FDBBB092C8}">
      <dgm:prSet/>
      <dgm:spPr/>
      <dgm:t>
        <a:bodyPr/>
        <a:lstStyle/>
        <a:p>
          <a:endParaRPr lang="en-US"/>
        </a:p>
      </dgm:t>
    </dgm:pt>
    <dgm:pt modelId="{D84ED3D4-D89C-4CDE-AE3A-EAFA62630979}" type="sibTrans" cxnId="{D0322E22-4A74-49AE-9E9B-A0FDBBB092C8}">
      <dgm:prSet/>
      <dgm:spPr/>
      <dgm:t>
        <a:bodyPr/>
        <a:lstStyle/>
        <a:p>
          <a:endParaRPr lang="en-US"/>
        </a:p>
      </dgm:t>
    </dgm:pt>
    <dgm:pt modelId="{2C22E0A4-A735-48F7-A36C-630B85C7B09A}">
      <dgm:prSet custT="1"/>
      <dgm:spPr>
        <a:ln>
          <a:solidFill>
            <a:srgbClr val="3333B2"/>
          </a:solidFill>
        </a:ln>
      </dgm:spPr>
      <dgm:t>
        <a:bodyPr/>
        <a:lstStyle/>
        <a:p>
          <a:endParaRPr lang="en-US" sz="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DE2E900-CBDF-4CFE-BAF0-000FE140D4F7}" type="parTrans" cxnId="{F19E1D1F-A2B6-4658-956C-6F4DA2DBFE04}">
      <dgm:prSet/>
      <dgm:spPr/>
      <dgm:t>
        <a:bodyPr/>
        <a:lstStyle/>
        <a:p>
          <a:endParaRPr lang="en-US"/>
        </a:p>
      </dgm:t>
    </dgm:pt>
    <dgm:pt modelId="{CB786B1A-E74F-4533-90DC-19F15851709A}" type="sibTrans" cxnId="{F19E1D1F-A2B6-4658-956C-6F4DA2DBFE04}">
      <dgm:prSet/>
      <dgm:spPr/>
      <dgm:t>
        <a:bodyPr/>
        <a:lstStyle/>
        <a:p>
          <a:endParaRPr lang="en-US"/>
        </a:p>
      </dgm:t>
    </dgm:pt>
    <dgm:pt modelId="{7695576E-601F-4B7B-9A5C-16D866DD91B5}">
      <dgm:prSet custT="1"/>
      <dgm:spPr>
        <a:ln>
          <a:solidFill>
            <a:srgbClr val="3333B2"/>
          </a:solidFill>
        </a:ln>
      </dgm:spPr>
      <dgm:t>
        <a:bodyPr/>
        <a:lstStyle/>
        <a:p>
          <a:r>
            <a:rPr lang="en-US" sz="800" dirty="0">
              <a:latin typeface="Times New Roman" panose="02020603050405020304" pitchFamily="18" charset="0"/>
              <a:cs typeface="Times New Roman" panose="02020603050405020304" pitchFamily="18" charset="0"/>
            </a:rPr>
            <a:t>Effect of QE on 90/10 ratio</a:t>
          </a:r>
        </a:p>
      </dgm:t>
    </dgm:pt>
    <dgm:pt modelId="{142A4160-F151-43F4-9259-A5E6826BB657}" type="parTrans" cxnId="{14A26151-1B24-4054-B279-E6E6F694FFAD}">
      <dgm:prSet/>
      <dgm:spPr/>
      <dgm:t>
        <a:bodyPr/>
        <a:lstStyle/>
        <a:p>
          <a:endParaRPr lang="en-US"/>
        </a:p>
      </dgm:t>
    </dgm:pt>
    <dgm:pt modelId="{76E1BF57-F730-4929-99CD-F28214288174}" type="sibTrans" cxnId="{14A26151-1B24-4054-B279-E6E6F694FFAD}">
      <dgm:prSet/>
      <dgm:spPr/>
      <dgm:t>
        <a:bodyPr/>
        <a:lstStyle/>
        <a:p>
          <a:endParaRPr lang="en-US"/>
        </a:p>
      </dgm:t>
    </dgm:pt>
    <dgm:pt modelId="{0D67BB14-21BC-4801-B547-76E3E787D68F}">
      <dgm:prSet custT="1"/>
      <dgm:spPr>
        <a:ln>
          <a:solidFill>
            <a:srgbClr val="3333B2"/>
          </a:solidFill>
        </a:ln>
      </dgm:spPr>
      <dgm:t>
        <a:bodyPr/>
        <a:lstStyle/>
        <a:p>
          <a:r>
            <a:rPr lang="en-US" sz="800" dirty="0">
              <a:latin typeface="Times New Roman" panose="02020603050405020304" pitchFamily="18" charset="0"/>
              <a:cs typeface="Times New Roman" panose="02020603050405020304" pitchFamily="18" charset="0"/>
            </a:rPr>
            <a:t>An increase in QE increases inequality</a:t>
          </a:r>
        </a:p>
      </dgm:t>
    </dgm:pt>
    <dgm:pt modelId="{FFCF4475-B827-4FF5-8A89-D23E07718D03}" type="parTrans" cxnId="{0892C114-8D6A-4089-932C-9A8527B6BC7F}">
      <dgm:prSet/>
      <dgm:spPr/>
      <dgm:t>
        <a:bodyPr/>
        <a:lstStyle/>
        <a:p>
          <a:endParaRPr lang="en-US"/>
        </a:p>
      </dgm:t>
    </dgm:pt>
    <dgm:pt modelId="{03A84185-B08E-4866-84F1-E6457DD729F3}" type="sibTrans" cxnId="{0892C114-8D6A-4089-932C-9A8527B6BC7F}">
      <dgm:prSet/>
      <dgm:spPr/>
      <dgm:t>
        <a:bodyPr/>
        <a:lstStyle/>
        <a:p>
          <a:endParaRPr lang="en-US"/>
        </a:p>
      </dgm:t>
    </dgm:pt>
    <dgm:pt modelId="{EC3E148C-862A-46FB-A87A-EEF62BF11F6C}">
      <dgm:prSet custT="1"/>
      <dgm:spPr>
        <a:ln>
          <a:solidFill>
            <a:srgbClr val="3333B2"/>
          </a:solidFill>
        </a:ln>
      </dgm:spPr>
      <dgm:t>
        <a:bodyPr/>
        <a:lstStyle/>
        <a:p>
          <a:r>
            <a:rPr lang="en-US" sz="800" b="1" dirty="0">
              <a:latin typeface="Times New Roman" panose="02020603050405020304" pitchFamily="18" charset="0"/>
              <a:cs typeface="Times New Roman" panose="02020603050405020304" pitchFamily="18" charset="0"/>
            </a:rPr>
            <a:t>Montecino and Epstein (2015) </a:t>
          </a:r>
        </a:p>
      </dgm:t>
    </dgm:pt>
    <dgm:pt modelId="{30925CF5-7990-43B2-82A9-2F8E9886F44A}" type="parTrans" cxnId="{BC195AC5-9B23-4079-BBF2-4100CAE3D03C}">
      <dgm:prSet/>
      <dgm:spPr/>
      <dgm:t>
        <a:bodyPr/>
        <a:lstStyle/>
        <a:p>
          <a:endParaRPr lang="en-US"/>
        </a:p>
      </dgm:t>
    </dgm:pt>
    <dgm:pt modelId="{1C737BC4-ADEA-40C5-AE7E-A4A5E675130A}" type="sibTrans" cxnId="{BC195AC5-9B23-4079-BBF2-4100CAE3D03C}">
      <dgm:prSet/>
      <dgm:spPr/>
      <dgm:t>
        <a:bodyPr/>
        <a:lstStyle/>
        <a:p>
          <a:endParaRPr lang="en-US"/>
        </a:p>
      </dgm:t>
    </dgm:pt>
    <dgm:pt modelId="{0E3FB3F4-8F05-4B1D-98AF-4B651DAC64C6}">
      <dgm:prSet phldrT="[Text]" custT="1"/>
      <dgm:spPr>
        <a:ln>
          <a:solidFill>
            <a:srgbClr val="3333B2"/>
          </a:solidFill>
        </a:ln>
      </dgm:spPr>
      <dgm:t>
        <a:bodyPr/>
        <a:lstStyle/>
        <a:p>
          <a:pPr algn="l"/>
          <a:endParaRPr lang="en-US" sz="77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BB1CAAF-7410-4A05-8737-2DCE375F203D}" type="parTrans" cxnId="{9A01F770-9B30-4BEF-8105-635753DB93A0}">
      <dgm:prSet/>
      <dgm:spPr/>
      <dgm:t>
        <a:bodyPr/>
        <a:lstStyle/>
        <a:p>
          <a:endParaRPr lang="en-US"/>
        </a:p>
      </dgm:t>
    </dgm:pt>
    <dgm:pt modelId="{F2C850F4-6506-47BB-9988-69E67A3582B1}" type="sibTrans" cxnId="{9A01F770-9B30-4BEF-8105-635753DB93A0}">
      <dgm:prSet/>
      <dgm:spPr/>
      <dgm:t>
        <a:bodyPr/>
        <a:lstStyle/>
        <a:p>
          <a:endParaRPr lang="en-US"/>
        </a:p>
      </dgm:t>
    </dgm:pt>
    <dgm:pt modelId="{B8F498E1-6EE9-4402-840E-4A0650F0B74A}">
      <dgm:prSet phldrT="[Text]" custT="1"/>
      <dgm:spPr>
        <a:ln>
          <a:solidFill>
            <a:srgbClr val="3333B2"/>
          </a:solidFill>
        </a:ln>
      </dgm:spPr>
      <dgm:t>
        <a:bodyPr/>
        <a:lstStyle/>
        <a:p>
          <a:pPr algn="l"/>
          <a:r>
            <a:rPr lang="en-US" sz="770" dirty="0">
              <a:latin typeface="Times New Roman" panose="02020603050405020304" pitchFamily="18" charset="0"/>
              <a:cs typeface="Times New Roman" panose="02020603050405020304" pitchFamily="18" charset="0"/>
            </a:rPr>
            <a:t>Italy 2010</a:t>
          </a:r>
        </a:p>
      </dgm:t>
    </dgm:pt>
    <dgm:pt modelId="{6E10EEAC-4283-4EB3-B70E-B461BD6B8D14}" type="parTrans" cxnId="{DEF0699D-2CDB-4284-BA8B-C8150843129E}">
      <dgm:prSet/>
      <dgm:spPr/>
      <dgm:t>
        <a:bodyPr/>
        <a:lstStyle/>
        <a:p>
          <a:endParaRPr lang="en-US"/>
        </a:p>
      </dgm:t>
    </dgm:pt>
    <dgm:pt modelId="{F3321915-D116-4B3E-B95F-BB262210B3B4}" type="sibTrans" cxnId="{DEF0699D-2CDB-4284-BA8B-C8150843129E}">
      <dgm:prSet/>
      <dgm:spPr/>
      <dgm:t>
        <a:bodyPr/>
        <a:lstStyle/>
        <a:p>
          <a:endParaRPr lang="en-US"/>
        </a:p>
      </dgm:t>
    </dgm:pt>
    <dgm:pt modelId="{9442D50F-2642-44EB-AD1F-FC7E518DC4A0}">
      <dgm:prSet phldrT="[Text]" custT="1"/>
      <dgm:spPr>
        <a:ln>
          <a:solidFill>
            <a:srgbClr val="3333B2"/>
          </a:solidFill>
        </a:ln>
      </dgm:spPr>
      <dgm:t>
        <a:bodyPr/>
        <a:lstStyle/>
        <a:p>
          <a:pPr algn="l"/>
          <a:r>
            <a:rPr lang="en-US" sz="770" dirty="0">
              <a:latin typeface="Times New Roman" panose="02020603050405020304" pitchFamily="18" charset="0"/>
              <a:cs typeface="Times New Roman" panose="02020603050405020304" pitchFamily="18" charset="0"/>
            </a:rPr>
            <a:t>Effect of ECB unconventional MP on Gini coefficient and 90/10 ratio</a:t>
          </a:r>
        </a:p>
      </dgm:t>
    </dgm:pt>
    <dgm:pt modelId="{9FB2DF0D-AF9B-43AD-B986-50C75DB45F8E}" type="parTrans" cxnId="{696E5317-4F31-43D2-93CB-F852E7E68B4D}">
      <dgm:prSet/>
      <dgm:spPr/>
      <dgm:t>
        <a:bodyPr/>
        <a:lstStyle/>
        <a:p>
          <a:endParaRPr lang="en-US"/>
        </a:p>
      </dgm:t>
    </dgm:pt>
    <dgm:pt modelId="{F6DA5349-1289-46F4-9A99-D8F3BB9E0890}" type="sibTrans" cxnId="{696E5317-4F31-43D2-93CB-F852E7E68B4D}">
      <dgm:prSet/>
      <dgm:spPr/>
      <dgm:t>
        <a:bodyPr/>
        <a:lstStyle/>
        <a:p>
          <a:endParaRPr lang="en-US"/>
        </a:p>
      </dgm:t>
    </dgm:pt>
    <dgm:pt modelId="{8DF10D41-DD9E-4BD7-A54C-6D15809186DB}">
      <dgm:prSet phldrT="[Text]" custT="1"/>
      <dgm:spPr>
        <a:ln>
          <a:solidFill>
            <a:srgbClr val="3333B2"/>
          </a:solidFill>
        </a:ln>
      </dgm:spPr>
      <dgm:t>
        <a:bodyPr/>
        <a:lstStyle/>
        <a:p>
          <a:pPr algn="l"/>
          <a:r>
            <a:rPr lang="en-US" sz="770" dirty="0">
              <a:latin typeface="Times New Roman" panose="02020603050405020304" pitchFamily="18" charset="0"/>
              <a:cs typeface="Times New Roman" panose="02020603050405020304" pitchFamily="18" charset="0"/>
            </a:rPr>
            <a:t>An increase in ECB reduces inequality negligibly</a:t>
          </a:r>
        </a:p>
      </dgm:t>
    </dgm:pt>
    <dgm:pt modelId="{1A1A3D11-CC65-492C-82BD-92C6E9EAB97A}" type="parTrans" cxnId="{62CBBF67-281A-4CCD-B862-397EDE3ECB52}">
      <dgm:prSet/>
      <dgm:spPr/>
      <dgm:t>
        <a:bodyPr/>
        <a:lstStyle/>
        <a:p>
          <a:endParaRPr lang="en-US"/>
        </a:p>
      </dgm:t>
    </dgm:pt>
    <dgm:pt modelId="{1D6731AC-4963-4DC3-8DCF-3F2C91F0875A}" type="sibTrans" cxnId="{62CBBF67-281A-4CCD-B862-397EDE3ECB52}">
      <dgm:prSet/>
      <dgm:spPr/>
      <dgm:t>
        <a:bodyPr/>
        <a:lstStyle/>
        <a:p>
          <a:endParaRPr lang="en-US"/>
        </a:p>
      </dgm:t>
    </dgm:pt>
    <dgm:pt modelId="{D5114DE8-5FC2-4B7B-88EF-12AE7E6223B8}">
      <dgm:prSet phldrT="[Text]" custT="1"/>
      <dgm:spPr>
        <a:ln>
          <a:solidFill>
            <a:srgbClr val="3333B2"/>
          </a:solidFill>
        </a:ln>
      </dgm:spPr>
      <dgm:t>
        <a:bodyPr/>
        <a:lstStyle/>
        <a:p>
          <a:pPr algn="just"/>
          <a:r>
            <a:rPr lang="en-US" sz="770" dirty="0">
              <a:latin typeface="Times New Roman" panose="02020603050405020304" pitchFamily="18" charset="0"/>
              <a:cs typeface="Times New Roman" panose="02020603050405020304" pitchFamily="18" charset="0"/>
            </a:rPr>
            <a:t>3-step approach</a:t>
          </a:r>
        </a:p>
      </dgm:t>
    </dgm:pt>
    <dgm:pt modelId="{EAD0D399-85DB-488B-BAD6-AE3CB3288C71}" type="parTrans" cxnId="{0BC55C8B-E4CF-409B-9C6E-E77743CBC705}">
      <dgm:prSet/>
      <dgm:spPr/>
      <dgm:t>
        <a:bodyPr/>
        <a:lstStyle/>
        <a:p>
          <a:endParaRPr lang="en-US"/>
        </a:p>
      </dgm:t>
    </dgm:pt>
    <dgm:pt modelId="{71A41519-A5CA-4698-81D2-0F6AB7984D7E}" type="sibTrans" cxnId="{0BC55C8B-E4CF-409B-9C6E-E77743CBC705}">
      <dgm:prSet/>
      <dgm:spPr/>
      <dgm:t>
        <a:bodyPr/>
        <a:lstStyle/>
        <a:p>
          <a:endParaRPr lang="en-US"/>
        </a:p>
      </dgm:t>
    </dgm:pt>
    <dgm:pt modelId="{8D0C811A-A2C9-487B-81FF-6AF80A098899}">
      <dgm:prSet custT="1"/>
      <dgm:spPr>
        <a:ln>
          <a:solidFill>
            <a:srgbClr val="3333B2"/>
          </a:solidFill>
        </a:ln>
      </dgm:spPr>
      <dgm:t>
        <a:bodyPr/>
        <a:lstStyle/>
        <a:p>
          <a:r>
            <a:rPr lang="en-US" sz="750" dirty="0">
              <a:latin typeface="Times New Roman" panose="02020603050405020304" pitchFamily="18" charset="0"/>
              <a:cs typeface="Times New Roman" panose="02020603050405020304" pitchFamily="18" charset="0"/>
            </a:rPr>
            <a:t>France, Germany, Italy and Spain 1999- 2016; US 2008-2013</a:t>
          </a:r>
        </a:p>
      </dgm:t>
    </dgm:pt>
    <dgm:pt modelId="{E9EF0E38-E648-42BE-94D7-0E99B9A705EC}" type="parTrans" cxnId="{992A3741-196C-4242-A6A4-3A0F9986576E}">
      <dgm:prSet/>
      <dgm:spPr/>
      <dgm:t>
        <a:bodyPr/>
        <a:lstStyle/>
        <a:p>
          <a:endParaRPr lang="en-US"/>
        </a:p>
      </dgm:t>
    </dgm:pt>
    <dgm:pt modelId="{59298F2C-7055-4B28-BBC1-E2F466596927}" type="sibTrans" cxnId="{992A3741-196C-4242-A6A4-3A0F9986576E}">
      <dgm:prSet/>
      <dgm:spPr/>
      <dgm:t>
        <a:bodyPr/>
        <a:lstStyle/>
        <a:p>
          <a:endParaRPr lang="en-US"/>
        </a:p>
      </dgm:t>
    </dgm:pt>
    <dgm:pt modelId="{6EBB1BCE-5C7D-447F-8292-28DC4D0F8317}">
      <dgm:prSet custT="1"/>
      <dgm:spPr>
        <a:ln>
          <a:solidFill>
            <a:srgbClr val="3333B2"/>
          </a:solidFill>
        </a:ln>
      </dgm:spPr>
      <dgm:t>
        <a:bodyPr/>
        <a:lstStyle/>
        <a:p>
          <a:r>
            <a:rPr lang="en-US" sz="750" dirty="0">
              <a:latin typeface="Times New Roman" panose="02020603050405020304" pitchFamily="18" charset="0"/>
              <a:cs typeface="Times New Roman" panose="02020603050405020304" pitchFamily="18" charset="0"/>
            </a:rPr>
            <a:t>Impacts of ECB UMP on Gini coefficient</a:t>
          </a:r>
        </a:p>
      </dgm:t>
    </dgm:pt>
    <dgm:pt modelId="{CCE4742B-2CC1-440C-8912-D3335331A911}" type="parTrans" cxnId="{7081BF4B-40B1-470B-ACD2-AB638E3CFB6A}">
      <dgm:prSet/>
      <dgm:spPr/>
      <dgm:t>
        <a:bodyPr/>
        <a:lstStyle/>
        <a:p>
          <a:endParaRPr lang="en-US"/>
        </a:p>
      </dgm:t>
    </dgm:pt>
    <dgm:pt modelId="{B8A1893B-DCA8-40FF-A9D4-E1EEB1B9F6A4}" type="sibTrans" cxnId="{7081BF4B-40B1-470B-ACD2-AB638E3CFB6A}">
      <dgm:prSet/>
      <dgm:spPr/>
      <dgm:t>
        <a:bodyPr/>
        <a:lstStyle/>
        <a:p>
          <a:endParaRPr lang="en-US"/>
        </a:p>
      </dgm:t>
    </dgm:pt>
    <dgm:pt modelId="{B0EE9789-E101-4444-8FBB-373E3234FCDD}">
      <dgm:prSet custT="1"/>
      <dgm:spPr>
        <a:ln>
          <a:solidFill>
            <a:srgbClr val="3333B2"/>
          </a:solidFill>
        </a:ln>
      </dgm:spPr>
      <dgm:t>
        <a:bodyPr/>
        <a:lstStyle/>
        <a:p>
          <a:r>
            <a:rPr lang="en-US" sz="750" dirty="0">
              <a:latin typeface="Times New Roman" panose="02020603050405020304" pitchFamily="18" charset="0"/>
              <a:cs typeface="Times New Roman" panose="02020603050405020304" pitchFamily="18" charset="0"/>
            </a:rPr>
            <a:t>An increase in ECB reduces inequality </a:t>
          </a:r>
        </a:p>
      </dgm:t>
    </dgm:pt>
    <dgm:pt modelId="{FBE298A9-756E-477F-96A3-FA20A1916A0F}" type="parTrans" cxnId="{D853DB67-A167-45CD-919F-0E8D7524DB0C}">
      <dgm:prSet/>
      <dgm:spPr/>
      <dgm:t>
        <a:bodyPr/>
        <a:lstStyle/>
        <a:p>
          <a:endParaRPr lang="en-US"/>
        </a:p>
      </dgm:t>
    </dgm:pt>
    <dgm:pt modelId="{1311E4C9-3347-4EC7-8960-3E7E50205DF2}" type="sibTrans" cxnId="{D853DB67-A167-45CD-919F-0E8D7524DB0C}">
      <dgm:prSet/>
      <dgm:spPr/>
      <dgm:t>
        <a:bodyPr/>
        <a:lstStyle/>
        <a:p>
          <a:endParaRPr lang="en-US"/>
        </a:p>
      </dgm:t>
    </dgm:pt>
    <dgm:pt modelId="{1416E64F-16E0-4676-8613-BCA9ABF5D6D0}">
      <dgm:prSet custT="1"/>
      <dgm:spPr>
        <a:ln>
          <a:solidFill>
            <a:srgbClr val="3333B2"/>
          </a:solidFill>
        </a:ln>
      </dgm:spPr>
      <dgm:t>
        <a:bodyPr/>
        <a:lstStyle/>
        <a:p>
          <a:endParaRPr lang="en-US" sz="75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F49C544-2C8F-4D4B-B06D-07D14D0EC332}" type="parTrans" cxnId="{85343E3A-2A49-41C0-9B39-0DCF0933E107}">
      <dgm:prSet/>
      <dgm:spPr/>
      <dgm:t>
        <a:bodyPr/>
        <a:lstStyle/>
        <a:p>
          <a:endParaRPr lang="en-US"/>
        </a:p>
      </dgm:t>
    </dgm:pt>
    <dgm:pt modelId="{B49ECCDF-0282-4B5F-A700-DEBF467EB7A4}" type="sibTrans" cxnId="{85343E3A-2A49-41C0-9B39-0DCF0933E107}">
      <dgm:prSet/>
      <dgm:spPr/>
      <dgm:t>
        <a:bodyPr/>
        <a:lstStyle/>
        <a:p>
          <a:endParaRPr lang="en-US"/>
        </a:p>
      </dgm:t>
    </dgm:pt>
    <dgm:pt modelId="{BF0448E0-B477-4723-8CFA-4C21F7BA091B}">
      <dgm:prSet phldrT="[Text]" custT="1"/>
      <dgm:spPr>
        <a:ln>
          <a:solidFill>
            <a:srgbClr val="3333B2"/>
          </a:solidFill>
        </a:ln>
      </dgm:spPr>
      <dgm:t>
        <a:bodyPr/>
        <a:lstStyle/>
        <a:p>
          <a:r>
            <a:rPr lang="en-US" sz="750" dirty="0">
              <a:latin typeface="Times New Roman" panose="02020603050405020304" pitchFamily="18" charset="0"/>
              <a:cs typeface="Times New Roman" panose="02020603050405020304" pitchFamily="18" charset="0"/>
            </a:rPr>
            <a:t>3-step approach</a:t>
          </a:r>
        </a:p>
      </dgm:t>
    </dgm:pt>
    <dgm:pt modelId="{0F411AD6-FB6C-4954-9533-B5DF1FC931D7}" type="parTrans" cxnId="{FF113A37-6960-4276-ADBF-2C1F101D6A96}">
      <dgm:prSet/>
      <dgm:spPr/>
      <dgm:t>
        <a:bodyPr/>
        <a:lstStyle/>
        <a:p>
          <a:endParaRPr lang="en-US"/>
        </a:p>
      </dgm:t>
    </dgm:pt>
    <dgm:pt modelId="{4FEE6A8A-FBA7-41E8-B8DA-188BD49AE20D}" type="sibTrans" cxnId="{FF113A37-6960-4276-ADBF-2C1F101D6A96}">
      <dgm:prSet/>
      <dgm:spPr/>
      <dgm:t>
        <a:bodyPr/>
        <a:lstStyle/>
        <a:p>
          <a:endParaRPr lang="en-US"/>
        </a:p>
      </dgm:t>
    </dgm:pt>
    <dgm:pt modelId="{10996737-3FD3-4143-BB3A-06F248147F7E}">
      <dgm:prSet custT="1"/>
      <dgm:spPr>
        <a:ln>
          <a:solidFill>
            <a:srgbClr val="3333B2"/>
          </a:solidFill>
        </a:ln>
      </dgm:spPr>
      <dgm:t>
        <a:bodyPr/>
        <a:lstStyle/>
        <a:p>
          <a:r>
            <a:rPr lang="en-US" sz="700" dirty="0">
              <a:latin typeface="Times New Roman" panose="02020603050405020304" pitchFamily="18" charset="0"/>
              <a:cs typeface="Times New Roman" panose="02020603050405020304" pitchFamily="18" charset="0"/>
            </a:rPr>
            <a:t>UK 2008-2014</a:t>
          </a:r>
        </a:p>
      </dgm:t>
    </dgm:pt>
    <dgm:pt modelId="{7B76176C-01E6-4E4C-9403-8D7790998853}" type="parTrans" cxnId="{B2CD8387-A01F-4503-87F2-A9DBDB69CA94}">
      <dgm:prSet/>
      <dgm:spPr/>
      <dgm:t>
        <a:bodyPr/>
        <a:lstStyle/>
        <a:p>
          <a:endParaRPr lang="en-US"/>
        </a:p>
      </dgm:t>
    </dgm:pt>
    <dgm:pt modelId="{BEAD64E5-8455-4973-B1C7-25E667F1C320}" type="sibTrans" cxnId="{B2CD8387-A01F-4503-87F2-A9DBDB69CA94}">
      <dgm:prSet/>
      <dgm:spPr/>
      <dgm:t>
        <a:bodyPr/>
        <a:lstStyle/>
        <a:p>
          <a:endParaRPr lang="en-US"/>
        </a:p>
      </dgm:t>
    </dgm:pt>
    <dgm:pt modelId="{FB42BB85-D94E-46C2-B506-926327DF5D41}">
      <dgm:prSet custT="1"/>
      <dgm:spPr>
        <a:ln>
          <a:solidFill>
            <a:srgbClr val="3333B2"/>
          </a:solidFill>
        </a:ln>
      </dgm:spPr>
      <dgm:t>
        <a:bodyPr/>
        <a:lstStyle/>
        <a:p>
          <a:r>
            <a:rPr lang="en-US" sz="700" dirty="0">
              <a:latin typeface="Times New Roman" panose="02020603050405020304" pitchFamily="18" charset="0"/>
              <a:cs typeface="Times New Roman" panose="02020603050405020304" pitchFamily="18" charset="0"/>
            </a:rPr>
            <a:t>Impacts of UMP on Gini coefficient</a:t>
          </a:r>
        </a:p>
      </dgm:t>
    </dgm:pt>
    <dgm:pt modelId="{D4533800-0924-4CE4-B25D-290DE2E236EC}" type="parTrans" cxnId="{99776ACF-7F5F-47CC-9EF8-82AE1F064AC6}">
      <dgm:prSet/>
      <dgm:spPr/>
      <dgm:t>
        <a:bodyPr/>
        <a:lstStyle/>
        <a:p>
          <a:endParaRPr lang="en-US"/>
        </a:p>
      </dgm:t>
    </dgm:pt>
    <dgm:pt modelId="{CAD3BDA9-154C-42BB-A9DB-F4A4D3B4850A}" type="sibTrans" cxnId="{99776ACF-7F5F-47CC-9EF8-82AE1F064AC6}">
      <dgm:prSet/>
      <dgm:spPr/>
      <dgm:t>
        <a:bodyPr/>
        <a:lstStyle/>
        <a:p>
          <a:endParaRPr lang="en-US"/>
        </a:p>
      </dgm:t>
    </dgm:pt>
    <dgm:pt modelId="{58B8EC10-F434-45C5-8225-F6003123E2AB}">
      <dgm:prSet custT="1"/>
      <dgm:spPr>
        <a:ln>
          <a:solidFill>
            <a:srgbClr val="3333B2"/>
          </a:solidFill>
        </a:ln>
      </dgm:spPr>
      <dgm:t>
        <a:bodyPr/>
        <a:lstStyle/>
        <a:p>
          <a:r>
            <a:rPr lang="en-US" sz="700" dirty="0">
              <a:latin typeface="Times New Roman" panose="02020603050405020304" pitchFamily="18" charset="0"/>
              <a:cs typeface="Times New Roman" panose="02020603050405020304" pitchFamily="18" charset="0"/>
            </a:rPr>
            <a:t>UMP has negligibly reduced income and wealth inequality</a:t>
          </a:r>
        </a:p>
      </dgm:t>
    </dgm:pt>
    <dgm:pt modelId="{DEDDC244-486A-4E88-921B-9B596651541E}" type="parTrans" cxnId="{425E578E-D0F0-44F3-969D-7D4F75FDBAC0}">
      <dgm:prSet/>
      <dgm:spPr/>
      <dgm:t>
        <a:bodyPr/>
        <a:lstStyle/>
        <a:p>
          <a:endParaRPr lang="en-US"/>
        </a:p>
      </dgm:t>
    </dgm:pt>
    <dgm:pt modelId="{27FB3A91-983F-409D-98EA-D3254FA090CD}" type="sibTrans" cxnId="{425E578E-D0F0-44F3-969D-7D4F75FDBAC0}">
      <dgm:prSet/>
      <dgm:spPr/>
      <dgm:t>
        <a:bodyPr/>
        <a:lstStyle/>
        <a:p>
          <a:endParaRPr lang="en-US"/>
        </a:p>
      </dgm:t>
    </dgm:pt>
    <dgm:pt modelId="{AF04C2F2-43B8-4A86-833C-E8350E12E357}">
      <dgm:prSet phldrT="[Text]" custT="1"/>
      <dgm:spPr>
        <a:ln>
          <a:solidFill>
            <a:srgbClr val="3333B2"/>
          </a:solidFill>
        </a:ln>
      </dgm:spPr>
      <dgm:t>
        <a:bodyPr/>
        <a:lstStyle/>
        <a:p>
          <a:r>
            <a:rPr lang="en-US" sz="700" dirty="0">
              <a:latin typeface="Times New Roman" panose="02020603050405020304" pitchFamily="18" charset="0"/>
              <a:cs typeface="Times New Roman" panose="02020603050405020304" pitchFamily="18" charset="0"/>
            </a:rPr>
            <a:t>3-step approach</a:t>
          </a:r>
        </a:p>
      </dgm:t>
    </dgm:pt>
    <dgm:pt modelId="{3022B110-274C-4FEE-B65F-DEE8908CFA75}" type="parTrans" cxnId="{F77F89B9-CECD-43A0-B65B-97DEFC8516AC}">
      <dgm:prSet/>
      <dgm:spPr/>
      <dgm:t>
        <a:bodyPr/>
        <a:lstStyle/>
        <a:p>
          <a:endParaRPr lang="en-US"/>
        </a:p>
      </dgm:t>
    </dgm:pt>
    <dgm:pt modelId="{04080F87-AA8E-44DE-A5C0-FEC9F5E50A08}" type="sibTrans" cxnId="{F77F89B9-CECD-43A0-B65B-97DEFC8516AC}">
      <dgm:prSet/>
      <dgm:spPr/>
      <dgm:t>
        <a:bodyPr/>
        <a:lstStyle/>
        <a:p>
          <a:endParaRPr lang="en-US"/>
        </a:p>
      </dgm:t>
    </dgm:pt>
    <dgm:pt modelId="{37560764-1D71-44A4-9FE2-E90365D3A2C2}">
      <dgm:prSet custT="1"/>
      <dgm:spPr>
        <a:ln>
          <a:solidFill>
            <a:srgbClr val="3333B2"/>
          </a:solidFill>
        </a:ln>
      </dgm:spPr>
      <dgm:t>
        <a:bodyPr/>
        <a:lstStyle/>
        <a:p>
          <a:r>
            <a:rPr lang="en-US" sz="800" dirty="0">
              <a:latin typeface="Times New Roman" panose="02020603050405020304" pitchFamily="18" charset="0"/>
              <a:cs typeface="Times New Roman" panose="02020603050405020304" pitchFamily="18" charset="0"/>
            </a:rPr>
            <a:t>RIF model</a:t>
          </a:r>
        </a:p>
      </dgm:t>
    </dgm:pt>
    <dgm:pt modelId="{05F2640C-B3E2-4B37-869F-171394C3B89E}" type="parTrans" cxnId="{CF8EAED7-FCBF-4DEB-8E3D-9003E35AFF2D}">
      <dgm:prSet/>
      <dgm:spPr/>
      <dgm:t>
        <a:bodyPr/>
        <a:lstStyle/>
        <a:p>
          <a:endParaRPr lang="en-US"/>
        </a:p>
      </dgm:t>
    </dgm:pt>
    <dgm:pt modelId="{2B72EFDB-C95D-4E75-9050-6DC7C0C93B52}" type="sibTrans" cxnId="{CF8EAED7-FCBF-4DEB-8E3D-9003E35AFF2D}">
      <dgm:prSet/>
      <dgm:spPr/>
      <dgm:t>
        <a:bodyPr/>
        <a:lstStyle/>
        <a:p>
          <a:endParaRPr lang="en-US"/>
        </a:p>
      </dgm:t>
    </dgm:pt>
    <dgm:pt modelId="{A2F68162-85A3-4372-87FC-F68F144AB595}">
      <dgm:prSet custT="1"/>
      <dgm:spPr>
        <a:ln>
          <a:solidFill>
            <a:srgbClr val="3333B2"/>
          </a:solidFill>
        </a:ln>
      </dgm:spPr>
      <dgm:t>
        <a:bodyPr/>
        <a:lstStyle/>
        <a:p>
          <a:endParaRPr lang="en-US" sz="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792F9E0-2C8F-4B75-91B8-A86DD2D707BA}" type="parTrans" cxnId="{3E6C5B13-95DA-42A5-8D0B-19DC7D61AC39}">
      <dgm:prSet/>
      <dgm:spPr/>
      <dgm:t>
        <a:bodyPr/>
        <a:lstStyle/>
        <a:p>
          <a:endParaRPr lang="en-US"/>
        </a:p>
      </dgm:t>
    </dgm:pt>
    <dgm:pt modelId="{F788B5BC-90F4-4CFC-AD82-19726A9612FF}" type="sibTrans" cxnId="{3E6C5B13-95DA-42A5-8D0B-19DC7D61AC39}">
      <dgm:prSet/>
      <dgm:spPr/>
      <dgm:t>
        <a:bodyPr/>
        <a:lstStyle/>
        <a:p>
          <a:endParaRPr lang="en-US"/>
        </a:p>
      </dgm:t>
    </dgm:pt>
    <dgm:pt modelId="{EEEBC669-5242-4ABA-A9A7-9B4254E7886C}">
      <dgm:prSet custT="1"/>
      <dgm:spPr>
        <a:ln>
          <a:solidFill>
            <a:srgbClr val="3333B2"/>
          </a:solidFill>
        </a:ln>
      </dgm:spPr>
      <dgm:t>
        <a:bodyPr/>
        <a:lstStyle/>
        <a:p>
          <a:endParaRPr lang="en-US" sz="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34E48B6-A3F7-41A0-AA9A-AF29479D18BE}" type="parTrans" cxnId="{9472D8B3-5504-4D64-B0D5-EB3F351688F2}">
      <dgm:prSet/>
      <dgm:spPr/>
      <dgm:t>
        <a:bodyPr/>
        <a:lstStyle/>
        <a:p>
          <a:endParaRPr lang="en-US"/>
        </a:p>
      </dgm:t>
    </dgm:pt>
    <dgm:pt modelId="{617DED65-5101-4BC4-B4E9-BFD58E6D59BD}" type="sibTrans" cxnId="{9472D8B3-5504-4D64-B0D5-EB3F351688F2}">
      <dgm:prSet/>
      <dgm:spPr/>
      <dgm:t>
        <a:bodyPr/>
        <a:lstStyle/>
        <a:p>
          <a:endParaRPr lang="en-US"/>
        </a:p>
      </dgm:t>
    </dgm:pt>
    <dgm:pt modelId="{5E85E9F7-EFB0-43C7-A0F3-A67CFA646348}">
      <dgm:prSet custT="1"/>
      <dgm:spPr>
        <a:ln>
          <a:solidFill>
            <a:srgbClr val="3333B2"/>
          </a:solidFill>
        </a:ln>
      </dgm:spPr>
      <dgm:t>
        <a:bodyPr/>
        <a:lstStyle/>
        <a:p>
          <a:endParaRPr lang="en-US" sz="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98E9CC2-F194-4A8E-A1D4-3ABD5AA82C29}" type="parTrans" cxnId="{C7EEADF0-4814-4BB8-8E98-0648EDC3F9F7}">
      <dgm:prSet/>
      <dgm:spPr/>
      <dgm:t>
        <a:bodyPr/>
        <a:lstStyle/>
        <a:p>
          <a:endParaRPr lang="en-US"/>
        </a:p>
      </dgm:t>
    </dgm:pt>
    <dgm:pt modelId="{6473BC98-F352-4E04-9A5B-6B14DFC299A2}" type="sibTrans" cxnId="{C7EEADF0-4814-4BB8-8E98-0648EDC3F9F7}">
      <dgm:prSet/>
      <dgm:spPr/>
      <dgm:t>
        <a:bodyPr/>
        <a:lstStyle/>
        <a:p>
          <a:endParaRPr lang="en-US"/>
        </a:p>
      </dgm:t>
    </dgm:pt>
    <dgm:pt modelId="{19146F5E-E20D-4475-9B2D-C64483D0B18D}">
      <dgm:prSet phldrT="[Text]" custT="1"/>
      <dgm:spPr>
        <a:ln>
          <a:solidFill>
            <a:srgbClr val="3333B2"/>
          </a:solidFill>
        </a:ln>
      </dgm:spPr>
      <dgm:t>
        <a:bodyPr/>
        <a:lstStyle/>
        <a:p>
          <a:endParaRPr lang="en-US" sz="7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957982F-88E6-49FD-846D-9BB2F199C200}" type="parTrans" cxnId="{A12C2880-7C70-4B3B-B5B7-EBDB091066D6}">
      <dgm:prSet/>
      <dgm:spPr/>
      <dgm:t>
        <a:bodyPr/>
        <a:lstStyle/>
        <a:p>
          <a:endParaRPr lang="en-US"/>
        </a:p>
      </dgm:t>
    </dgm:pt>
    <dgm:pt modelId="{6639897C-C43A-422A-9D5C-BFA5E9B2B9B2}" type="sibTrans" cxnId="{A12C2880-7C70-4B3B-B5B7-EBDB091066D6}">
      <dgm:prSet/>
      <dgm:spPr/>
      <dgm:t>
        <a:bodyPr/>
        <a:lstStyle/>
        <a:p>
          <a:endParaRPr lang="en-US"/>
        </a:p>
      </dgm:t>
    </dgm:pt>
    <dgm:pt modelId="{7B2EF0EE-6374-4DA1-923A-9A1500CC885A}">
      <dgm:prSet phldrT="[Text]" custT="1"/>
      <dgm:spPr>
        <a:ln>
          <a:solidFill>
            <a:srgbClr val="3333B2"/>
          </a:solidFill>
        </a:ln>
      </dgm:spPr>
      <dgm:t>
        <a:bodyPr/>
        <a:lstStyle/>
        <a:p>
          <a:endParaRPr lang="en-US" sz="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DBE87E4-7B1F-46E2-AE10-1083D474D02B}" type="parTrans" cxnId="{9126A319-C921-4024-A51C-A64BE658B7F6}">
      <dgm:prSet/>
      <dgm:spPr/>
      <dgm:t>
        <a:bodyPr/>
        <a:lstStyle/>
        <a:p>
          <a:endParaRPr lang="en-US"/>
        </a:p>
      </dgm:t>
    </dgm:pt>
    <dgm:pt modelId="{8804EA36-208F-41ED-916F-729313F129EB}" type="sibTrans" cxnId="{9126A319-C921-4024-A51C-A64BE658B7F6}">
      <dgm:prSet/>
      <dgm:spPr/>
      <dgm:t>
        <a:bodyPr/>
        <a:lstStyle/>
        <a:p>
          <a:endParaRPr lang="en-US"/>
        </a:p>
      </dgm:t>
    </dgm:pt>
    <dgm:pt modelId="{B6EDA95C-E645-4B72-8097-A584B7087CBE}">
      <dgm:prSet phldrT="[Text]" custT="1"/>
      <dgm:spPr>
        <a:ln>
          <a:solidFill>
            <a:srgbClr val="3333B2"/>
          </a:solidFill>
        </a:ln>
      </dgm:spPr>
      <dgm:t>
        <a:bodyPr/>
        <a:lstStyle/>
        <a:p>
          <a:endParaRPr lang="en-US" sz="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3040351-8230-45BC-87B7-A413D1C3609F}" type="parTrans" cxnId="{8E7BB9E6-5C6F-429B-B168-089FA33945FF}">
      <dgm:prSet/>
      <dgm:spPr/>
      <dgm:t>
        <a:bodyPr/>
        <a:lstStyle/>
        <a:p>
          <a:endParaRPr lang="en-US"/>
        </a:p>
      </dgm:t>
    </dgm:pt>
    <dgm:pt modelId="{D6F003EC-EC79-4946-87ED-96629FC26C09}" type="sibTrans" cxnId="{8E7BB9E6-5C6F-429B-B168-089FA33945FF}">
      <dgm:prSet/>
      <dgm:spPr/>
      <dgm:t>
        <a:bodyPr/>
        <a:lstStyle/>
        <a:p>
          <a:endParaRPr lang="en-US"/>
        </a:p>
      </dgm:t>
    </dgm:pt>
    <dgm:pt modelId="{07A85AE0-6E71-421F-96CB-D479AF582487}">
      <dgm:prSet phldrT="[Text]" custT="1"/>
      <dgm:spPr>
        <a:ln>
          <a:solidFill>
            <a:srgbClr val="3333B2"/>
          </a:solidFill>
        </a:ln>
      </dgm:spPr>
      <dgm:t>
        <a:bodyPr/>
        <a:lstStyle/>
        <a:p>
          <a:pPr algn="just"/>
          <a:endParaRPr lang="en-US" sz="77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498DFFC-D03A-4301-A3FD-4D8A5DB74213}" type="parTrans" cxnId="{8112B5EF-9C30-4B22-A3C1-D240FBDAA405}">
      <dgm:prSet/>
      <dgm:spPr/>
      <dgm:t>
        <a:bodyPr/>
        <a:lstStyle/>
        <a:p>
          <a:endParaRPr lang="en-US"/>
        </a:p>
      </dgm:t>
    </dgm:pt>
    <dgm:pt modelId="{0E6AFAA8-AEAB-417D-A5EF-7463D12B944B}" type="sibTrans" cxnId="{8112B5EF-9C30-4B22-A3C1-D240FBDAA405}">
      <dgm:prSet/>
      <dgm:spPr/>
      <dgm:t>
        <a:bodyPr/>
        <a:lstStyle/>
        <a:p>
          <a:endParaRPr lang="en-US"/>
        </a:p>
      </dgm:t>
    </dgm:pt>
    <dgm:pt modelId="{899D9B1F-C65C-4F5F-B7C1-96105D03D89D}">
      <dgm:prSet phldrT="[Text]" custT="1"/>
      <dgm:spPr>
        <a:ln>
          <a:solidFill>
            <a:srgbClr val="3333B2"/>
          </a:solidFill>
        </a:ln>
      </dgm:spPr>
      <dgm:t>
        <a:bodyPr/>
        <a:lstStyle/>
        <a:p>
          <a:pPr algn="l"/>
          <a:endParaRPr lang="en-US" sz="77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85CF66C-FED3-4789-BFBC-26580DA51AA6}" type="parTrans" cxnId="{216B9D34-6EA8-44C5-9445-7525AEE97C61}">
      <dgm:prSet/>
      <dgm:spPr/>
      <dgm:t>
        <a:bodyPr/>
        <a:lstStyle/>
        <a:p>
          <a:endParaRPr lang="en-US"/>
        </a:p>
      </dgm:t>
    </dgm:pt>
    <dgm:pt modelId="{35AE7791-608F-4750-B402-5B72900055ED}" type="sibTrans" cxnId="{216B9D34-6EA8-44C5-9445-7525AEE97C61}">
      <dgm:prSet/>
      <dgm:spPr/>
      <dgm:t>
        <a:bodyPr/>
        <a:lstStyle/>
        <a:p>
          <a:endParaRPr lang="en-US"/>
        </a:p>
      </dgm:t>
    </dgm:pt>
    <dgm:pt modelId="{B9746AAD-47AE-4A46-9429-C9B974A7C28B}">
      <dgm:prSet phldrT="[Text]" custT="1"/>
      <dgm:spPr>
        <a:ln>
          <a:solidFill>
            <a:srgbClr val="3333B2"/>
          </a:solidFill>
        </a:ln>
      </dgm:spPr>
      <dgm:t>
        <a:bodyPr/>
        <a:lstStyle/>
        <a:p>
          <a:pPr algn="l"/>
          <a:endParaRPr lang="en-US" sz="77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1E86FE6-7AFC-4AAA-B536-C670EC09E177}" type="parTrans" cxnId="{2527BCC8-20CE-491E-9DF2-4788F85809C1}">
      <dgm:prSet/>
      <dgm:spPr/>
      <dgm:t>
        <a:bodyPr/>
        <a:lstStyle/>
        <a:p>
          <a:endParaRPr lang="en-US"/>
        </a:p>
      </dgm:t>
    </dgm:pt>
    <dgm:pt modelId="{95960DB2-B8F3-4EB0-8700-14638C4174AE}" type="sibTrans" cxnId="{2527BCC8-20CE-491E-9DF2-4788F85809C1}">
      <dgm:prSet/>
      <dgm:spPr/>
      <dgm:t>
        <a:bodyPr/>
        <a:lstStyle/>
        <a:p>
          <a:endParaRPr lang="en-US"/>
        </a:p>
      </dgm:t>
    </dgm:pt>
    <dgm:pt modelId="{6D925FFB-41F0-47FA-AC1A-F58B94A032A1}">
      <dgm:prSet phldrT="[Text]" custT="1"/>
      <dgm:spPr>
        <a:ln>
          <a:solidFill>
            <a:srgbClr val="3333B2"/>
          </a:solidFill>
        </a:ln>
      </dgm:spPr>
      <dgm:t>
        <a:bodyPr/>
        <a:lstStyle/>
        <a:p>
          <a:endParaRPr lang="en-US" sz="75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5EBB6E0-1843-44A7-8AD0-84A9DE3B2610}" type="parTrans" cxnId="{375E4A0A-EF82-4345-BD6B-61B3E0045F74}">
      <dgm:prSet/>
      <dgm:spPr/>
      <dgm:t>
        <a:bodyPr/>
        <a:lstStyle/>
        <a:p>
          <a:endParaRPr lang="en-US"/>
        </a:p>
      </dgm:t>
    </dgm:pt>
    <dgm:pt modelId="{E4930C5C-CB2F-4AB9-AE78-7AEABC695706}" type="sibTrans" cxnId="{375E4A0A-EF82-4345-BD6B-61B3E0045F74}">
      <dgm:prSet/>
      <dgm:spPr/>
      <dgm:t>
        <a:bodyPr/>
        <a:lstStyle/>
        <a:p>
          <a:endParaRPr lang="en-US"/>
        </a:p>
      </dgm:t>
    </dgm:pt>
    <dgm:pt modelId="{42444967-02CA-4851-BB3D-D82880A6D7CF}">
      <dgm:prSet custT="1"/>
      <dgm:spPr>
        <a:ln>
          <a:solidFill>
            <a:srgbClr val="3333B2"/>
          </a:solidFill>
        </a:ln>
      </dgm:spPr>
      <dgm:t>
        <a:bodyPr/>
        <a:lstStyle/>
        <a:p>
          <a:endParaRPr lang="en-US" sz="75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32AD1CF-0DF0-40F5-A6F9-70E243AEC0D2}" type="parTrans" cxnId="{3D13D78C-7E44-4AED-A108-E8FC13A16481}">
      <dgm:prSet/>
      <dgm:spPr/>
      <dgm:t>
        <a:bodyPr/>
        <a:lstStyle/>
        <a:p>
          <a:endParaRPr lang="en-US"/>
        </a:p>
      </dgm:t>
    </dgm:pt>
    <dgm:pt modelId="{A25B76F8-8855-45F3-A0BD-BAFBF812773E}" type="sibTrans" cxnId="{3D13D78C-7E44-4AED-A108-E8FC13A16481}">
      <dgm:prSet/>
      <dgm:spPr/>
      <dgm:t>
        <a:bodyPr/>
        <a:lstStyle/>
        <a:p>
          <a:endParaRPr lang="en-US"/>
        </a:p>
      </dgm:t>
    </dgm:pt>
    <dgm:pt modelId="{B9AD04B3-515D-48D3-8C03-862885FBE316}">
      <dgm:prSet custT="1"/>
      <dgm:spPr>
        <a:ln>
          <a:solidFill>
            <a:srgbClr val="3333B2"/>
          </a:solidFill>
        </a:ln>
      </dgm:spPr>
      <dgm:t>
        <a:bodyPr/>
        <a:lstStyle/>
        <a:p>
          <a:endParaRPr lang="en-US" sz="75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A92E618-B6DB-49E0-B1A2-0E4A980FC352}" type="parTrans" cxnId="{49D703B4-D402-4F24-8B66-6F284CF709D9}">
      <dgm:prSet/>
      <dgm:spPr/>
      <dgm:t>
        <a:bodyPr/>
        <a:lstStyle/>
        <a:p>
          <a:endParaRPr lang="en-US"/>
        </a:p>
      </dgm:t>
    </dgm:pt>
    <dgm:pt modelId="{199E028B-E95D-43D9-B7C5-C657F800949F}" type="sibTrans" cxnId="{49D703B4-D402-4F24-8B66-6F284CF709D9}">
      <dgm:prSet/>
      <dgm:spPr/>
      <dgm:t>
        <a:bodyPr/>
        <a:lstStyle/>
        <a:p>
          <a:endParaRPr lang="en-US"/>
        </a:p>
      </dgm:t>
    </dgm:pt>
    <dgm:pt modelId="{6C164D97-159D-4852-87AF-3A9641E3513B}">
      <dgm:prSet phldrT="[Text]" custT="1"/>
      <dgm:spPr>
        <a:ln>
          <a:solidFill>
            <a:srgbClr val="3333B2"/>
          </a:solidFill>
        </a:ln>
      </dgm:spPr>
      <dgm:t>
        <a:bodyPr/>
        <a:lstStyle/>
        <a:p>
          <a:endParaRPr lang="en-US" sz="7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522D598-9DB8-4F33-8B79-7DF2BBE228FC}" type="parTrans" cxnId="{2174EEC6-8CE4-4BD9-9C1B-3323A0C8460E}">
      <dgm:prSet/>
      <dgm:spPr/>
      <dgm:t>
        <a:bodyPr/>
        <a:lstStyle/>
        <a:p>
          <a:endParaRPr lang="en-US"/>
        </a:p>
      </dgm:t>
    </dgm:pt>
    <dgm:pt modelId="{A97F0FC1-646B-4DFB-9E64-766DD2E5DBC5}" type="sibTrans" cxnId="{2174EEC6-8CE4-4BD9-9C1B-3323A0C8460E}">
      <dgm:prSet/>
      <dgm:spPr/>
      <dgm:t>
        <a:bodyPr/>
        <a:lstStyle/>
        <a:p>
          <a:endParaRPr lang="en-US"/>
        </a:p>
      </dgm:t>
    </dgm:pt>
    <dgm:pt modelId="{336CFE1F-3027-4599-81D8-F23E01EED752}">
      <dgm:prSet custT="1"/>
      <dgm:spPr>
        <a:ln>
          <a:solidFill>
            <a:srgbClr val="3333B2"/>
          </a:solidFill>
        </a:ln>
      </dgm:spPr>
      <dgm:t>
        <a:bodyPr/>
        <a:lstStyle/>
        <a:p>
          <a:endParaRPr lang="en-US" sz="7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EB0DF29-24C8-4497-809E-89A67B9BFE00}" type="parTrans" cxnId="{7B95B8E8-CA3D-498F-9DA8-A15EA401657C}">
      <dgm:prSet/>
      <dgm:spPr/>
      <dgm:t>
        <a:bodyPr/>
        <a:lstStyle/>
        <a:p>
          <a:endParaRPr lang="en-US"/>
        </a:p>
      </dgm:t>
    </dgm:pt>
    <dgm:pt modelId="{2E722801-D15C-47C1-9FC9-5DBD5004E51C}" type="sibTrans" cxnId="{7B95B8E8-CA3D-498F-9DA8-A15EA401657C}">
      <dgm:prSet/>
      <dgm:spPr/>
      <dgm:t>
        <a:bodyPr/>
        <a:lstStyle/>
        <a:p>
          <a:endParaRPr lang="en-US"/>
        </a:p>
      </dgm:t>
    </dgm:pt>
    <dgm:pt modelId="{D8F3ABD7-12FD-49E4-BB11-41B611BCF228}">
      <dgm:prSet custT="1"/>
      <dgm:spPr>
        <a:ln>
          <a:solidFill>
            <a:srgbClr val="3333B2"/>
          </a:solidFill>
        </a:ln>
      </dgm:spPr>
      <dgm:t>
        <a:bodyPr/>
        <a:lstStyle/>
        <a:p>
          <a:endParaRPr lang="en-US" sz="7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BB6FF5C-3591-4A0A-945E-4EB317747F6F}" type="parTrans" cxnId="{714038DE-214A-4AE7-B581-8E7F567DE60D}">
      <dgm:prSet/>
      <dgm:spPr/>
      <dgm:t>
        <a:bodyPr/>
        <a:lstStyle/>
        <a:p>
          <a:endParaRPr lang="en-US"/>
        </a:p>
      </dgm:t>
    </dgm:pt>
    <dgm:pt modelId="{008927C5-7EDA-47A1-8A32-CCD0367A75EA}" type="sibTrans" cxnId="{714038DE-214A-4AE7-B581-8E7F567DE60D}">
      <dgm:prSet/>
      <dgm:spPr/>
      <dgm:t>
        <a:bodyPr/>
        <a:lstStyle/>
        <a:p>
          <a:endParaRPr lang="en-US"/>
        </a:p>
      </dgm:t>
    </dgm:pt>
    <dgm:pt modelId="{40587D58-AA2E-47B5-817D-67ED0460D958}" type="pres">
      <dgm:prSet presAssocID="{1D133D48-D3D3-44E6-8801-F11962543AF1}" presName="Name0" presStyleCnt="0">
        <dgm:presLayoutVars>
          <dgm:dir/>
          <dgm:animLvl val="lvl"/>
          <dgm:resizeHandles val="exact"/>
        </dgm:presLayoutVars>
      </dgm:prSet>
      <dgm:spPr/>
    </dgm:pt>
    <dgm:pt modelId="{0296E2DF-1FFE-457F-8A50-68AC5C8AC354}" type="pres">
      <dgm:prSet presAssocID="{FF4AA4ED-0F44-40C0-ABBF-D9664DAB84EE}" presName="composite" presStyleCnt="0"/>
      <dgm:spPr/>
    </dgm:pt>
    <dgm:pt modelId="{24B46811-9136-4E63-8BC3-AF4C321954B1}" type="pres">
      <dgm:prSet presAssocID="{FF4AA4ED-0F44-40C0-ABBF-D9664DAB84EE}" presName="parTx" presStyleLbl="alignNode1" presStyleIdx="0" presStyleCnt="5" custLinFactNeighborY="-5360">
        <dgm:presLayoutVars>
          <dgm:chMax val="0"/>
          <dgm:chPref val="0"/>
          <dgm:bulletEnabled val="1"/>
        </dgm:presLayoutVars>
      </dgm:prSet>
      <dgm:spPr/>
    </dgm:pt>
    <dgm:pt modelId="{84C1A79C-FAB9-4AAE-8534-E39A11B518F6}" type="pres">
      <dgm:prSet presAssocID="{FF4AA4ED-0F44-40C0-ABBF-D9664DAB84EE}" presName="desTx" presStyleLbl="alignAccFollowNode1" presStyleIdx="0" presStyleCnt="5" custScaleY="98472" custLinFactNeighborX="-266" custLinFactNeighborY="22">
        <dgm:presLayoutVars>
          <dgm:bulletEnabled val="1"/>
        </dgm:presLayoutVars>
      </dgm:prSet>
      <dgm:spPr/>
    </dgm:pt>
    <dgm:pt modelId="{70D89185-6589-47D8-9225-0268B9A3A9F0}" type="pres">
      <dgm:prSet presAssocID="{B11AF3F8-372A-451D-8E88-35BAE622C04B}" presName="space" presStyleCnt="0"/>
      <dgm:spPr/>
    </dgm:pt>
    <dgm:pt modelId="{076BE2AD-8772-4755-9438-F9150CD3A125}" type="pres">
      <dgm:prSet presAssocID="{EC3E148C-862A-46FB-A87A-EEF62BF11F6C}" presName="composite" presStyleCnt="0"/>
      <dgm:spPr/>
    </dgm:pt>
    <dgm:pt modelId="{748F4636-B263-460A-9F14-69565D21416C}" type="pres">
      <dgm:prSet presAssocID="{EC3E148C-862A-46FB-A87A-EEF62BF11F6C}" presName="parTx" presStyleLbl="alignNode1" presStyleIdx="1" presStyleCnt="5" custLinFactNeighborY="-27288">
        <dgm:presLayoutVars>
          <dgm:chMax val="0"/>
          <dgm:chPref val="0"/>
          <dgm:bulletEnabled val="1"/>
        </dgm:presLayoutVars>
      </dgm:prSet>
      <dgm:spPr/>
    </dgm:pt>
    <dgm:pt modelId="{5944B2D2-4ADB-45DC-947F-5444C332786A}" type="pres">
      <dgm:prSet presAssocID="{EC3E148C-862A-46FB-A87A-EEF62BF11F6C}" presName="desTx" presStyleLbl="alignAccFollowNode1" presStyleIdx="1" presStyleCnt="5">
        <dgm:presLayoutVars>
          <dgm:bulletEnabled val="1"/>
        </dgm:presLayoutVars>
      </dgm:prSet>
      <dgm:spPr/>
    </dgm:pt>
    <dgm:pt modelId="{9F0D1017-6A4F-4313-816A-203AC7A5F894}" type="pres">
      <dgm:prSet presAssocID="{1C737BC4-ADEA-40C5-AE7E-A4A5E675130A}" presName="space" presStyleCnt="0"/>
      <dgm:spPr/>
    </dgm:pt>
    <dgm:pt modelId="{38C55F50-286E-48EB-BEF2-8DACEB8D82D4}" type="pres">
      <dgm:prSet presAssocID="{BD17711D-885A-44DC-AC61-5A20407BF71F}" presName="composite" presStyleCnt="0"/>
      <dgm:spPr/>
    </dgm:pt>
    <dgm:pt modelId="{CD0DBDAC-E2DE-4259-A934-DD00AE8EF791}" type="pres">
      <dgm:prSet presAssocID="{BD17711D-885A-44DC-AC61-5A20407BF71F}" presName="parTx" presStyleLbl="alignNode1" presStyleIdx="2" presStyleCnt="5" custLinFactNeighborX="-3440" custLinFactNeighborY="-27288">
        <dgm:presLayoutVars>
          <dgm:chMax val="0"/>
          <dgm:chPref val="0"/>
          <dgm:bulletEnabled val="1"/>
        </dgm:presLayoutVars>
      </dgm:prSet>
      <dgm:spPr/>
    </dgm:pt>
    <dgm:pt modelId="{64209384-5620-4506-AD17-CCC102399122}" type="pres">
      <dgm:prSet presAssocID="{BD17711D-885A-44DC-AC61-5A20407BF71F}" presName="desTx" presStyleLbl="alignAccFollowNode1" presStyleIdx="2" presStyleCnt="5" custLinFactNeighborX="-3545" custLinFactNeighborY="-176">
        <dgm:presLayoutVars>
          <dgm:bulletEnabled val="1"/>
        </dgm:presLayoutVars>
      </dgm:prSet>
      <dgm:spPr/>
    </dgm:pt>
    <dgm:pt modelId="{15FBD1CD-9971-4844-8E86-3D16A2320533}" type="pres">
      <dgm:prSet presAssocID="{29F927A9-E95B-4F85-99B1-CCDD1E883207}" presName="space" presStyleCnt="0"/>
      <dgm:spPr/>
    </dgm:pt>
    <dgm:pt modelId="{1C9E5E9A-4360-4541-8BAF-99F179FEEC74}" type="pres">
      <dgm:prSet presAssocID="{5FC60275-69BF-4A01-84B8-4D781F843655}" presName="composite" presStyleCnt="0"/>
      <dgm:spPr/>
    </dgm:pt>
    <dgm:pt modelId="{BE87F508-84DC-4849-805B-AD734DAE9DE3}" type="pres">
      <dgm:prSet presAssocID="{5FC60275-69BF-4A01-84B8-4D781F843655}" presName="parTx" presStyleLbl="alignNode1" presStyleIdx="3" presStyleCnt="5" custLinFactNeighborY="-27288">
        <dgm:presLayoutVars>
          <dgm:chMax val="0"/>
          <dgm:chPref val="0"/>
          <dgm:bulletEnabled val="1"/>
        </dgm:presLayoutVars>
      </dgm:prSet>
      <dgm:spPr/>
    </dgm:pt>
    <dgm:pt modelId="{538AE1A0-494E-492F-B2F6-0964B3F5D728}" type="pres">
      <dgm:prSet presAssocID="{5FC60275-69BF-4A01-84B8-4D781F843655}" presName="desTx" presStyleLbl="alignAccFollowNode1" presStyleIdx="3" presStyleCnt="5">
        <dgm:presLayoutVars>
          <dgm:bulletEnabled val="1"/>
        </dgm:presLayoutVars>
      </dgm:prSet>
      <dgm:spPr/>
    </dgm:pt>
    <dgm:pt modelId="{6E56188B-108B-400C-BC8D-51F0A2A8EA9F}" type="pres">
      <dgm:prSet presAssocID="{7AACCDD8-7E81-4EC7-9621-0EA89E1F9921}" presName="space" presStyleCnt="0"/>
      <dgm:spPr/>
    </dgm:pt>
    <dgm:pt modelId="{4DFCDE94-CEB0-43C3-A41F-5A2AAED4747E}" type="pres">
      <dgm:prSet presAssocID="{40466935-5395-43AC-83C8-F002704BF247}" presName="composite" presStyleCnt="0"/>
      <dgm:spPr/>
    </dgm:pt>
    <dgm:pt modelId="{7CE7F6B8-DFA3-41B3-994C-6E72841F5FC4}" type="pres">
      <dgm:prSet presAssocID="{40466935-5395-43AC-83C8-F002704BF247}" presName="parTx" presStyleLbl="alignNode1" presStyleIdx="4" presStyleCnt="5" custLinFactNeighborY="-27288">
        <dgm:presLayoutVars>
          <dgm:chMax val="0"/>
          <dgm:chPref val="0"/>
          <dgm:bulletEnabled val="1"/>
        </dgm:presLayoutVars>
      </dgm:prSet>
      <dgm:spPr/>
    </dgm:pt>
    <dgm:pt modelId="{5946217E-9C82-4689-A428-64478B47188B}" type="pres">
      <dgm:prSet presAssocID="{40466935-5395-43AC-83C8-F002704BF247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375E4A0A-EF82-4345-BD6B-61B3E0045F74}" srcId="{5FC60275-69BF-4A01-84B8-4D781F843655}" destId="{6D925FFB-41F0-47FA-AC1A-F58B94A032A1}" srcOrd="1" destOrd="0" parTransId="{25EBB6E0-1843-44A7-8AD0-84A9DE3B2610}" sibTransId="{E4930C5C-CB2F-4AB9-AE78-7AEABC695706}"/>
    <dgm:cxn modelId="{41FEA30C-1B9B-4B6C-BDB6-AEFBDAE9B7E1}" type="presOf" srcId="{5B0055EE-2FBD-470E-8E1A-1A8D12C0F7FD}" destId="{84C1A79C-FAB9-4AAE-8534-E39A11B518F6}" srcOrd="0" destOrd="2" presId="urn:microsoft.com/office/officeart/2005/8/layout/hList1"/>
    <dgm:cxn modelId="{0551A40E-FD7D-4EF7-908C-ABB5A0581969}" type="presOf" srcId="{D5114DE8-5FC2-4B7B-88EF-12AE7E6223B8}" destId="{64209384-5620-4506-AD17-CCC102399122}" srcOrd="0" destOrd="0" presId="urn:microsoft.com/office/officeart/2005/8/layout/hList1"/>
    <dgm:cxn modelId="{83AAA011-6206-4C37-837D-A2B8BC684288}" srcId="{FF4AA4ED-0F44-40C0-ABBF-D9664DAB84EE}" destId="{5B0055EE-2FBD-470E-8E1A-1A8D12C0F7FD}" srcOrd="2" destOrd="0" parTransId="{497A1C1A-7221-4DF8-8AF4-57B0A104F8FE}" sibTransId="{1ABF42B1-6E4C-444B-A60A-9582C24FFD53}"/>
    <dgm:cxn modelId="{48914712-471C-43AE-9F85-3AB23148B8CB}" type="presOf" srcId="{B6EDA95C-E645-4B72-8097-A584B7087CBE}" destId="{84C1A79C-FAB9-4AAE-8534-E39A11B518F6}" srcOrd="0" destOrd="5" presId="urn:microsoft.com/office/officeart/2005/8/layout/hList1"/>
    <dgm:cxn modelId="{3E6C5B13-95DA-42A5-8D0B-19DC7D61AC39}" srcId="{EC3E148C-862A-46FB-A87A-EEF62BF11F6C}" destId="{A2F68162-85A3-4372-87FC-F68F144AB595}" srcOrd="1" destOrd="0" parTransId="{5792F9E0-2C8F-4B75-91B8-A86DD2D707BA}" sibTransId="{F788B5BC-90F4-4CFC-AD82-19726A9612FF}"/>
    <dgm:cxn modelId="{0892C114-8D6A-4089-932C-9A8527B6BC7F}" srcId="{EC3E148C-862A-46FB-A87A-EEF62BF11F6C}" destId="{0D67BB14-21BC-4801-B547-76E3E787D68F}" srcOrd="6" destOrd="0" parTransId="{FFCF4475-B827-4FF5-8A89-D23E07718D03}" sibTransId="{03A84185-B08E-4866-84F1-E6457DD729F3}"/>
    <dgm:cxn modelId="{696E5317-4F31-43D2-93CB-F852E7E68B4D}" srcId="{BD17711D-885A-44DC-AC61-5A20407BF71F}" destId="{9442D50F-2642-44EB-AD1F-FC7E518DC4A0}" srcOrd="4" destOrd="0" parTransId="{9FB2DF0D-AF9B-43AD-B986-50C75DB45F8E}" sibTransId="{F6DA5349-1289-46F4-9A99-D8F3BB9E0890}"/>
    <dgm:cxn modelId="{9126A319-C921-4024-A51C-A64BE658B7F6}" srcId="{FF4AA4ED-0F44-40C0-ABBF-D9664DAB84EE}" destId="{7B2EF0EE-6374-4DA1-923A-9A1500CC885A}" srcOrd="3" destOrd="0" parTransId="{4DBE87E4-7B1F-46E2-AE10-1083D474D02B}" sibTransId="{8804EA36-208F-41ED-916F-729313F129EB}"/>
    <dgm:cxn modelId="{40FE621A-5385-42E0-8806-383202F51A64}" srcId="{1D133D48-D3D3-44E6-8801-F11962543AF1}" destId="{FF4AA4ED-0F44-40C0-ABBF-D9664DAB84EE}" srcOrd="0" destOrd="0" parTransId="{2B11B76A-7D5F-403A-ABF5-A5A46DCE3606}" sibTransId="{B11AF3F8-372A-451D-8E88-35BAE622C04B}"/>
    <dgm:cxn modelId="{F19E1D1F-A2B6-4658-956C-6F4DA2DBFE04}" srcId="{EC3E148C-862A-46FB-A87A-EEF62BF11F6C}" destId="{2C22E0A4-A735-48F7-A36C-630B85C7B09A}" srcOrd="7" destOrd="0" parTransId="{8DE2E900-CBDF-4CFE-BAF0-000FE140D4F7}" sibTransId="{CB786B1A-E74F-4533-90DC-19F15851709A}"/>
    <dgm:cxn modelId="{D0322E22-4A74-49AE-9E9B-A0FDBBB092C8}" srcId="{EC3E148C-862A-46FB-A87A-EEF62BF11F6C}" destId="{C894076E-4C54-4D9B-9D2E-9C731BC36216}" srcOrd="2" destOrd="0" parTransId="{0A25D404-2054-4679-B0AE-E0A960FB0DDE}" sibTransId="{D84ED3D4-D89C-4CDE-AE3A-EAFA62630979}"/>
    <dgm:cxn modelId="{5519612E-A27C-42FB-B1C5-F1ECC63141E1}" type="presOf" srcId="{19146F5E-E20D-4475-9B2D-C64483D0B18D}" destId="{84C1A79C-FAB9-4AAE-8534-E39A11B518F6}" srcOrd="0" destOrd="1" presId="urn:microsoft.com/office/officeart/2005/8/layout/hList1"/>
    <dgm:cxn modelId="{B26B4B31-361F-45C6-8D2D-DDD372CD1F08}" type="presOf" srcId="{07A85AE0-6E71-421F-96CB-D479AF582487}" destId="{64209384-5620-4506-AD17-CCC102399122}" srcOrd="0" destOrd="1" presId="urn:microsoft.com/office/officeart/2005/8/layout/hList1"/>
    <dgm:cxn modelId="{216B9D34-6EA8-44C5-9445-7525AEE97C61}" srcId="{BD17711D-885A-44DC-AC61-5A20407BF71F}" destId="{899D9B1F-C65C-4F5F-B7C1-96105D03D89D}" srcOrd="3" destOrd="0" parTransId="{385CF66C-FED3-4789-BFBC-26580DA51AA6}" sibTransId="{35AE7791-608F-4750-B402-5B72900055ED}"/>
    <dgm:cxn modelId="{FF113A37-6960-4276-ADBF-2C1F101D6A96}" srcId="{5FC60275-69BF-4A01-84B8-4D781F843655}" destId="{BF0448E0-B477-4723-8CFA-4C21F7BA091B}" srcOrd="0" destOrd="0" parTransId="{0F411AD6-FB6C-4954-9533-B5DF1FC931D7}" sibTransId="{4FEE6A8A-FBA7-41E8-B8DA-188BD49AE20D}"/>
    <dgm:cxn modelId="{85343E3A-2A49-41C0-9B39-0DCF0933E107}" srcId="{5FC60275-69BF-4A01-84B8-4D781F843655}" destId="{1416E64F-16E0-4676-8613-BCA9ABF5D6D0}" srcOrd="7" destOrd="0" parTransId="{0F49C544-2C8F-4D4B-B06D-07D14D0EC332}" sibTransId="{B49ECCDF-0282-4B5F-A700-DEBF467EB7A4}"/>
    <dgm:cxn modelId="{B4E2CD3D-8F4D-4FE2-BDDE-961983E2E206}" type="presOf" srcId="{7B2EF0EE-6374-4DA1-923A-9A1500CC885A}" destId="{84C1A79C-FAB9-4AAE-8534-E39A11B518F6}" srcOrd="0" destOrd="3" presId="urn:microsoft.com/office/officeart/2005/8/layout/hList1"/>
    <dgm:cxn modelId="{DCAA4D5C-5934-476F-AB3B-43F192E7D0C8}" type="presOf" srcId="{10996737-3FD3-4143-BB3A-06F248147F7E}" destId="{5946217E-9C82-4689-A428-64478B47188B}" srcOrd="0" destOrd="2" presId="urn:microsoft.com/office/officeart/2005/8/layout/hList1"/>
    <dgm:cxn modelId="{CD98585E-3A00-4452-89C8-0A88E4464E68}" type="presOf" srcId="{42444967-02CA-4851-BB3D-D82880A6D7CF}" destId="{538AE1A0-494E-492F-B2F6-0964B3F5D728}" srcOrd="0" destOrd="3" presId="urn:microsoft.com/office/officeart/2005/8/layout/hList1"/>
    <dgm:cxn modelId="{992A3741-196C-4242-A6A4-3A0F9986576E}" srcId="{5FC60275-69BF-4A01-84B8-4D781F843655}" destId="{8D0C811A-A2C9-487B-81FF-6AF80A098899}" srcOrd="2" destOrd="0" parTransId="{E9EF0E38-E648-42BE-94D7-0E99B9A705EC}" sibTransId="{59298F2C-7055-4B28-BBC1-E2F466596927}"/>
    <dgm:cxn modelId="{C09F8C63-1C6C-421C-BB4A-392F7151D331}" type="presOf" srcId="{B0EE9789-E101-4444-8FBB-373E3234FCDD}" destId="{538AE1A0-494E-492F-B2F6-0964B3F5D728}" srcOrd="0" destOrd="6" presId="urn:microsoft.com/office/officeart/2005/8/layout/hList1"/>
    <dgm:cxn modelId="{4F510B67-9A03-4012-814E-3304FB442698}" type="presOf" srcId="{0E3FB3F4-8F05-4B1D-98AF-4B651DAC64C6}" destId="{64209384-5620-4506-AD17-CCC102399122}" srcOrd="0" destOrd="7" presId="urn:microsoft.com/office/officeart/2005/8/layout/hList1"/>
    <dgm:cxn modelId="{62CBBF67-281A-4CCD-B862-397EDE3ECB52}" srcId="{BD17711D-885A-44DC-AC61-5A20407BF71F}" destId="{8DF10D41-DD9E-4BD7-A54C-6D15809186DB}" srcOrd="6" destOrd="0" parTransId="{1A1A3D11-CC65-492C-82BD-92C6E9EAB97A}" sibTransId="{1D6731AC-4963-4DC3-8DCF-3F2C91F0875A}"/>
    <dgm:cxn modelId="{D853DB67-A167-45CD-919F-0E8D7524DB0C}" srcId="{5FC60275-69BF-4A01-84B8-4D781F843655}" destId="{B0EE9789-E101-4444-8FBB-373E3234FCDD}" srcOrd="6" destOrd="0" parTransId="{FBE298A9-756E-477F-96A3-FA20A1916A0F}" sibTransId="{1311E4C9-3347-4EC7-8960-3E7E50205DF2}"/>
    <dgm:cxn modelId="{05315249-890F-41F0-B16D-ED65C7017FD4}" srcId="{1D133D48-D3D3-44E6-8801-F11962543AF1}" destId="{40466935-5395-43AC-83C8-F002704BF247}" srcOrd="4" destOrd="0" parTransId="{90433593-A985-4A94-9E62-9EC9D628F791}" sibTransId="{117C6F3C-6A5C-4CC5-8C1B-93E9DBC6AA8E}"/>
    <dgm:cxn modelId="{8D54F269-11EA-4580-91F3-2902E9D93888}" type="presOf" srcId="{0D67BB14-21BC-4801-B547-76E3E787D68F}" destId="{5944B2D2-4ADB-45DC-947F-5444C332786A}" srcOrd="0" destOrd="6" presId="urn:microsoft.com/office/officeart/2005/8/layout/hList1"/>
    <dgm:cxn modelId="{5EED5C6A-A980-4CFE-91E3-0D5BAFA2BCCC}" type="presOf" srcId="{336CFE1F-3027-4599-81D8-F23E01EED752}" destId="{5946217E-9C82-4689-A428-64478B47188B}" srcOrd="0" destOrd="3" presId="urn:microsoft.com/office/officeart/2005/8/layout/hList1"/>
    <dgm:cxn modelId="{7081BF4B-40B1-470B-ACD2-AB638E3CFB6A}" srcId="{5FC60275-69BF-4A01-84B8-4D781F843655}" destId="{6EBB1BCE-5C7D-447F-8292-28DC4D0F8317}" srcOrd="4" destOrd="0" parTransId="{CCE4742B-2CC1-440C-8912-D3335331A911}" sibTransId="{B8A1893B-DCA8-40FF-A9D4-E1EEB1B9F6A4}"/>
    <dgm:cxn modelId="{9A01F770-9B30-4BEF-8105-635753DB93A0}" srcId="{BD17711D-885A-44DC-AC61-5A20407BF71F}" destId="{0E3FB3F4-8F05-4B1D-98AF-4B651DAC64C6}" srcOrd="7" destOrd="0" parTransId="{BBB1CAAF-7410-4A05-8737-2DCE375F203D}" sibTransId="{F2C850F4-6506-47BB-9988-69E67A3582B1}"/>
    <dgm:cxn modelId="{9CAEFB50-28A0-4524-B874-D70665668863}" type="presOf" srcId="{C894076E-4C54-4D9B-9D2E-9C731BC36216}" destId="{5944B2D2-4ADB-45DC-947F-5444C332786A}" srcOrd="0" destOrd="2" presId="urn:microsoft.com/office/officeart/2005/8/layout/hList1"/>
    <dgm:cxn modelId="{14A26151-1B24-4054-B279-E6E6F694FFAD}" srcId="{EC3E148C-862A-46FB-A87A-EEF62BF11F6C}" destId="{7695576E-601F-4B7B-9A5C-16D866DD91B5}" srcOrd="4" destOrd="0" parTransId="{142A4160-F151-43F4-9259-A5E6826BB657}" sibTransId="{76E1BF57-F730-4929-99CD-F28214288174}"/>
    <dgm:cxn modelId="{FAF39372-A2F6-4FBB-B190-EC3CCC5CB2E2}" type="presOf" srcId="{AF04C2F2-43B8-4A86-833C-E8350E12E357}" destId="{5946217E-9C82-4689-A428-64478B47188B}" srcOrd="0" destOrd="0" presId="urn:microsoft.com/office/officeart/2005/8/layout/hList1"/>
    <dgm:cxn modelId="{9BFF2374-4E0D-400A-ADB3-16388FEEECE0}" type="presOf" srcId="{EC3E148C-862A-46FB-A87A-EEF62BF11F6C}" destId="{748F4636-B263-460A-9F14-69565D21416C}" srcOrd="0" destOrd="0" presId="urn:microsoft.com/office/officeart/2005/8/layout/hList1"/>
    <dgm:cxn modelId="{3FE66976-9CB9-47B3-ADD3-101FA7431487}" type="presOf" srcId="{58B8EC10-F434-45C5-8225-F6003123E2AB}" destId="{5946217E-9C82-4689-A428-64478B47188B}" srcOrd="0" destOrd="6" presId="urn:microsoft.com/office/officeart/2005/8/layout/hList1"/>
    <dgm:cxn modelId="{1A32B856-6EB2-40B8-A87F-E16822CC4CA1}" type="presOf" srcId="{9442D50F-2642-44EB-AD1F-FC7E518DC4A0}" destId="{64209384-5620-4506-AD17-CCC102399122}" srcOrd="0" destOrd="4" presId="urn:microsoft.com/office/officeart/2005/8/layout/hList1"/>
    <dgm:cxn modelId="{E0ACB557-FFF4-4F76-ACBF-ACA0261D724D}" type="presOf" srcId="{FF4AA4ED-0F44-40C0-ABBF-D9664DAB84EE}" destId="{24B46811-9136-4E63-8BC3-AF4C321954B1}" srcOrd="0" destOrd="0" presId="urn:microsoft.com/office/officeart/2005/8/layout/hList1"/>
    <dgm:cxn modelId="{10AC7078-743B-4409-B065-D6AA8CE7C092}" type="presOf" srcId="{7695576E-601F-4B7B-9A5C-16D866DD91B5}" destId="{5944B2D2-4ADB-45DC-947F-5444C332786A}" srcOrd="0" destOrd="4" presId="urn:microsoft.com/office/officeart/2005/8/layout/hList1"/>
    <dgm:cxn modelId="{0BE88459-CA23-47B9-B185-4C0271008430}" type="presOf" srcId="{40466935-5395-43AC-83C8-F002704BF247}" destId="{7CE7F6B8-DFA3-41B3-994C-6E72841F5FC4}" srcOrd="0" destOrd="0" presId="urn:microsoft.com/office/officeart/2005/8/layout/hList1"/>
    <dgm:cxn modelId="{6B6ACB5A-9BF1-4631-81DE-6453ED759F1E}" type="presOf" srcId="{B9746AAD-47AE-4A46-9429-C9B974A7C28B}" destId="{64209384-5620-4506-AD17-CCC102399122}" srcOrd="0" destOrd="5" presId="urn:microsoft.com/office/officeart/2005/8/layout/hList1"/>
    <dgm:cxn modelId="{A12C2880-7C70-4B3B-B5B7-EBDB091066D6}" srcId="{FF4AA4ED-0F44-40C0-ABBF-D9664DAB84EE}" destId="{19146F5E-E20D-4475-9B2D-C64483D0B18D}" srcOrd="1" destOrd="0" parTransId="{6957982F-88E6-49FD-846D-9BB2F199C200}" sibTransId="{6639897C-C43A-422A-9D5C-BFA5E9B2B9B2}"/>
    <dgm:cxn modelId="{B2CD8387-A01F-4503-87F2-A9DBDB69CA94}" srcId="{40466935-5395-43AC-83C8-F002704BF247}" destId="{10996737-3FD3-4143-BB3A-06F248147F7E}" srcOrd="2" destOrd="0" parTransId="{7B76176C-01E6-4E4C-9403-8D7790998853}" sibTransId="{BEAD64E5-8455-4973-B1C7-25E667F1C320}"/>
    <dgm:cxn modelId="{562A3089-B0D9-43B8-BB5B-83005467F3DA}" type="presOf" srcId="{FB42BB85-D94E-46C2-B506-926327DF5D41}" destId="{5946217E-9C82-4689-A428-64478B47188B}" srcOrd="0" destOrd="4" presId="urn:microsoft.com/office/officeart/2005/8/layout/hList1"/>
    <dgm:cxn modelId="{7CFE6389-3E5F-477A-BF04-0DE9E62E02E5}" type="presOf" srcId="{EF8BA0CB-9168-4DF3-B39A-B3701722FE40}" destId="{84C1A79C-FAB9-4AAE-8534-E39A11B518F6}" srcOrd="0" destOrd="0" presId="urn:microsoft.com/office/officeart/2005/8/layout/hList1"/>
    <dgm:cxn modelId="{C812FF89-4FC6-482D-AD5B-3B9F38C0664E}" type="presOf" srcId="{899D9B1F-C65C-4F5F-B7C1-96105D03D89D}" destId="{64209384-5620-4506-AD17-CCC102399122}" srcOrd="0" destOrd="3" presId="urn:microsoft.com/office/officeart/2005/8/layout/hList1"/>
    <dgm:cxn modelId="{0BC55C8B-E4CF-409B-9C6E-E77743CBC705}" srcId="{BD17711D-885A-44DC-AC61-5A20407BF71F}" destId="{D5114DE8-5FC2-4B7B-88EF-12AE7E6223B8}" srcOrd="0" destOrd="0" parTransId="{EAD0D399-85DB-488B-BAD6-AE3CB3288C71}" sibTransId="{71A41519-A5CA-4698-81D2-0F6AB7984D7E}"/>
    <dgm:cxn modelId="{3D13D78C-7E44-4AED-A108-E8FC13A16481}" srcId="{5FC60275-69BF-4A01-84B8-4D781F843655}" destId="{42444967-02CA-4851-BB3D-D82880A6D7CF}" srcOrd="3" destOrd="0" parTransId="{E32AD1CF-0DF0-40F5-A6F9-70E243AEC0D2}" sibTransId="{A25B76F8-8855-45F3-A0BD-BAFBF812773E}"/>
    <dgm:cxn modelId="{425E578E-D0F0-44F3-969D-7D4F75FDBAC0}" srcId="{40466935-5395-43AC-83C8-F002704BF247}" destId="{58B8EC10-F434-45C5-8225-F6003123E2AB}" srcOrd="6" destOrd="0" parTransId="{DEDDC244-486A-4E88-921B-9B596651541E}" sibTransId="{27FB3A91-983F-409D-98EA-D3254FA090CD}"/>
    <dgm:cxn modelId="{FD6F4D92-5790-4A87-8A35-51DD2123E68F}" type="presOf" srcId="{2C22E0A4-A735-48F7-A36C-630B85C7B09A}" destId="{5944B2D2-4ADB-45DC-947F-5444C332786A}" srcOrd="0" destOrd="7" presId="urn:microsoft.com/office/officeart/2005/8/layout/hList1"/>
    <dgm:cxn modelId="{25E0F492-80D9-482C-816E-700632DA90D2}" type="presOf" srcId="{6EBB1BCE-5C7D-447F-8292-28DC4D0F8317}" destId="{538AE1A0-494E-492F-B2F6-0964B3F5D728}" srcOrd="0" destOrd="4" presId="urn:microsoft.com/office/officeart/2005/8/layout/hList1"/>
    <dgm:cxn modelId="{EFC35F96-DDCC-4DE8-9A76-55B8E3F63AD2}" type="presOf" srcId="{EEEBC669-5242-4ABA-A9A7-9B4254E7886C}" destId="{5944B2D2-4ADB-45DC-947F-5444C332786A}" srcOrd="0" destOrd="3" presId="urn:microsoft.com/office/officeart/2005/8/layout/hList1"/>
    <dgm:cxn modelId="{B9F6659B-99BC-4415-BF30-95773EFEA92B}" type="presOf" srcId="{1416E64F-16E0-4676-8613-BCA9ABF5D6D0}" destId="{538AE1A0-494E-492F-B2F6-0964B3F5D728}" srcOrd="0" destOrd="7" presId="urn:microsoft.com/office/officeart/2005/8/layout/hList1"/>
    <dgm:cxn modelId="{DEF0699D-2CDB-4284-BA8B-C8150843129E}" srcId="{BD17711D-885A-44DC-AC61-5A20407BF71F}" destId="{B8F498E1-6EE9-4402-840E-4A0650F0B74A}" srcOrd="2" destOrd="0" parTransId="{6E10EEAC-4283-4EB3-B70E-B461BD6B8D14}" sibTransId="{F3321915-D116-4B3E-B95F-BB262210B3B4}"/>
    <dgm:cxn modelId="{08EA779E-D29B-48CA-B425-370B9865719F}" type="presOf" srcId="{8D0C811A-A2C9-487B-81FF-6AF80A098899}" destId="{538AE1A0-494E-492F-B2F6-0964B3F5D728}" srcOrd="0" destOrd="2" presId="urn:microsoft.com/office/officeart/2005/8/layout/hList1"/>
    <dgm:cxn modelId="{B297D3A5-2B1B-42F5-A9C0-753A16489A1A}" type="presOf" srcId="{B9AD04B3-515D-48D3-8C03-862885FBE316}" destId="{538AE1A0-494E-492F-B2F6-0964B3F5D728}" srcOrd="0" destOrd="5" presId="urn:microsoft.com/office/officeart/2005/8/layout/hList1"/>
    <dgm:cxn modelId="{5F2254A6-4F42-4E4A-AF2E-A639EF383E35}" type="presOf" srcId="{8DF10D41-DD9E-4BD7-A54C-6D15809186DB}" destId="{64209384-5620-4506-AD17-CCC102399122}" srcOrd="0" destOrd="6" presId="urn:microsoft.com/office/officeart/2005/8/layout/hList1"/>
    <dgm:cxn modelId="{F674EBAA-69F0-48D2-9297-6923305B1D65}" type="presOf" srcId="{6C164D97-159D-4852-87AF-3A9641E3513B}" destId="{5946217E-9C82-4689-A428-64478B47188B}" srcOrd="0" destOrd="1" presId="urn:microsoft.com/office/officeart/2005/8/layout/hList1"/>
    <dgm:cxn modelId="{71F443AD-F89D-4547-A72E-5E9A506F077E}" srcId="{FF4AA4ED-0F44-40C0-ABBF-D9664DAB84EE}" destId="{AA8F9812-D45D-493C-8D48-0B3A35BD4488}" srcOrd="4" destOrd="0" parTransId="{B06B5F1E-1D37-4D63-A474-D684C8355465}" sibTransId="{0558BA56-A118-4E45-9DFB-2C37084E7F2D}"/>
    <dgm:cxn modelId="{9472D8B3-5504-4D64-B0D5-EB3F351688F2}" srcId="{EC3E148C-862A-46FB-A87A-EEF62BF11F6C}" destId="{EEEBC669-5242-4ABA-A9A7-9B4254E7886C}" srcOrd="3" destOrd="0" parTransId="{834E48B6-A3F7-41A0-AA9A-AF29479D18BE}" sibTransId="{617DED65-5101-4BC4-B4E9-BFD58E6D59BD}"/>
    <dgm:cxn modelId="{49D703B4-D402-4F24-8B66-6F284CF709D9}" srcId="{5FC60275-69BF-4A01-84B8-4D781F843655}" destId="{B9AD04B3-515D-48D3-8C03-862885FBE316}" srcOrd="5" destOrd="0" parTransId="{8A92E618-B6DB-49E0-B1A2-0E4A980FC352}" sibTransId="{199E028B-E95D-43D9-B7C5-C657F800949F}"/>
    <dgm:cxn modelId="{FE8E3FB4-0A77-446A-B9DF-1AE8A2DEBC6F}" type="presOf" srcId="{D8F3ABD7-12FD-49E4-BB11-41B611BCF228}" destId="{5946217E-9C82-4689-A428-64478B47188B}" srcOrd="0" destOrd="5" presId="urn:microsoft.com/office/officeart/2005/8/layout/hList1"/>
    <dgm:cxn modelId="{F77F89B9-CECD-43A0-B65B-97DEFC8516AC}" srcId="{40466935-5395-43AC-83C8-F002704BF247}" destId="{AF04C2F2-43B8-4A86-833C-E8350E12E357}" srcOrd="0" destOrd="0" parTransId="{3022B110-274C-4FEE-B65F-DEE8908CFA75}" sibTransId="{04080F87-AA8E-44DE-A5C0-FEC9F5E50A08}"/>
    <dgm:cxn modelId="{6E9C0CBA-649D-4E3C-BA70-BAB90CE2EAC5}" srcId="{1D133D48-D3D3-44E6-8801-F11962543AF1}" destId="{BD17711D-885A-44DC-AC61-5A20407BF71F}" srcOrd="2" destOrd="0" parTransId="{29ADFF8F-CE9C-40FE-86B5-C1D3EFBC5F13}" sibTransId="{29F927A9-E95B-4F85-99B1-CCDD1E883207}"/>
    <dgm:cxn modelId="{21E03DBE-509E-44D5-A55B-7572DE0F901A}" type="presOf" srcId="{6D925FFB-41F0-47FA-AC1A-F58B94A032A1}" destId="{538AE1A0-494E-492F-B2F6-0964B3F5D728}" srcOrd="0" destOrd="1" presId="urn:microsoft.com/office/officeart/2005/8/layout/hList1"/>
    <dgm:cxn modelId="{39D62CBF-4F40-4FC9-87B0-0588BFD600EC}" type="presOf" srcId="{AA8F9812-D45D-493C-8D48-0B3A35BD4488}" destId="{84C1A79C-FAB9-4AAE-8534-E39A11B518F6}" srcOrd="0" destOrd="4" presId="urn:microsoft.com/office/officeart/2005/8/layout/hList1"/>
    <dgm:cxn modelId="{AC32A1C3-09DE-4318-9303-CE99C2666100}" srcId="{FF4AA4ED-0F44-40C0-ABBF-D9664DAB84EE}" destId="{EF8BA0CB-9168-4DF3-B39A-B3701722FE40}" srcOrd="0" destOrd="0" parTransId="{4151EFA4-CE43-4C1E-8A9A-E1C2C7329AE3}" sibTransId="{87041C25-A7F6-42E9-9BEB-6980420FBFD1}"/>
    <dgm:cxn modelId="{0CCC29C4-52AB-4E74-8233-AF3EB3351015}" type="presOf" srcId="{1D133D48-D3D3-44E6-8801-F11962543AF1}" destId="{40587D58-AA2E-47B5-817D-67ED0460D958}" srcOrd="0" destOrd="0" presId="urn:microsoft.com/office/officeart/2005/8/layout/hList1"/>
    <dgm:cxn modelId="{869062C5-881A-49A9-9434-B56E409997AD}" type="presOf" srcId="{37560764-1D71-44A4-9FE2-E90365D3A2C2}" destId="{5944B2D2-4ADB-45DC-947F-5444C332786A}" srcOrd="0" destOrd="0" presId="urn:microsoft.com/office/officeart/2005/8/layout/hList1"/>
    <dgm:cxn modelId="{BC195AC5-9B23-4079-BBF2-4100CAE3D03C}" srcId="{1D133D48-D3D3-44E6-8801-F11962543AF1}" destId="{EC3E148C-862A-46FB-A87A-EEF62BF11F6C}" srcOrd="1" destOrd="0" parTransId="{30925CF5-7990-43B2-82A9-2F8E9886F44A}" sibTransId="{1C737BC4-ADEA-40C5-AE7E-A4A5E675130A}"/>
    <dgm:cxn modelId="{2174EEC6-8CE4-4BD9-9C1B-3323A0C8460E}" srcId="{40466935-5395-43AC-83C8-F002704BF247}" destId="{6C164D97-159D-4852-87AF-3A9641E3513B}" srcOrd="1" destOrd="0" parTransId="{D522D598-9DB8-4F33-8B79-7DF2BBE228FC}" sibTransId="{A97F0FC1-646B-4DFB-9E64-766DD2E5DBC5}"/>
    <dgm:cxn modelId="{B42B56C8-DA32-476A-8EE8-1CC85C351D00}" type="presOf" srcId="{A2F68162-85A3-4372-87FC-F68F144AB595}" destId="{5944B2D2-4ADB-45DC-947F-5444C332786A}" srcOrd="0" destOrd="1" presId="urn:microsoft.com/office/officeart/2005/8/layout/hList1"/>
    <dgm:cxn modelId="{2527BCC8-20CE-491E-9DF2-4788F85809C1}" srcId="{BD17711D-885A-44DC-AC61-5A20407BF71F}" destId="{B9746AAD-47AE-4A46-9429-C9B974A7C28B}" srcOrd="5" destOrd="0" parTransId="{B1E86FE6-7AFC-4AAA-B536-C670EC09E177}" sibTransId="{95960DB2-B8F3-4EB0-8700-14638C4174AE}"/>
    <dgm:cxn modelId="{99776ACF-7F5F-47CC-9EF8-82AE1F064AC6}" srcId="{40466935-5395-43AC-83C8-F002704BF247}" destId="{FB42BB85-D94E-46C2-B506-926327DF5D41}" srcOrd="4" destOrd="0" parTransId="{D4533800-0924-4CE4-B25D-290DE2E236EC}" sibTransId="{CAD3BDA9-154C-42BB-A9DB-F4A4D3B4850A}"/>
    <dgm:cxn modelId="{313B67D4-E15A-4370-81C6-278EB7E860CC}" type="presOf" srcId="{B8F498E1-6EE9-4402-840E-4A0650F0B74A}" destId="{64209384-5620-4506-AD17-CCC102399122}" srcOrd="0" destOrd="2" presId="urn:microsoft.com/office/officeart/2005/8/layout/hList1"/>
    <dgm:cxn modelId="{CF8EAED7-FCBF-4DEB-8E3D-9003E35AFF2D}" srcId="{EC3E148C-862A-46FB-A87A-EEF62BF11F6C}" destId="{37560764-1D71-44A4-9FE2-E90365D3A2C2}" srcOrd="0" destOrd="0" parTransId="{05F2640C-B3E2-4B37-869F-171394C3B89E}" sibTransId="{2B72EFDB-C95D-4E75-9050-6DC7C0C93B52}"/>
    <dgm:cxn modelId="{60E31DD8-7AAE-49A8-9BF8-5EA0FF1C1860}" srcId="{FF4AA4ED-0F44-40C0-ABBF-D9664DAB84EE}" destId="{BEEFB828-B5D5-44F6-974D-6DAA6A9151CE}" srcOrd="6" destOrd="0" parTransId="{4A15BA90-6207-4395-B1A8-F13E0D0A4DFE}" sibTransId="{7ACE013F-3DDC-4622-8B8D-7981CF963BC0}"/>
    <dgm:cxn modelId="{4D53D1DD-37D9-4315-91B9-34952CB48A01}" type="presOf" srcId="{BF0448E0-B477-4723-8CFA-4C21F7BA091B}" destId="{538AE1A0-494E-492F-B2F6-0964B3F5D728}" srcOrd="0" destOrd="0" presId="urn:microsoft.com/office/officeart/2005/8/layout/hList1"/>
    <dgm:cxn modelId="{714038DE-214A-4AE7-B581-8E7F567DE60D}" srcId="{40466935-5395-43AC-83C8-F002704BF247}" destId="{D8F3ABD7-12FD-49E4-BB11-41B611BCF228}" srcOrd="5" destOrd="0" parTransId="{5BB6FF5C-3591-4A0A-945E-4EB317747F6F}" sibTransId="{008927C5-7EDA-47A1-8A32-CCD0367A75EA}"/>
    <dgm:cxn modelId="{EB9929E1-8A31-488F-B6A7-4876BCE6E320}" srcId="{1D133D48-D3D3-44E6-8801-F11962543AF1}" destId="{5FC60275-69BF-4A01-84B8-4D781F843655}" srcOrd="3" destOrd="0" parTransId="{EE7BB46C-527D-4595-B83D-CFA72994121F}" sibTransId="{7AACCDD8-7E81-4EC7-9621-0EA89E1F9921}"/>
    <dgm:cxn modelId="{8E7BB9E6-5C6F-429B-B168-089FA33945FF}" srcId="{FF4AA4ED-0F44-40C0-ABBF-D9664DAB84EE}" destId="{B6EDA95C-E645-4B72-8097-A584B7087CBE}" srcOrd="5" destOrd="0" parTransId="{C3040351-8230-45BC-87B7-A413D1C3609F}" sibTransId="{D6F003EC-EC79-4946-87ED-96629FC26C09}"/>
    <dgm:cxn modelId="{7B95B8E8-CA3D-498F-9DA8-A15EA401657C}" srcId="{40466935-5395-43AC-83C8-F002704BF247}" destId="{336CFE1F-3027-4599-81D8-F23E01EED752}" srcOrd="3" destOrd="0" parTransId="{BEB0DF29-24C8-4497-809E-89A67B9BFE00}" sibTransId="{2E722801-D15C-47C1-9FC9-5DBD5004E51C}"/>
    <dgm:cxn modelId="{82B5BFE8-2345-47D2-9627-2309265A8EA4}" type="presOf" srcId="{5FC60275-69BF-4A01-84B8-4D781F843655}" destId="{BE87F508-84DC-4849-805B-AD734DAE9DE3}" srcOrd="0" destOrd="0" presId="urn:microsoft.com/office/officeart/2005/8/layout/hList1"/>
    <dgm:cxn modelId="{67FE6BEF-5C29-4929-A949-4B45537CE26F}" type="presOf" srcId="{BD17711D-885A-44DC-AC61-5A20407BF71F}" destId="{CD0DBDAC-E2DE-4259-A934-DD00AE8EF791}" srcOrd="0" destOrd="0" presId="urn:microsoft.com/office/officeart/2005/8/layout/hList1"/>
    <dgm:cxn modelId="{D1F5A5EF-22D9-43DB-A003-1F08C3507550}" type="presOf" srcId="{BEEFB828-B5D5-44F6-974D-6DAA6A9151CE}" destId="{84C1A79C-FAB9-4AAE-8534-E39A11B518F6}" srcOrd="0" destOrd="6" presId="urn:microsoft.com/office/officeart/2005/8/layout/hList1"/>
    <dgm:cxn modelId="{8112B5EF-9C30-4B22-A3C1-D240FBDAA405}" srcId="{BD17711D-885A-44DC-AC61-5A20407BF71F}" destId="{07A85AE0-6E71-421F-96CB-D479AF582487}" srcOrd="1" destOrd="0" parTransId="{0498DFFC-D03A-4301-A3FD-4D8A5DB74213}" sibTransId="{0E6AFAA8-AEAB-417D-A5EF-7463D12B944B}"/>
    <dgm:cxn modelId="{C7EEADF0-4814-4BB8-8E98-0648EDC3F9F7}" srcId="{EC3E148C-862A-46FB-A87A-EEF62BF11F6C}" destId="{5E85E9F7-EFB0-43C7-A0F3-A67CFA646348}" srcOrd="5" destOrd="0" parTransId="{E98E9CC2-F194-4A8E-A1D4-3ABD5AA82C29}" sibTransId="{6473BC98-F352-4E04-9A5B-6B14DFC299A2}"/>
    <dgm:cxn modelId="{FA1ACFF4-0972-44D6-8AE6-322374DA86DE}" type="presOf" srcId="{5E85E9F7-EFB0-43C7-A0F3-A67CFA646348}" destId="{5944B2D2-4ADB-45DC-947F-5444C332786A}" srcOrd="0" destOrd="5" presId="urn:microsoft.com/office/officeart/2005/8/layout/hList1"/>
    <dgm:cxn modelId="{08B9F582-8F53-42F1-A558-4E0F6641F596}" type="presParOf" srcId="{40587D58-AA2E-47B5-817D-67ED0460D958}" destId="{0296E2DF-1FFE-457F-8A50-68AC5C8AC354}" srcOrd="0" destOrd="0" presId="urn:microsoft.com/office/officeart/2005/8/layout/hList1"/>
    <dgm:cxn modelId="{E470DD05-9BA2-4165-9FD6-71B2011501B1}" type="presParOf" srcId="{0296E2DF-1FFE-457F-8A50-68AC5C8AC354}" destId="{24B46811-9136-4E63-8BC3-AF4C321954B1}" srcOrd="0" destOrd="0" presId="urn:microsoft.com/office/officeart/2005/8/layout/hList1"/>
    <dgm:cxn modelId="{FDB54957-B337-4F9C-90B7-D953D900CAE4}" type="presParOf" srcId="{0296E2DF-1FFE-457F-8A50-68AC5C8AC354}" destId="{84C1A79C-FAB9-4AAE-8534-E39A11B518F6}" srcOrd="1" destOrd="0" presId="urn:microsoft.com/office/officeart/2005/8/layout/hList1"/>
    <dgm:cxn modelId="{52B9A474-6918-4577-91C0-90ECD57B917F}" type="presParOf" srcId="{40587D58-AA2E-47B5-817D-67ED0460D958}" destId="{70D89185-6589-47D8-9225-0268B9A3A9F0}" srcOrd="1" destOrd="0" presId="urn:microsoft.com/office/officeart/2005/8/layout/hList1"/>
    <dgm:cxn modelId="{C06AAC52-F4E7-4141-AC82-784BAE184A02}" type="presParOf" srcId="{40587D58-AA2E-47B5-817D-67ED0460D958}" destId="{076BE2AD-8772-4755-9438-F9150CD3A125}" srcOrd="2" destOrd="0" presId="urn:microsoft.com/office/officeart/2005/8/layout/hList1"/>
    <dgm:cxn modelId="{61D283D8-8138-4CF2-BB0C-7C39F5C15DC6}" type="presParOf" srcId="{076BE2AD-8772-4755-9438-F9150CD3A125}" destId="{748F4636-B263-460A-9F14-69565D21416C}" srcOrd="0" destOrd="0" presId="urn:microsoft.com/office/officeart/2005/8/layout/hList1"/>
    <dgm:cxn modelId="{9F3C1EE6-730D-48A1-9007-E64B52692D5E}" type="presParOf" srcId="{076BE2AD-8772-4755-9438-F9150CD3A125}" destId="{5944B2D2-4ADB-45DC-947F-5444C332786A}" srcOrd="1" destOrd="0" presId="urn:microsoft.com/office/officeart/2005/8/layout/hList1"/>
    <dgm:cxn modelId="{25FD4B34-F316-435B-BAF1-C28DC1F9EADF}" type="presParOf" srcId="{40587D58-AA2E-47B5-817D-67ED0460D958}" destId="{9F0D1017-6A4F-4313-816A-203AC7A5F894}" srcOrd="3" destOrd="0" presId="urn:microsoft.com/office/officeart/2005/8/layout/hList1"/>
    <dgm:cxn modelId="{353E3A24-D4E2-435B-9F42-B1192F0A3164}" type="presParOf" srcId="{40587D58-AA2E-47B5-817D-67ED0460D958}" destId="{38C55F50-286E-48EB-BEF2-8DACEB8D82D4}" srcOrd="4" destOrd="0" presId="urn:microsoft.com/office/officeart/2005/8/layout/hList1"/>
    <dgm:cxn modelId="{65CA2FC6-D6C9-4E55-A398-979A5C55093B}" type="presParOf" srcId="{38C55F50-286E-48EB-BEF2-8DACEB8D82D4}" destId="{CD0DBDAC-E2DE-4259-A934-DD00AE8EF791}" srcOrd="0" destOrd="0" presId="urn:microsoft.com/office/officeart/2005/8/layout/hList1"/>
    <dgm:cxn modelId="{F040DDC5-543D-46C9-8333-20563750CB8C}" type="presParOf" srcId="{38C55F50-286E-48EB-BEF2-8DACEB8D82D4}" destId="{64209384-5620-4506-AD17-CCC102399122}" srcOrd="1" destOrd="0" presId="urn:microsoft.com/office/officeart/2005/8/layout/hList1"/>
    <dgm:cxn modelId="{5355B0C9-160D-4BBC-9AE3-105EA8547681}" type="presParOf" srcId="{40587D58-AA2E-47B5-817D-67ED0460D958}" destId="{15FBD1CD-9971-4844-8E86-3D16A2320533}" srcOrd="5" destOrd="0" presId="urn:microsoft.com/office/officeart/2005/8/layout/hList1"/>
    <dgm:cxn modelId="{6998B2FC-3234-474E-AF7F-C65DD4CC1D6E}" type="presParOf" srcId="{40587D58-AA2E-47B5-817D-67ED0460D958}" destId="{1C9E5E9A-4360-4541-8BAF-99F179FEEC74}" srcOrd="6" destOrd="0" presId="urn:microsoft.com/office/officeart/2005/8/layout/hList1"/>
    <dgm:cxn modelId="{B73AB182-E281-432D-A321-5D0D6A40908B}" type="presParOf" srcId="{1C9E5E9A-4360-4541-8BAF-99F179FEEC74}" destId="{BE87F508-84DC-4849-805B-AD734DAE9DE3}" srcOrd="0" destOrd="0" presId="urn:microsoft.com/office/officeart/2005/8/layout/hList1"/>
    <dgm:cxn modelId="{40B1674B-1724-4E24-99A1-13DFC27BEFDB}" type="presParOf" srcId="{1C9E5E9A-4360-4541-8BAF-99F179FEEC74}" destId="{538AE1A0-494E-492F-B2F6-0964B3F5D728}" srcOrd="1" destOrd="0" presId="urn:microsoft.com/office/officeart/2005/8/layout/hList1"/>
    <dgm:cxn modelId="{5BE644F4-B90D-409F-9F29-1AD5054A9C31}" type="presParOf" srcId="{40587D58-AA2E-47B5-817D-67ED0460D958}" destId="{6E56188B-108B-400C-BC8D-51F0A2A8EA9F}" srcOrd="7" destOrd="0" presId="urn:microsoft.com/office/officeart/2005/8/layout/hList1"/>
    <dgm:cxn modelId="{BD3CD0CB-E275-4907-A3DA-5BF034B9F5D3}" type="presParOf" srcId="{40587D58-AA2E-47B5-817D-67ED0460D958}" destId="{4DFCDE94-CEB0-43C3-A41F-5A2AAED4747E}" srcOrd="8" destOrd="0" presId="urn:microsoft.com/office/officeart/2005/8/layout/hList1"/>
    <dgm:cxn modelId="{91599FB4-7C29-4F2A-A681-1E09245F0476}" type="presParOf" srcId="{4DFCDE94-CEB0-43C3-A41F-5A2AAED4747E}" destId="{7CE7F6B8-DFA3-41B3-994C-6E72841F5FC4}" srcOrd="0" destOrd="0" presId="urn:microsoft.com/office/officeart/2005/8/layout/hList1"/>
    <dgm:cxn modelId="{CFADC0F9-93A7-410B-8CBA-B23D31E5FB9E}" type="presParOf" srcId="{4DFCDE94-CEB0-43C3-A41F-5A2AAED4747E}" destId="{5946217E-9C82-4689-A428-64478B47188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D133D48-D3D3-44E6-8801-F11962543AF1}" type="doc">
      <dgm:prSet loTypeId="urn:microsoft.com/office/officeart/2005/8/layout/hList1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FF4AA4ED-0F44-40C0-ABBF-D9664DAB84EE}">
      <dgm:prSet phldrT="[Text]" custT="1"/>
      <dgm:spPr>
        <a:ln>
          <a:solidFill>
            <a:srgbClr val="3333B2"/>
          </a:solidFill>
        </a:ln>
      </dgm:spPr>
      <dgm:t>
        <a:bodyPr/>
        <a:lstStyle/>
        <a:p>
          <a:endParaRPr lang="it-IT" sz="8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r>
            <a:rPr lang="it-IT" sz="800" b="1" dirty="0">
              <a:latin typeface="Times New Roman" panose="02020603050405020304" pitchFamily="18" charset="0"/>
              <a:cs typeface="Times New Roman" panose="02020603050405020304" pitchFamily="18" charset="0"/>
            </a:rPr>
            <a:t>Furceri et al. (2018) </a:t>
          </a:r>
          <a:endParaRPr lang="en-US" sz="8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endParaRPr lang="en-US" sz="9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B11B76A-7D5F-403A-ABF5-A5A46DCE3606}" type="parTrans" cxnId="{40FE621A-5385-42E0-8806-383202F51A64}">
      <dgm:prSet/>
      <dgm:spPr/>
      <dgm:t>
        <a:bodyPr/>
        <a:lstStyle/>
        <a:p>
          <a:endParaRPr lang="en-US"/>
        </a:p>
      </dgm:t>
    </dgm:pt>
    <dgm:pt modelId="{B11AF3F8-372A-451D-8E88-35BAE622C04B}" type="sibTrans" cxnId="{40FE621A-5385-42E0-8806-383202F51A64}">
      <dgm:prSet/>
      <dgm:spPr/>
      <dgm:t>
        <a:bodyPr/>
        <a:lstStyle/>
        <a:p>
          <a:endParaRPr lang="en-US"/>
        </a:p>
      </dgm:t>
    </dgm:pt>
    <dgm:pt modelId="{BD17711D-885A-44DC-AC61-5A20407BF71F}">
      <dgm:prSet phldrT="[Text]" custT="1"/>
      <dgm:spPr>
        <a:ln>
          <a:solidFill>
            <a:srgbClr val="3333B2"/>
          </a:solidFill>
        </a:ln>
      </dgm:spPr>
      <dgm:t>
        <a:bodyPr/>
        <a:lstStyle/>
        <a:p>
          <a:r>
            <a:rPr lang="en-US" sz="800" b="1" dirty="0">
              <a:latin typeface="Times New Roman" panose="02020603050405020304" pitchFamily="18" charset="0"/>
              <a:cs typeface="Times New Roman" panose="02020603050405020304" pitchFamily="18" charset="0"/>
            </a:rPr>
            <a:t>Aye et al. (2019)</a:t>
          </a:r>
        </a:p>
      </dgm:t>
    </dgm:pt>
    <dgm:pt modelId="{29ADFF8F-CE9C-40FE-86B5-C1D3EFBC5F13}" type="parTrans" cxnId="{6E9C0CBA-649D-4E3C-BA70-BAB90CE2EAC5}">
      <dgm:prSet/>
      <dgm:spPr/>
      <dgm:t>
        <a:bodyPr/>
        <a:lstStyle/>
        <a:p>
          <a:endParaRPr lang="en-US"/>
        </a:p>
      </dgm:t>
    </dgm:pt>
    <dgm:pt modelId="{29F927A9-E95B-4F85-99B1-CCDD1E883207}" type="sibTrans" cxnId="{6E9C0CBA-649D-4E3C-BA70-BAB90CE2EAC5}">
      <dgm:prSet/>
      <dgm:spPr/>
      <dgm:t>
        <a:bodyPr/>
        <a:lstStyle/>
        <a:p>
          <a:endParaRPr lang="en-US"/>
        </a:p>
      </dgm:t>
    </dgm:pt>
    <dgm:pt modelId="{5FC60275-69BF-4A01-84B8-4D781F843655}">
      <dgm:prSet phldrT="[Text]" custT="1"/>
      <dgm:spPr>
        <a:ln>
          <a:solidFill>
            <a:srgbClr val="3333B2"/>
          </a:solidFill>
        </a:ln>
      </dgm:spPr>
      <dgm:t>
        <a:bodyPr/>
        <a:lstStyle/>
        <a:p>
          <a:r>
            <a:rPr lang="en-US" sz="800" b="1" dirty="0">
              <a:latin typeface="Times New Roman" panose="02020603050405020304" pitchFamily="18" charset="0"/>
              <a:cs typeface="Times New Roman" panose="02020603050405020304" pitchFamily="18" charset="0"/>
            </a:rPr>
            <a:t>Davtyan (2016)</a:t>
          </a:r>
        </a:p>
      </dgm:t>
    </dgm:pt>
    <dgm:pt modelId="{EE7BB46C-527D-4595-B83D-CFA72994121F}" type="parTrans" cxnId="{EB9929E1-8A31-488F-B6A7-4876BCE6E320}">
      <dgm:prSet/>
      <dgm:spPr/>
      <dgm:t>
        <a:bodyPr/>
        <a:lstStyle/>
        <a:p>
          <a:endParaRPr lang="en-US"/>
        </a:p>
      </dgm:t>
    </dgm:pt>
    <dgm:pt modelId="{7AACCDD8-7E81-4EC7-9621-0EA89E1F9921}" type="sibTrans" cxnId="{EB9929E1-8A31-488F-B6A7-4876BCE6E320}">
      <dgm:prSet/>
      <dgm:spPr/>
      <dgm:t>
        <a:bodyPr/>
        <a:lstStyle/>
        <a:p>
          <a:endParaRPr lang="en-US"/>
        </a:p>
      </dgm:t>
    </dgm:pt>
    <dgm:pt modelId="{40466935-5395-43AC-83C8-F002704BF247}">
      <dgm:prSet phldrT="[Text]" custT="1"/>
      <dgm:spPr>
        <a:ln>
          <a:solidFill>
            <a:srgbClr val="3333B2"/>
          </a:solidFill>
        </a:ln>
      </dgm:spPr>
      <dgm:t>
        <a:bodyPr/>
        <a:lstStyle/>
        <a:p>
          <a:r>
            <a:rPr lang="en-US" sz="770" b="1" dirty="0">
              <a:latin typeface="Times New Roman" panose="02020603050405020304" pitchFamily="18" charset="0"/>
              <a:cs typeface="Times New Roman" panose="02020603050405020304" pitchFamily="18" charset="0"/>
            </a:rPr>
            <a:t>Villarreal (2014)</a:t>
          </a:r>
        </a:p>
      </dgm:t>
    </dgm:pt>
    <dgm:pt modelId="{90433593-A985-4A94-9E62-9EC9D628F791}" type="parTrans" cxnId="{05315249-890F-41F0-B16D-ED65C7017FD4}">
      <dgm:prSet/>
      <dgm:spPr/>
      <dgm:t>
        <a:bodyPr/>
        <a:lstStyle/>
        <a:p>
          <a:endParaRPr lang="en-US"/>
        </a:p>
      </dgm:t>
    </dgm:pt>
    <dgm:pt modelId="{117C6F3C-6A5C-4CC5-8C1B-93E9DBC6AA8E}" type="sibTrans" cxnId="{05315249-890F-41F0-B16D-ED65C7017FD4}">
      <dgm:prSet/>
      <dgm:spPr/>
      <dgm:t>
        <a:bodyPr/>
        <a:lstStyle/>
        <a:p>
          <a:endParaRPr lang="en-US"/>
        </a:p>
      </dgm:t>
    </dgm:pt>
    <dgm:pt modelId="{5B0055EE-2FBD-470E-8E1A-1A8D12C0F7FD}">
      <dgm:prSet phldrT="[Text]" custT="1"/>
      <dgm:spPr>
        <a:ln>
          <a:solidFill>
            <a:srgbClr val="3333B2"/>
          </a:solidFill>
        </a:ln>
      </dgm:spPr>
      <dgm:t>
        <a:bodyPr/>
        <a:lstStyle/>
        <a:p>
          <a:endParaRPr lang="en-US" sz="7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97A1C1A-7221-4DF8-8AF4-57B0A104F8FE}" type="parTrans" cxnId="{83AAA011-6206-4C37-837D-A2B8BC684288}">
      <dgm:prSet/>
      <dgm:spPr/>
      <dgm:t>
        <a:bodyPr/>
        <a:lstStyle/>
        <a:p>
          <a:endParaRPr lang="en-US"/>
        </a:p>
      </dgm:t>
    </dgm:pt>
    <dgm:pt modelId="{1ABF42B1-6E4C-444B-A60A-9582C24FFD53}" type="sibTrans" cxnId="{83AAA011-6206-4C37-837D-A2B8BC684288}">
      <dgm:prSet/>
      <dgm:spPr/>
      <dgm:t>
        <a:bodyPr/>
        <a:lstStyle/>
        <a:p>
          <a:endParaRPr lang="en-US"/>
        </a:p>
      </dgm:t>
    </dgm:pt>
    <dgm:pt modelId="{AA8F9812-D45D-493C-8D48-0B3A35BD4488}">
      <dgm:prSet phldrT="[Text]" custT="1"/>
      <dgm:spPr>
        <a:ln>
          <a:solidFill>
            <a:srgbClr val="3333B2"/>
          </a:solidFill>
        </a:ln>
      </dgm:spPr>
      <dgm:t>
        <a:bodyPr/>
        <a:lstStyle/>
        <a:p>
          <a:r>
            <a:rPr lang="en-US" sz="700" dirty="0">
              <a:latin typeface="Times New Roman" panose="02020603050405020304" pitchFamily="18" charset="0"/>
              <a:cs typeface="Times New Roman" panose="02020603050405020304" pitchFamily="18" charset="0"/>
            </a:rPr>
            <a:t>Unanticipated contractionary monetary policy increases income inequality</a:t>
          </a:r>
        </a:p>
      </dgm:t>
    </dgm:pt>
    <dgm:pt modelId="{B06B5F1E-1D37-4D63-A474-D684C8355465}" type="parTrans" cxnId="{71F443AD-F89D-4547-A72E-5E9A506F077E}">
      <dgm:prSet/>
      <dgm:spPr/>
      <dgm:t>
        <a:bodyPr/>
        <a:lstStyle/>
        <a:p>
          <a:endParaRPr lang="en-US"/>
        </a:p>
      </dgm:t>
    </dgm:pt>
    <dgm:pt modelId="{0558BA56-A118-4E45-9DFB-2C37084E7F2D}" type="sibTrans" cxnId="{71F443AD-F89D-4547-A72E-5E9A506F077E}">
      <dgm:prSet/>
      <dgm:spPr/>
      <dgm:t>
        <a:bodyPr/>
        <a:lstStyle/>
        <a:p>
          <a:endParaRPr lang="en-US"/>
        </a:p>
      </dgm:t>
    </dgm:pt>
    <dgm:pt modelId="{EF8BA0CB-9168-4DF3-B39A-B3701722FE40}">
      <dgm:prSet phldrT="[Text]" custT="1"/>
      <dgm:spPr>
        <a:ln>
          <a:solidFill>
            <a:srgbClr val="3333B2"/>
          </a:solidFill>
        </a:ln>
      </dgm:spPr>
      <dgm:t>
        <a:bodyPr/>
        <a:lstStyle/>
        <a:p>
          <a:r>
            <a:rPr lang="en-US" sz="700" dirty="0">
              <a:latin typeface="Times New Roman" panose="02020603050405020304" pitchFamily="18" charset="0"/>
              <a:cs typeface="Times New Roman" panose="02020603050405020304" pitchFamily="18" charset="0"/>
            </a:rPr>
            <a:t>Local Projections</a:t>
          </a:r>
        </a:p>
      </dgm:t>
    </dgm:pt>
    <dgm:pt modelId="{4151EFA4-CE43-4C1E-8A9A-E1C2C7329AE3}" type="parTrans" cxnId="{AC32A1C3-09DE-4318-9303-CE99C2666100}">
      <dgm:prSet/>
      <dgm:spPr/>
      <dgm:t>
        <a:bodyPr/>
        <a:lstStyle/>
        <a:p>
          <a:endParaRPr lang="en-US"/>
        </a:p>
      </dgm:t>
    </dgm:pt>
    <dgm:pt modelId="{87041C25-A7F6-42E9-9BEB-6980420FBFD1}" type="sibTrans" cxnId="{AC32A1C3-09DE-4318-9303-CE99C2666100}">
      <dgm:prSet/>
      <dgm:spPr/>
      <dgm:t>
        <a:bodyPr/>
        <a:lstStyle/>
        <a:p>
          <a:endParaRPr lang="en-US"/>
        </a:p>
      </dgm:t>
    </dgm:pt>
    <dgm:pt modelId="{C894076E-4C54-4D9B-9D2E-9C731BC36216}">
      <dgm:prSet custT="1"/>
      <dgm:spPr>
        <a:ln>
          <a:solidFill>
            <a:srgbClr val="3333B2"/>
          </a:solidFill>
        </a:ln>
      </dgm:spPr>
      <dgm:t>
        <a:bodyPr/>
        <a:lstStyle/>
        <a:p>
          <a:r>
            <a:rPr lang="en-US" sz="700" dirty="0">
              <a:latin typeface="Times New Roman" panose="02020603050405020304" pitchFamily="18" charset="0"/>
              <a:cs typeface="Times New Roman" panose="02020603050405020304" pitchFamily="18" charset="0"/>
            </a:rPr>
            <a:t>6 countries 1990-2015</a:t>
          </a:r>
        </a:p>
      </dgm:t>
    </dgm:pt>
    <dgm:pt modelId="{0A25D404-2054-4679-B0AE-E0A960FB0DDE}" type="parTrans" cxnId="{D0322E22-4A74-49AE-9E9B-A0FDBBB092C8}">
      <dgm:prSet/>
      <dgm:spPr/>
      <dgm:t>
        <a:bodyPr/>
        <a:lstStyle/>
        <a:p>
          <a:endParaRPr lang="en-US"/>
        </a:p>
      </dgm:t>
    </dgm:pt>
    <dgm:pt modelId="{D84ED3D4-D89C-4CDE-AE3A-EAFA62630979}" type="sibTrans" cxnId="{D0322E22-4A74-49AE-9E9B-A0FDBBB092C8}">
      <dgm:prSet/>
      <dgm:spPr/>
      <dgm:t>
        <a:bodyPr/>
        <a:lstStyle/>
        <a:p>
          <a:endParaRPr lang="en-US"/>
        </a:p>
      </dgm:t>
    </dgm:pt>
    <dgm:pt modelId="{7695576E-601F-4B7B-9A5C-16D866DD91B5}">
      <dgm:prSet custT="1"/>
      <dgm:spPr>
        <a:ln>
          <a:solidFill>
            <a:srgbClr val="3333B2"/>
          </a:solidFill>
        </a:ln>
      </dgm:spPr>
      <dgm:t>
        <a:bodyPr/>
        <a:lstStyle/>
        <a:p>
          <a:r>
            <a:rPr lang="en-US" sz="700" dirty="0">
              <a:latin typeface="Times New Roman" panose="02020603050405020304" pitchFamily="18" charset="0"/>
              <a:cs typeface="Times New Roman" panose="02020603050405020304" pitchFamily="18" charset="0"/>
            </a:rPr>
            <a:t>Effect of shadow interest rates on Gini coefficient</a:t>
          </a:r>
        </a:p>
      </dgm:t>
    </dgm:pt>
    <dgm:pt modelId="{142A4160-F151-43F4-9259-A5E6826BB657}" type="parTrans" cxnId="{14A26151-1B24-4054-B279-E6E6F694FFAD}">
      <dgm:prSet/>
      <dgm:spPr/>
      <dgm:t>
        <a:bodyPr/>
        <a:lstStyle/>
        <a:p>
          <a:endParaRPr lang="en-US"/>
        </a:p>
      </dgm:t>
    </dgm:pt>
    <dgm:pt modelId="{76E1BF57-F730-4929-99CD-F28214288174}" type="sibTrans" cxnId="{14A26151-1B24-4054-B279-E6E6F694FFAD}">
      <dgm:prSet/>
      <dgm:spPr/>
      <dgm:t>
        <a:bodyPr/>
        <a:lstStyle/>
        <a:p>
          <a:endParaRPr lang="en-US"/>
        </a:p>
      </dgm:t>
    </dgm:pt>
    <dgm:pt modelId="{EC3E148C-862A-46FB-A87A-EEF62BF11F6C}">
      <dgm:prSet custT="1"/>
      <dgm:spPr>
        <a:ln>
          <a:solidFill>
            <a:srgbClr val="3333B2"/>
          </a:solidFill>
        </a:ln>
      </dgm:spPr>
      <dgm:t>
        <a:bodyPr/>
        <a:lstStyle/>
        <a:p>
          <a:endParaRPr lang="de-DE" sz="8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r>
            <a:rPr lang="de-DE" sz="800" b="1" dirty="0">
              <a:latin typeface="Times New Roman" panose="02020603050405020304" pitchFamily="18" charset="0"/>
              <a:cs typeface="Times New Roman" panose="02020603050405020304" pitchFamily="18" charset="0"/>
            </a:rPr>
            <a:t>Hafemann et al. (2018) </a:t>
          </a:r>
          <a:endParaRPr lang="en-US" sz="8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endParaRPr lang="en-US" sz="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0925CF5-7990-43B2-82A9-2F8E9886F44A}" type="parTrans" cxnId="{BC195AC5-9B23-4079-BBF2-4100CAE3D03C}">
      <dgm:prSet/>
      <dgm:spPr/>
      <dgm:t>
        <a:bodyPr/>
        <a:lstStyle/>
        <a:p>
          <a:endParaRPr lang="en-US"/>
        </a:p>
      </dgm:t>
    </dgm:pt>
    <dgm:pt modelId="{1C737BC4-ADEA-40C5-AE7E-A4A5E675130A}" type="sibTrans" cxnId="{BC195AC5-9B23-4079-BBF2-4100CAE3D03C}">
      <dgm:prSet/>
      <dgm:spPr/>
      <dgm:t>
        <a:bodyPr/>
        <a:lstStyle/>
        <a:p>
          <a:endParaRPr lang="en-US"/>
        </a:p>
      </dgm:t>
    </dgm:pt>
    <dgm:pt modelId="{0E3FB3F4-8F05-4B1D-98AF-4B651DAC64C6}">
      <dgm:prSet phldrT="[Text]" custT="1"/>
      <dgm:spPr>
        <a:ln>
          <a:solidFill>
            <a:srgbClr val="3333B2"/>
          </a:solidFill>
        </a:ln>
      </dgm:spPr>
      <dgm:t>
        <a:bodyPr/>
        <a:lstStyle/>
        <a:p>
          <a:pPr algn="l"/>
          <a:endParaRPr lang="en-US" sz="7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BB1CAAF-7410-4A05-8737-2DCE375F203D}" type="parTrans" cxnId="{9A01F770-9B30-4BEF-8105-635753DB93A0}">
      <dgm:prSet/>
      <dgm:spPr/>
      <dgm:t>
        <a:bodyPr/>
        <a:lstStyle/>
        <a:p>
          <a:endParaRPr lang="en-US"/>
        </a:p>
      </dgm:t>
    </dgm:pt>
    <dgm:pt modelId="{F2C850F4-6506-47BB-9988-69E67A3582B1}" type="sibTrans" cxnId="{9A01F770-9B30-4BEF-8105-635753DB93A0}">
      <dgm:prSet/>
      <dgm:spPr/>
      <dgm:t>
        <a:bodyPr/>
        <a:lstStyle/>
        <a:p>
          <a:endParaRPr lang="en-US"/>
        </a:p>
      </dgm:t>
    </dgm:pt>
    <dgm:pt modelId="{9442D50F-2642-44EB-AD1F-FC7E518DC4A0}">
      <dgm:prSet phldrT="[Text]" custT="1"/>
      <dgm:spPr>
        <a:ln>
          <a:solidFill>
            <a:srgbClr val="3333B2"/>
          </a:solidFill>
        </a:ln>
      </dgm:spPr>
      <dgm:t>
        <a:bodyPr/>
        <a:lstStyle/>
        <a:p>
          <a:pPr algn="l"/>
          <a:r>
            <a:rPr lang="en-US" sz="700" dirty="0">
              <a:latin typeface="Times New Roman" panose="02020603050405020304" pitchFamily="18" charset="0"/>
              <a:cs typeface="Times New Roman" panose="02020603050405020304" pitchFamily="18" charset="0"/>
            </a:rPr>
            <a:t>Effect of federal funds rate on Gini coefficient and 90/10 ratio</a:t>
          </a:r>
        </a:p>
      </dgm:t>
    </dgm:pt>
    <dgm:pt modelId="{9FB2DF0D-AF9B-43AD-B986-50C75DB45F8E}" type="parTrans" cxnId="{696E5317-4F31-43D2-93CB-F852E7E68B4D}">
      <dgm:prSet/>
      <dgm:spPr/>
      <dgm:t>
        <a:bodyPr/>
        <a:lstStyle/>
        <a:p>
          <a:endParaRPr lang="en-US"/>
        </a:p>
      </dgm:t>
    </dgm:pt>
    <dgm:pt modelId="{F6DA5349-1289-46F4-9A99-D8F3BB9E0890}" type="sibTrans" cxnId="{696E5317-4F31-43D2-93CB-F852E7E68B4D}">
      <dgm:prSet/>
      <dgm:spPr/>
      <dgm:t>
        <a:bodyPr/>
        <a:lstStyle/>
        <a:p>
          <a:endParaRPr lang="en-US"/>
        </a:p>
      </dgm:t>
    </dgm:pt>
    <dgm:pt modelId="{8DF10D41-DD9E-4BD7-A54C-6D15809186DB}">
      <dgm:prSet phldrT="[Text]" custT="1"/>
      <dgm:spPr>
        <a:ln>
          <a:solidFill>
            <a:srgbClr val="3333B2"/>
          </a:solidFill>
        </a:ln>
      </dgm:spPr>
      <dgm:t>
        <a:bodyPr/>
        <a:lstStyle/>
        <a:p>
          <a:pPr algn="l"/>
          <a:r>
            <a:rPr lang="en-US" sz="700" dirty="0">
              <a:latin typeface="Times New Roman" panose="02020603050405020304" pitchFamily="18" charset="0"/>
              <a:cs typeface="Times New Roman" panose="02020603050405020304" pitchFamily="18" charset="0"/>
            </a:rPr>
            <a:t>Contractionary monetary policy shock increases income inequality</a:t>
          </a:r>
        </a:p>
      </dgm:t>
    </dgm:pt>
    <dgm:pt modelId="{1A1A3D11-CC65-492C-82BD-92C6E9EAB97A}" type="parTrans" cxnId="{62CBBF67-281A-4CCD-B862-397EDE3ECB52}">
      <dgm:prSet/>
      <dgm:spPr/>
      <dgm:t>
        <a:bodyPr/>
        <a:lstStyle/>
        <a:p>
          <a:endParaRPr lang="en-US"/>
        </a:p>
      </dgm:t>
    </dgm:pt>
    <dgm:pt modelId="{1D6731AC-4963-4DC3-8DCF-3F2C91F0875A}" type="sibTrans" cxnId="{62CBBF67-281A-4CCD-B862-397EDE3ECB52}">
      <dgm:prSet/>
      <dgm:spPr/>
      <dgm:t>
        <a:bodyPr/>
        <a:lstStyle/>
        <a:p>
          <a:endParaRPr lang="en-US"/>
        </a:p>
      </dgm:t>
    </dgm:pt>
    <dgm:pt modelId="{D5114DE8-5FC2-4B7B-88EF-12AE7E6223B8}">
      <dgm:prSet phldrT="[Text]" custT="1"/>
      <dgm:spPr>
        <a:ln>
          <a:solidFill>
            <a:srgbClr val="3333B2"/>
          </a:solidFill>
        </a:ln>
      </dgm:spPr>
      <dgm:t>
        <a:bodyPr/>
        <a:lstStyle/>
        <a:p>
          <a:pPr algn="just"/>
          <a:r>
            <a:rPr lang="en-US" sz="700" dirty="0">
              <a:latin typeface="Times New Roman" panose="02020603050405020304" pitchFamily="18" charset="0"/>
              <a:cs typeface="Times New Roman" panose="02020603050405020304" pitchFamily="18" charset="0"/>
            </a:rPr>
            <a:t>Local projections</a:t>
          </a:r>
        </a:p>
      </dgm:t>
    </dgm:pt>
    <dgm:pt modelId="{EAD0D399-85DB-488B-BAD6-AE3CB3288C71}" type="parTrans" cxnId="{0BC55C8B-E4CF-409B-9C6E-E77743CBC705}">
      <dgm:prSet/>
      <dgm:spPr/>
      <dgm:t>
        <a:bodyPr/>
        <a:lstStyle/>
        <a:p>
          <a:endParaRPr lang="en-US"/>
        </a:p>
      </dgm:t>
    </dgm:pt>
    <dgm:pt modelId="{71A41519-A5CA-4698-81D2-0F6AB7984D7E}" type="sibTrans" cxnId="{0BC55C8B-E4CF-409B-9C6E-E77743CBC705}">
      <dgm:prSet/>
      <dgm:spPr/>
      <dgm:t>
        <a:bodyPr/>
        <a:lstStyle/>
        <a:p>
          <a:endParaRPr lang="en-US"/>
        </a:p>
      </dgm:t>
    </dgm:pt>
    <dgm:pt modelId="{6EBB1BCE-5C7D-447F-8292-28DC4D0F8317}">
      <dgm:prSet custT="1"/>
      <dgm:spPr>
        <a:ln>
          <a:solidFill>
            <a:srgbClr val="3333B2"/>
          </a:solidFill>
        </a:ln>
      </dgm:spPr>
      <dgm:t>
        <a:bodyPr/>
        <a:lstStyle/>
        <a:p>
          <a:r>
            <a:rPr lang="en-US" sz="750" dirty="0">
              <a:latin typeface="Times New Roman" panose="02020603050405020304" pitchFamily="18" charset="0"/>
              <a:cs typeface="Times New Roman" panose="02020603050405020304" pitchFamily="18" charset="0"/>
            </a:rPr>
            <a:t>Contractionary monetary policy shock decreases income inequality</a:t>
          </a:r>
        </a:p>
      </dgm:t>
    </dgm:pt>
    <dgm:pt modelId="{CCE4742B-2CC1-440C-8912-D3335331A911}" type="parTrans" cxnId="{7081BF4B-40B1-470B-ACD2-AB638E3CFB6A}">
      <dgm:prSet/>
      <dgm:spPr/>
      <dgm:t>
        <a:bodyPr/>
        <a:lstStyle/>
        <a:p>
          <a:endParaRPr lang="en-US"/>
        </a:p>
      </dgm:t>
    </dgm:pt>
    <dgm:pt modelId="{B8A1893B-DCA8-40FF-A9D4-E1EEB1B9F6A4}" type="sibTrans" cxnId="{7081BF4B-40B1-470B-ACD2-AB638E3CFB6A}">
      <dgm:prSet/>
      <dgm:spPr/>
      <dgm:t>
        <a:bodyPr/>
        <a:lstStyle/>
        <a:p>
          <a:endParaRPr lang="en-US"/>
        </a:p>
      </dgm:t>
    </dgm:pt>
    <dgm:pt modelId="{1416E64F-16E0-4676-8613-BCA9ABF5D6D0}">
      <dgm:prSet custT="1"/>
      <dgm:spPr>
        <a:ln>
          <a:solidFill>
            <a:srgbClr val="3333B2"/>
          </a:solidFill>
        </a:ln>
      </dgm:spPr>
      <dgm:t>
        <a:bodyPr/>
        <a:lstStyle/>
        <a:p>
          <a:endParaRPr lang="en-US" sz="75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F49C544-2C8F-4D4B-B06D-07D14D0EC332}" type="parTrans" cxnId="{85343E3A-2A49-41C0-9B39-0DCF0933E107}">
      <dgm:prSet/>
      <dgm:spPr/>
      <dgm:t>
        <a:bodyPr/>
        <a:lstStyle/>
        <a:p>
          <a:endParaRPr lang="en-US"/>
        </a:p>
      </dgm:t>
    </dgm:pt>
    <dgm:pt modelId="{B49ECCDF-0282-4B5F-A700-DEBF467EB7A4}" type="sibTrans" cxnId="{85343E3A-2A49-41C0-9B39-0DCF0933E107}">
      <dgm:prSet/>
      <dgm:spPr/>
      <dgm:t>
        <a:bodyPr/>
        <a:lstStyle/>
        <a:p>
          <a:endParaRPr lang="en-US"/>
        </a:p>
      </dgm:t>
    </dgm:pt>
    <dgm:pt modelId="{BF0448E0-B477-4723-8CFA-4C21F7BA091B}">
      <dgm:prSet phldrT="[Text]" custT="1"/>
      <dgm:spPr>
        <a:ln>
          <a:solidFill>
            <a:srgbClr val="3333B2"/>
          </a:solidFill>
        </a:ln>
      </dgm:spPr>
      <dgm:t>
        <a:bodyPr/>
        <a:lstStyle/>
        <a:p>
          <a:r>
            <a:rPr lang="en-US" sz="750" dirty="0">
              <a:latin typeface="Times New Roman" panose="02020603050405020304" pitchFamily="18" charset="0"/>
              <a:cs typeface="Times New Roman" panose="02020603050405020304" pitchFamily="18" charset="0"/>
            </a:rPr>
            <a:t>VAR model</a:t>
          </a:r>
        </a:p>
      </dgm:t>
    </dgm:pt>
    <dgm:pt modelId="{0F411AD6-FB6C-4954-9533-B5DF1FC931D7}" type="parTrans" cxnId="{FF113A37-6960-4276-ADBF-2C1F101D6A96}">
      <dgm:prSet/>
      <dgm:spPr/>
      <dgm:t>
        <a:bodyPr/>
        <a:lstStyle/>
        <a:p>
          <a:endParaRPr lang="en-US"/>
        </a:p>
      </dgm:t>
    </dgm:pt>
    <dgm:pt modelId="{4FEE6A8A-FBA7-41E8-B8DA-188BD49AE20D}" type="sibTrans" cxnId="{FF113A37-6960-4276-ADBF-2C1F101D6A96}">
      <dgm:prSet/>
      <dgm:spPr/>
      <dgm:t>
        <a:bodyPr/>
        <a:lstStyle/>
        <a:p>
          <a:endParaRPr lang="en-US"/>
        </a:p>
      </dgm:t>
    </dgm:pt>
    <dgm:pt modelId="{10996737-3FD3-4143-BB3A-06F248147F7E}">
      <dgm:prSet custT="1"/>
      <dgm:spPr>
        <a:ln>
          <a:solidFill>
            <a:srgbClr val="3333B2"/>
          </a:solidFill>
        </a:ln>
      </dgm:spPr>
      <dgm:t>
        <a:bodyPr/>
        <a:lstStyle/>
        <a:p>
          <a:r>
            <a:rPr lang="en-US" sz="700" dirty="0">
              <a:latin typeface="Times New Roman" panose="02020603050405020304" pitchFamily="18" charset="0"/>
              <a:cs typeface="Times New Roman" panose="02020603050405020304" pitchFamily="18" charset="0"/>
            </a:rPr>
            <a:t>Mexico 1995-2012</a:t>
          </a:r>
        </a:p>
      </dgm:t>
    </dgm:pt>
    <dgm:pt modelId="{7B76176C-01E6-4E4C-9403-8D7790998853}" type="parTrans" cxnId="{B2CD8387-A01F-4503-87F2-A9DBDB69CA94}">
      <dgm:prSet/>
      <dgm:spPr/>
      <dgm:t>
        <a:bodyPr/>
        <a:lstStyle/>
        <a:p>
          <a:endParaRPr lang="en-US"/>
        </a:p>
      </dgm:t>
    </dgm:pt>
    <dgm:pt modelId="{BEAD64E5-8455-4973-B1C7-25E667F1C320}" type="sibTrans" cxnId="{B2CD8387-A01F-4503-87F2-A9DBDB69CA94}">
      <dgm:prSet/>
      <dgm:spPr/>
      <dgm:t>
        <a:bodyPr/>
        <a:lstStyle/>
        <a:p>
          <a:endParaRPr lang="en-US"/>
        </a:p>
      </dgm:t>
    </dgm:pt>
    <dgm:pt modelId="{FB42BB85-D94E-46C2-B506-926327DF5D41}">
      <dgm:prSet custT="1"/>
      <dgm:spPr>
        <a:ln>
          <a:solidFill>
            <a:srgbClr val="3333B2"/>
          </a:solidFill>
        </a:ln>
      </dgm:spPr>
      <dgm:t>
        <a:bodyPr/>
        <a:lstStyle/>
        <a:p>
          <a:r>
            <a:rPr lang="en-US" sz="700" dirty="0">
              <a:latin typeface="Times New Roman" panose="02020603050405020304" pitchFamily="18" charset="0"/>
              <a:cs typeface="Times New Roman" panose="02020603050405020304" pitchFamily="18" charset="0"/>
            </a:rPr>
            <a:t>Effect of overnight interbank lending rate on GINI coefficient</a:t>
          </a:r>
        </a:p>
      </dgm:t>
    </dgm:pt>
    <dgm:pt modelId="{D4533800-0924-4CE4-B25D-290DE2E236EC}" type="parTrans" cxnId="{99776ACF-7F5F-47CC-9EF8-82AE1F064AC6}">
      <dgm:prSet/>
      <dgm:spPr/>
      <dgm:t>
        <a:bodyPr/>
        <a:lstStyle/>
        <a:p>
          <a:endParaRPr lang="en-US"/>
        </a:p>
      </dgm:t>
    </dgm:pt>
    <dgm:pt modelId="{CAD3BDA9-154C-42BB-A9DB-F4A4D3B4850A}" type="sibTrans" cxnId="{99776ACF-7F5F-47CC-9EF8-82AE1F064AC6}">
      <dgm:prSet/>
      <dgm:spPr/>
      <dgm:t>
        <a:bodyPr/>
        <a:lstStyle/>
        <a:p>
          <a:endParaRPr lang="en-US"/>
        </a:p>
      </dgm:t>
    </dgm:pt>
    <dgm:pt modelId="{58B8EC10-F434-45C5-8225-F6003123E2AB}">
      <dgm:prSet custT="1"/>
      <dgm:spPr>
        <a:ln>
          <a:solidFill>
            <a:srgbClr val="3333B2"/>
          </a:solidFill>
        </a:ln>
      </dgm:spPr>
      <dgm:t>
        <a:bodyPr/>
        <a:lstStyle/>
        <a:p>
          <a:r>
            <a:rPr lang="en-US" sz="700" dirty="0">
              <a:latin typeface="Times New Roman" panose="02020603050405020304" pitchFamily="18" charset="0"/>
              <a:cs typeface="Times New Roman" panose="02020603050405020304" pitchFamily="18" charset="0"/>
            </a:rPr>
            <a:t>Contractionary monetary policy shock reduces income inequality</a:t>
          </a:r>
        </a:p>
      </dgm:t>
    </dgm:pt>
    <dgm:pt modelId="{DEDDC244-486A-4E88-921B-9B596651541E}" type="parTrans" cxnId="{425E578E-D0F0-44F3-969D-7D4F75FDBAC0}">
      <dgm:prSet/>
      <dgm:spPr/>
      <dgm:t>
        <a:bodyPr/>
        <a:lstStyle/>
        <a:p>
          <a:endParaRPr lang="en-US"/>
        </a:p>
      </dgm:t>
    </dgm:pt>
    <dgm:pt modelId="{27FB3A91-983F-409D-98EA-D3254FA090CD}" type="sibTrans" cxnId="{425E578E-D0F0-44F3-969D-7D4F75FDBAC0}">
      <dgm:prSet/>
      <dgm:spPr/>
      <dgm:t>
        <a:bodyPr/>
        <a:lstStyle/>
        <a:p>
          <a:endParaRPr lang="en-US"/>
        </a:p>
      </dgm:t>
    </dgm:pt>
    <dgm:pt modelId="{AF04C2F2-43B8-4A86-833C-E8350E12E357}">
      <dgm:prSet phldrT="[Text]" custT="1"/>
      <dgm:spPr>
        <a:ln>
          <a:solidFill>
            <a:srgbClr val="3333B2"/>
          </a:solidFill>
        </a:ln>
      </dgm:spPr>
      <dgm:t>
        <a:bodyPr/>
        <a:lstStyle/>
        <a:p>
          <a:r>
            <a:rPr lang="en-US" sz="700" dirty="0">
              <a:latin typeface="Times New Roman" panose="02020603050405020304" pitchFamily="18" charset="0"/>
              <a:cs typeface="Times New Roman" panose="02020603050405020304" pitchFamily="18" charset="0"/>
            </a:rPr>
            <a:t>Local Projections</a:t>
          </a:r>
        </a:p>
      </dgm:t>
    </dgm:pt>
    <dgm:pt modelId="{3022B110-274C-4FEE-B65F-DEE8908CFA75}" type="parTrans" cxnId="{F77F89B9-CECD-43A0-B65B-97DEFC8516AC}">
      <dgm:prSet/>
      <dgm:spPr/>
      <dgm:t>
        <a:bodyPr/>
        <a:lstStyle/>
        <a:p>
          <a:endParaRPr lang="en-US"/>
        </a:p>
      </dgm:t>
    </dgm:pt>
    <dgm:pt modelId="{04080F87-AA8E-44DE-A5C0-FEC9F5E50A08}" type="sibTrans" cxnId="{F77F89B9-CECD-43A0-B65B-97DEFC8516AC}">
      <dgm:prSet/>
      <dgm:spPr/>
      <dgm:t>
        <a:bodyPr/>
        <a:lstStyle/>
        <a:p>
          <a:endParaRPr lang="en-US"/>
        </a:p>
      </dgm:t>
    </dgm:pt>
    <dgm:pt modelId="{37560764-1D71-44A4-9FE2-E90365D3A2C2}">
      <dgm:prSet custT="1"/>
      <dgm:spPr>
        <a:ln>
          <a:solidFill>
            <a:srgbClr val="3333B2"/>
          </a:solidFill>
        </a:ln>
      </dgm:spPr>
      <dgm:t>
        <a:bodyPr/>
        <a:lstStyle/>
        <a:p>
          <a:r>
            <a:rPr lang="en-US" sz="700" dirty="0">
              <a:latin typeface="Times New Roman" panose="02020603050405020304" pitchFamily="18" charset="0"/>
              <a:cs typeface="Times New Roman" panose="02020603050405020304" pitchFamily="18" charset="0"/>
            </a:rPr>
            <a:t>VAR model</a:t>
          </a:r>
        </a:p>
      </dgm:t>
    </dgm:pt>
    <dgm:pt modelId="{05F2640C-B3E2-4B37-869F-171394C3B89E}" type="parTrans" cxnId="{CF8EAED7-FCBF-4DEB-8E3D-9003E35AFF2D}">
      <dgm:prSet/>
      <dgm:spPr/>
      <dgm:t>
        <a:bodyPr/>
        <a:lstStyle/>
        <a:p>
          <a:endParaRPr lang="en-US"/>
        </a:p>
      </dgm:t>
    </dgm:pt>
    <dgm:pt modelId="{2B72EFDB-C95D-4E75-9050-6DC7C0C93B52}" type="sibTrans" cxnId="{CF8EAED7-FCBF-4DEB-8E3D-9003E35AFF2D}">
      <dgm:prSet/>
      <dgm:spPr/>
      <dgm:t>
        <a:bodyPr/>
        <a:lstStyle/>
        <a:p>
          <a:endParaRPr lang="en-US"/>
        </a:p>
      </dgm:t>
    </dgm:pt>
    <dgm:pt modelId="{EEEBC669-5242-4ABA-A9A7-9B4254E7886C}">
      <dgm:prSet custT="1"/>
      <dgm:spPr>
        <a:ln>
          <a:solidFill>
            <a:srgbClr val="3333B2"/>
          </a:solidFill>
        </a:ln>
      </dgm:spPr>
      <dgm:t>
        <a:bodyPr/>
        <a:lstStyle/>
        <a:p>
          <a:endParaRPr lang="en-US" sz="7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34E48B6-A3F7-41A0-AA9A-AF29479D18BE}" type="parTrans" cxnId="{9472D8B3-5504-4D64-B0D5-EB3F351688F2}">
      <dgm:prSet/>
      <dgm:spPr/>
      <dgm:t>
        <a:bodyPr/>
        <a:lstStyle/>
        <a:p>
          <a:endParaRPr lang="en-US"/>
        </a:p>
      </dgm:t>
    </dgm:pt>
    <dgm:pt modelId="{617DED65-5101-4BC4-B4E9-BFD58E6D59BD}" type="sibTrans" cxnId="{9472D8B3-5504-4D64-B0D5-EB3F351688F2}">
      <dgm:prSet/>
      <dgm:spPr/>
      <dgm:t>
        <a:bodyPr/>
        <a:lstStyle/>
        <a:p>
          <a:endParaRPr lang="en-US"/>
        </a:p>
      </dgm:t>
    </dgm:pt>
    <dgm:pt modelId="{5E85E9F7-EFB0-43C7-A0F3-A67CFA646348}">
      <dgm:prSet custT="1"/>
      <dgm:spPr>
        <a:ln>
          <a:solidFill>
            <a:srgbClr val="3333B2"/>
          </a:solidFill>
        </a:ln>
      </dgm:spPr>
      <dgm:t>
        <a:bodyPr/>
        <a:lstStyle/>
        <a:p>
          <a:r>
            <a:rPr lang="en-US" sz="700" dirty="0">
              <a:latin typeface="Times New Roman" panose="02020603050405020304" pitchFamily="18" charset="0"/>
              <a:cs typeface="Times New Roman" panose="02020603050405020304" pitchFamily="18" charset="0"/>
            </a:rPr>
            <a:t>Interest rate reduction increases inequality.</a:t>
          </a:r>
        </a:p>
      </dgm:t>
    </dgm:pt>
    <dgm:pt modelId="{E98E9CC2-F194-4A8E-A1D4-3ABD5AA82C29}" type="parTrans" cxnId="{C7EEADF0-4814-4BB8-8E98-0648EDC3F9F7}">
      <dgm:prSet/>
      <dgm:spPr/>
      <dgm:t>
        <a:bodyPr/>
        <a:lstStyle/>
        <a:p>
          <a:endParaRPr lang="en-US"/>
        </a:p>
      </dgm:t>
    </dgm:pt>
    <dgm:pt modelId="{6473BC98-F352-4E04-9A5B-6B14DFC299A2}" type="sibTrans" cxnId="{C7EEADF0-4814-4BB8-8E98-0648EDC3F9F7}">
      <dgm:prSet/>
      <dgm:spPr/>
      <dgm:t>
        <a:bodyPr/>
        <a:lstStyle/>
        <a:p>
          <a:endParaRPr lang="en-US"/>
        </a:p>
      </dgm:t>
    </dgm:pt>
    <dgm:pt modelId="{07A85AE0-6E71-421F-96CB-D479AF582487}">
      <dgm:prSet phldrT="[Text]" custT="1"/>
      <dgm:spPr>
        <a:ln>
          <a:solidFill>
            <a:srgbClr val="3333B2"/>
          </a:solidFill>
        </a:ln>
      </dgm:spPr>
      <dgm:t>
        <a:bodyPr/>
        <a:lstStyle/>
        <a:p>
          <a:pPr algn="just"/>
          <a:r>
            <a:rPr lang="en-US" sz="700" dirty="0">
              <a:latin typeface="Times New Roman" panose="02020603050405020304" pitchFamily="18" charset="0"/>
              <a:cs typeface="Times New Roman" panose="02020603050405020304" pitchFamily="18" charset="0"/>
            </a:rPr>
            <a:t>US 1980-2008</a:t>
          </a:r>
        </a:p>
      </dgm:t>
    </dgm:pt>
    <dgm:pt modelId="{0498DFFC-D03A-4301-A3FD-4D8A5DB74213}" type="parTrans" cxnId="{8112B5EF-9C30-4B22-A3C1-D240FBDAA405}">
      <dgm:prSet/>
      <dgm:spPr/>
      <dgm:t>
        <a:bodyPr/>
        <a:lstStyle/>
        <a:p>
          <a:endParaRPr lang="en-US"/>
        </a:p>
      </dgm:t>
    </dgm:pt>
    <dgm:pt modelId="{0E6AFAA8-AEAB-417D-A5EF-7463D12B944B}" type="sibTrans" cxnId="{8112B5EF-9C30-4B22-A3C1-D240FBDAA405}">
      <dgm:prSet/>
      <dgm:spPr/>
      <dgm:t>
        <a:bodyPr/>
        <a:lstStyle/>
        <a:p>
          <a:endParaRPr lang="en-US"/>
        </a:p>
      </dgm:t>
    </dgm:pt>
    <dgm:pt modelId="{6D925FFB-41F0-47FA-AC1A-F58B94A032A1}">
      <dgm:prSet phldrT="[Text]" custT="1"/>
      <dgm:spPr>
        <a:ln>
          <a:solidFill>
            <a:srgbClr val="3333B2"/>
          </a:solidFill>
        </a:ln>
      </dgm:spPr>
      <dgm:t>
        <a:bodyPr/>
        <a:lstStyle/>
        <a:p>
          <a:endParaRPr lang="en-US" sz="75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5EBB6E0-1843-44A7-8AD0-84A9DE3B2610}" type="parTrans" cxnId="{375E4A0A-EF82-4345-BD6B-61B3E0045F74}">
      <dgm:prSet/>
      <dgm:spPr/>
      <dgm:t>
        <a:bodyPr/>
        <a:lstStyle/>
        <a:p>
          <a:endParaRPr lang="en-US"/>
        </a:p>
      </dgm:t>
    </dgm:pt>
    <dgm:pt modelId="{E4930C5C-CB2F-4AB9-AE78-7AEABC695706}" type="sibTrans" cxnId="{375E4A0A-EF82-4345-BD6B-61B3E0045F74}">
      <dgm:prSet/>
      <dgm:spPr/>
      <dgm:t>
        <a:bodyPr/>
        <a:lstStyle/>
        <a:p>
          <a:endParaRPr lang="en-US"/>
        </a:p>
      </dgm:t>
    </dgm:pt>
    <dgm:pt modelId="{42444967-02CA-4851-BB3D-D82880A6D7CF}">
      <dgm:prSet custT="1"/>
      <dgm:spPr>
        <a:ln>
          <a:solidFill>
            <a:srgbClr val="3333B2"/>
          </a:solidFill>
        </a:ln>
      </dgm:spPr>
      <dgm:t>
        <a:bodyPr/>
        <a:lstStyle/>
        <a:p>
          <a:r>
            <a:rPr lang="en-US" sz="750" dirty="0">
              <a:latin typeface="Times New Roman" panose="02020603050405020304" pitchFamily="18" charset="0"/>
              <a:cs typeface="Times New Roman" panose="02020603050405020304" pitchFamily="18" charset="0"/>
            </a:rPr>
            <a:t>Effect of federal funds rate on Gini coefficient </a:t>
          </a:r>
        </a:p>
      </dgm:t>
    </dgm:pt>
    <dgm:pt modelId="{E32AD1CF-0DF0-40F5-A6F9-70E243AEC0D2}" type="parTrans" cxnId="{3D13D78C-7E44-4AED-A108-E8FC13A16481}">
      <dgm:prSet/>
      <dgm:spPr/>
      <dgm:t>
        <a:bodyPr/>
        <a:lstStyle/>
        <a:p>
          <a:endParaRPr lang="en-US"/>
        </a:p>
      </dgm:t>
    </dgm:pt>
    <dgm:pt modelId="{A25B76F8-8855-45F3-A0BD-BAFBF812773E}" type="sibTrans" cxnId="{3D13D78C-7E44-4AED-A108-E8FC13A16481}">
      <dgm:prSet/>
      <dgm:spPr/>
      <dgm:t>
        <a:bodyPr/>
        <a:lstStyle/>
        <a:p>
          <a:endParaRPr lang="en-US"/>
        </a:p>
      </dgm:t>
    </dgm:pt>
    <dgm:pt modelId="{B9AD04B3-515D-48D3-8C03-862885FBE316}">
      <dgm:prSet custT="1"/>
      <dgm:spPr>
        <a:ln>
          <a:solidFill>
            <a:srgbClr val="3333B2"/>
          </a:solidFill>
        </a:ln>
      </dgm:spPr>
      <dgm:t>
        <a:bodyPr/>
        <a:lstStyle/>
        <a:p>
          <a:endParaRPr lang="en-US" sz="75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A92E618-B6DB-49E0-B1A2-0E4A980FC352}" type="parTrans" cxnId="{49D703B4-D402-4F24-8B66-6F284CF709D9}">
      <dgm:prSet/>
      <dgm:spPr/>
      <dgm:t>
        <a:bodyPr/>
        <a:lstStyle/>
        <a:p>
          <a:endParaRPr lang="en-US"/>
        </a:p>
      </dgm:t>
    </dgm:pt>
    <dgm:pt modelId="{199E028B-E95D-43D9-B7C5-C657F800949F}" type="sibTrans" cxnId="{49D703B4-D402-4F24-8B66-6F284CF709D9}">
      <dgm:prSet/>
      <dgm:spPr/>
      <dgm:t>
        <a:bodyPr/>
        <a:lstStyle/>
        <a:p>
          <a:endParaRPr lang="en-US"/>
        </a:p>
      </dgm:t>
    </dgm:pt>
    <dgm:pt modelId="{336CFE1F-3027-4599-81D8-F23E01EED752}">
      <dgm:prSet custT="1"/>
      <dgm:spPr>
        <a:ln>
          <a:solidFill>
            <a:srgbClr val="3333B2"/>
          </a:solidFill>
        </a:ln>
      </dgm:spPr>
      <dgm:t>
        <a:bodyPr/>
        <a:lstStyle/>
        <a:p>
          <a:endParaRPr lang="en-US" sz="7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EB0DF29-24C8-4497-809E-89A67B9BFE00}" type="parTrans" cxnId="{7B95B8E8-CA3D-498F-9DA8-A15EA401657C}">
      <dgm:prSet/>
      <dgm:spPr/>
      <dgm:t>
        <a:bodyPr/>
        <a:lstStyle/>
        <a:p>
          <a:endParaRPr lang="en-US"/>
        </a:p>
      </dgm:t>
    </dgm:pt>
    <dgm:pt modelId="{2E722801-D15C-47C1-9FC9-5DBD5004E51C}" type="sibTrans" cxnId="{7B95B8E8-CA3D-498F-9DA8-A15EA401657C}">
      <dgm:prSet/>
      <dgm:spPr/>
      <dgm:t>
        <a:bodyPr/>
        <a:lstStyle/>
        <a:p>
          <a:endParaRPr lang="en-US"/>
        </a:p>
      </dgm:t>
    </dgm:pt>
    <dgm:pt modelId="{D8F3ABD7-12FD-49E4-BB11-41B611BCF228}">
      <dgm:prSet custT="1"/>
      <dgm:spPr>
        <a:ln>
          <a:solidFill>
            <a:srgbClr val="3333B2"/>
          </a:solidFill>
        </a:ln>
      </dgm:spPr>
      <dgm:t>
        <a:bodyPr/>
        <a:lstStyle/>
        <a:p>
          <a:endParaRPr lang="en-US" sz="7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BB6FF5C-3591-4A0A-945E-4EB317747F6F}" type="parTrans" cxnId="{714038DE-214A-4AE7-B581-8E7F567DE60D}">
      <dgm:prSet/>
      <dgm:spPr/>
      <dgm:t>
        <a:bodyPr/>
        <a:lstStyle/>
        <a:p>
          <a:endParaRPr lang="en-US"/>
        </a:p>
      </dgm:t>
    </dgm:pt>
    <dgm:pt modelId="{008927C5-7EDA-47A1-8A32-CCD0367A75EA}" type="sibTrans" cxnId="{714038DE-214A-4AE7-B581-8E7F567DE60D}">
      <dgm:prSet/>
      <dgm:spPr/>
      <dgm:t>
        <a:bodyPr/>
        <a:lstStyle/>
        <a:p>
          <a:endParaRPr lang="en-US"/>
        </a:p>
      </dgm:t>
    </dgm:pt>
    <dgm:pt modelId="{7B2BD4CF-4FB8-4C5B-9A16-B1C60F195E4C}">
      <dgm:prSet custT="1"/>
      <dgm:spPr>
        <a:ln>
          <a:solidFill>
            <a:srgbClr val="3333B2"/>
          </a:solidFill>
        </a:ln>
      </dgm:spPr>
      <dgm:t>
        <a:bodyPr/>
        <a:lstStyle/>
        <a:p>
          <a:r>
            <a:rPr lang="en-US" sz="700" dirty="0">
              <a:latin typeface="Times New Roman" panose="02020603050405020304" pitchFamily="18" charset="0"/>
              <a:cs typeface="Times New Roman" panose="02020603050405020304" pitchFamily="18" charset="0"/>
            </a:rPr>
            <a:t>32 emerging countries 1990-2013</a:t>
          </a:r>
        </a:p>
      </dgm:t>
    </dgm:pt>
    <dgm:pt modelId="{3C48DBFB-996D-43D8-84B6-CA5EB73FDEDD}" type="parTrans" cxnId="{FEE05184-7E77-4116-A701-C1F6719DE6C8}">
      <dgm:prSet/>
      <dgm:spPr/>
      <dgm:t>
        <a:bodyPr/>
        <a:lstStyle/>
        <a:p>
          <a:endParaRPr lang="en-US"/>
        </a:p>
      </dgm:t>
    </dgm:pt>
    <dgm:pt modelId="{613AB30F-39F7-4BF4-A142-4CC522DD2429}" type="sibTrans" cxnId="{FEE05184-7E77-4116-A701-C1F6719DE6C8}">
      <dgm:prSet/>
      <dgm:spPr/>
      <dgm:t>
        <a:bodyPr/>
        <a:lstStyle/>
        <a:p>
          <a:endParaRPr lang="en-US"/>
        </a:p>
      </dgm:t>
    </dgm:pt>
    <dgm:pt modelId="{86A2D72C-3D70-4D3B-A324-D37F034CC58E}">
      <dgm:prSet custT="1"/>
      <dgm:spPr>
        <a:ln>
          <a:solidFill>
            <a:srgbClr val="3333B2"/>
          </a:solidFill>
        </a:ln>
      </dgm:spPr>
      <dgm:t>
        <a:bodyPr/>
        <a:lstStyle/>
        <a:p>
          <a:r>
            <a:rPr lang="en-US" sz="700" dirty="0">
              <a:latin typeface="Times New Roman" panose="02020603050405020304" pitchFamily="18" charset="0"/>
              <a:cs typeface="Times New Roman" panose="02020603050405020304" pitchFamily="18" charset="0"/>
            </a:rPr>
            <a:t>Effect of short-term interest rate on GINI coefficient</a:t>
          </a:r>
        </a:p>
      </dgm:t>
    </dgm:pt>
    <dgm:pt modelId="{845FE2E9-E856-437E-829F-CFD395FDC043}" type="parTrans" cxnId="{7F3A260E-B9A6-476F-B9C4-3F6C0FAF56FE}">
      <dgm:prSet/>
      <dgm:spPr/>
      <dgm:t>
        <a:bodyPr/>
        <a:lstStyle/>
        <a:p>
          <a:endParaRPr lang="en-US"/>
        </a:p>
      </dgm:t>
    </dgm:pt>
    <dgm:pt modelId="{A5F6D6DF-A983-4FF4-9517-1BAB3E7E24DE}" type="sibTrans" cxnId="{7F3A260E-B9A6-476F-B9C4-3F6C0FAF56FE}">
      <dgm:prSet/>
      <dgm:spPr/>
      <dgm:t>
        <a:bodyPr/>
        <a:lstStyle/>
        <a:p>
          <a:endParaRPr lang="en-US"/>
        </a:p>
      </dgm:t>
    </dgm:pt>
    <dgm:pt modelId="{32D0DE08-D76F-43C1-884F-7A65B9BEDDAE}">
      <dgm:prSet custT="1"/>
      <dgm:spPr>
        <a:ln>
          <a:solidFill>
            <a:srgbClr val="3333B2"/>
          </a:solidFill>
        </a:ln>
      </dgm:spPr>
      <dgm:t>
        <a:bodyPr/>
        <a:lstStyle/>
        <a:p>
          <a:r>
            <a:rPr lang="en-US" sz="700" dirty="0">
              <a:latin typeface="Times New Roman" panose="02020603050405020304" pitchFamily="18" charset="0"/>
              <a:cs typeface="Times New Roman" panose="02020603050405020304" pitchFamily="18" charset="0"/>
            </a:rPr>
            <a:t>Asymmetric effects of unanticipated MP</a:t>
          </a:r>
        </a:p>
      </dgm:t>
    </dgm:pt>
    <dgm:pt modelId="{F06CD5BD-6A20-4C2B-A3B0-C8523DD7C6F5}" type="parTrans" cxnId="{DCF0F0FF-31B0-41D8-90E9-E4CA5C8A67A4}">
      <dgm:prSet/>
      <dgm:spPr/>
      <dgm:t>
        <a:bodyPr/>
        <a:lstStyle/>
        <a:p>
          <a:endParaRPr lang="en-US"/>
        </a:p>
      </dgm:t>
    </dgm:pt>
    <dgm:pt modelId="{68B231E3-BFCC-4ECE-85EE-AF1F7D1F81C6}" type="sibTrans" cxnId="{DCF0F0FF-31B0-41D8-90E9-E4CA5C8A67A4}">
      <dgm:prSet/>
      <dgm:spPr/>
      <dgm:t>
        <a:bodyPr/>
        <a:lstStyle/>
        <a:p>
          <a:endParaRPr lang="en-US"/>
        </a:p>
      </dgm:t>
    </dgm:pt>
    <dgm:pt modelId="{75011D97-1C3E-4C6D-90C0-B4813F67238F}">
      <dgm:prSet custT="1"/>
      <dgm:spPr>
        <a:ln>
          <a:solidFill>
            <a:srgbClr val="3333B2"/>
          </a:solidFill>
        </a:ln>
      </dgm:spPr>
      <dgm:t>
        <a:bodyPr/>
        <a:lstStyle/>
        <a:p>
          <a:endParaRPr lang="en-US" sz="7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4520B18-C1CD-45E8-8137-9709F59739B7}" type="parTrans" cxnId="{A2D2BB6C-A269-43FD-AA88-8BAEE5127B07}">
      <dgm:prSet/>
      <dgm:spPr/>
      <dgm:t>
        <a:bodyPr/>
        <a:lstStyle/>
        <a:p>
          <a:endParaRPr lang="en-US"/>
        </a:p>
      </dgm:t>
    </dgm:pt>
    <dgm:pt modelId="{1A8D50DB-77D3-498A-A6F8-47BC5C8D8DEB}" type="sibTrans" cxnId="{A2D2BB6C-A269-43FD-AA88-8BAEE5127B07}">
      <dgm:prSet/>
      <dgm:spPr/>
      <dgm:t>
        <a:bodyPr/>
        <a:lstStyle/>
        <a:p>
          <a:endParaRPr lang="en-US"/>
        </a:p>
      </dgm:t>
    </dgm:pt>
    <dgm:pt modelId="{A6713012-C259-4029-A5D0-D052631DA1BA}">
      <dgm:prSet custT="1"/>
      <dgm:spPr>
        <a:ln>
          <a:solidFill>
            <a:srgbClr val="3333B2"/>
          </a:solidFill>
        </a:ln>
      </dgm:spPr>
      <dgm:t>
        <a:bodyPr/>
        <a:lstStyle/>
        <a:p>
          <a:endParaRPr lang="en-US" sz="7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2346F0F-4F4C-4652-91EC-78448353AF30}" type="parTrans" cxnId="{1E9D2717-70F5-4DC7-A171-33B6B1BDA340}">
      <dgm:prSet/>
      <dgm:spPr/>
      <dgm:t>
        <a:bodyPr/>
        <a:lstStyle/>
        <a:p>
          <a:endParaRPr lang="en-US"/>
        </a:p>
      </dgm:t>
    </dgm:pt>
    <dgm:pt modelId="{D9406952-EB24-40AD-9E23-4E3F3CE23ED8}" type="sibTrans" cxnId="{1E9D2717-70F5-4DC7-A171-33B6B1BDA340}">
      <dgm:prSet/>
      <dgm:spPr/>
      <dgm:t>
        <a:bodyPr/>
        <a:lstStyle/>
        <a:p>
          <a:endParaRPr lang="en-US"/>
        </a:p>
      </dgm:t>
    </dgm:pt>
    <dgm:pt modelId="{7B12D52F-DA51-4795-B82C-73CED4E1CD09}">
      <dgm:prSet custT="1"/>
      <dgm:spPr>
        <a:ln>
          <a:solidFill>
            <a:srgbClr val="3333B2"/>
          </a:solidFill>
        </a:ln>
      </dgm:spPr>
      <dgm:t>
        <a:bodyPr/>
        <a:lstStyle/>
        <a:p>
          <a:r>
            <a:rPr lang="en-US" sz="700" dirty="0">
              <a:latin typeface="Times New Roman" panose="02020603050405020304" pitchFamily="18" charset="0"/>
              <a:cs typeface="Times New Roman" panose="02020603050405020304" pitchFamily="18" charset="0"/>
            </a:rPr>
            <a:t>Degree of redistribution after taxes and transfers is important. </a:t>
          </a:r>
        </a:p>
      </dgm:t>
    </dgm:pt>
    <dgm:pt modelId="{6401F646-EE80-4679-9F80-CAEA2D8DB9BB}" type="parTrans" cxnId="{4851B40A-ABBD-4529-9199-416CC7B0F68A}">
      <dgm:prSet/>
      <dgm:spPr/>
      <dgm:t>
        <a:bodyPr/>
        <a:lstStyle/>
        <a:p>
          <a:endParaRPr lang="en-US"/>
        </a:p>
      </dgm:t>
    </dgm:pt>
    <dgm:pt modelId="{2D5C32A7-602C-441F-93E2-1FE0383E1D0B}" type="sibTrans" cxnId="{4851B40A-ABBD-4529-9199-416CC7B0F68A}">
      <dgm:prSet/>
      <dgm:spPr/>
      <dgm:t>
        <a:bodyPr/>
        <a:lstStyle/>
        <a:p>
          <a:endParaRPr lang="en-US"/>
        </a:p>
      </dgm:t>
    </dgm:pt>
    <dgm:pt modelId="{53E27216-52C6-415E-81AA-BC3E64400662}">
      <dgm:prSet phldrT="[Text]" custT="1"/>
      <dgm:spPr>
        <a:ln>
          <a:solidFill>
            <a:srgbClr val="3333B2"/>
          </a:solidFill>
        </a:ln>
      </dgm:spPr>
      <dgm:t>
        <a:bodyPr/>
        <a:lstStyle/>
        <a:p>
          <a:pPr algn="just"/>
          <a:endParaRPr lang="en-US" sz="7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E56F50C-A93B-488E-9EEF-9941DA259601}" type="parTrans" cxnId="{B705FA2D-49F6-49CB-A1F3-17DD9AA16623}">
      <dgm:prSet/>
      <dgm:spPr/>
      <dgm:t>
        <a:bodyPr/>
        <a:lstStyle/>
        <a:p>
          <a:endParaRPr lang="en-US"/>
        </a:p>
      </dgm:t>
    </dgm:pt>
    <dgm:pt modelId="{78AF4F4D-B799-499F-95A8-A62846F89C3B}" type="sibTrans" cxnId="{B705FA2D-49F6-49CB-A1F3-17DD9AA16623}">
      <dgm:prSet/>
      <dgm:spPr/>
      <dgm:t>
        <a:bodyPr/>
        <a:lstStyle/>
        <a:p>
          <a:endParaRPr lang="en-US"/>
        </a:p>
      </dgm:t>
    </dgm:pt>
    <dgm:pt modelId="{888836EA-C279-4790-B54C-783D54694B6A}">
      <dgm:prSet phldrT="[Text]" custT="1"/>
      <dgm:spPr>
        <a:ln>
          <a:solidFill>
            <a:srgbClr val="3333B2"/>
          </a:solidFill>
        </a:ln>
      </dgm:spPr>
      <dgm:t>
        <a:bodyPr/>
        <a:lstStyle/>
        <a:p>
          <a:pPr algn="l"/>
          <a:r>
            <a:rPr lang="en-US" sz="700" dirty="0">
              <a:latin typeface="Times New Roman" panose="02020603050405020304" pitchFamily="18" charset="0"/>
              <a:cs typeface="Times New Roman" panose="02020603050405020304" pitchFamily="18" charset="0"/>
            </a:rPr>
            <a:t>MP impact is higher under low uncertainty.</a:t>
          </a:r>
        </a:p>
      </dgm:t>
    </dgm:pt>
    <dgm:pt modelId="{36890411-61A0-4838-B5A2-C5AA1AF79B70}" type="parTrans" cxnId="{6542F65B-7634-4FBA-B3A0-2352063AC1A0}">
      <dgm:prSet/>
      <dgm:spPr/>
      <dgm:t>
        <a:bodyPr/>
        <a:lstStyle/>
        <a:p>
          <a:endParaRPr lang="en-US"/>
        </a:p>
      </dgm:t>
    </dgm:pt>
    <dgm:pt modelId="{78CECF36-6DE5-4031-A0C7-47909F9AD72B}" type="sibTrans" cxnId="{6542F65B-7634-4FBA-B3A0-2352063AC1A0}">
      <dgm:prSet/>
      <dgm:spPr/>
      <dgm:t>
        <a:bodyPr/>
        <a:lstStyle/>
        <a:p>
          <a:endParaRPr lang="en-US"/>
        </a:p>
      </dgm:t>
    </dgm:pt>
    <dgm:pt modelId="{F0F2BD73-DF4C-4DA9-B399-0509321CC7B1}">
      <dgm:prSet phldrT="[Text]" custT="1"/>
      <dgm:spPr>
        <a:ln>
          <a:solidFill>
            <a:srgbClr val="3333B2"/>
          </a:solidFill>
        </a:ln>
      </dgm:spPr>
      <dgm:t>
        <a:bodyPr/>
        <a:lstStyle/>
        <a:p>
          <a:pPr algn="l"/>
          <a:endParaRPr lang="en-US" sz="7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D87A488-E77A-4E10-88D5-BBC7F7E46ADB}" type="parTrans" cxnId="{9D94AC0B-1346-4623-90E8-44B8A53FCA23}">
      <dgm:prSet/>
      <dgm:spPr/>
      <dgm:t>
        <a:bodyPr/>
        <a:lstStyle/>
        <a:p>
          <a:endParaRPr lang="en-US"/>
        </a:p>
      </dgm:t>
    </dgm:pt>
    <dgm:pt modelId="{CC9411A7-D79D-499D-B26E-29A38BA20D73}" type="sibTrans" cxnId="{9D94AC0B-1346-4623-90E8-44B8A53FCA23}">
      <dgm:prSet/>
      <dgm:spPr/>
      <dgm:t>
        <a:bodyPr/>
        <a:lstStyle/>
        <a:p>
          <a:endParaRPr lang="en-US"/>
        </a:p>
      </dgm:t>
    </dgm:pt>
    <dgm:pt modelId="{8C6827C1-3EB6-4CC7-84D7-BA516FA51664}">
      <dgm:prSet phldrT="[Text]" custT="1"/>
      <dgm:spPr>
        <a:ln>
          <a:solidFill>
            <a:srgbClr val="3333B2"/>
          </a:solidFill>
        </a:ln>
      </dgm:spPr>
      <dgm:t>
        <a:bodyPr/>
        <a:lstStyle/>
        <a:p>
          <a:pPr algn="l"/>
          <a:endParaRPr lang="en-US" sz="7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B07CE02-FD26-4B73-9BD5-0FDDAA9CC0BF}" type="parTrans" cxnId="{279DDB05-7452-45ED-92DF-213F72CD22A6}">
      <dgm:prSet/>
      <dgm:spPr/>
      <dgm:t>
        <a:bodyPr/>
        <a:lstStyle/>
        <a:p>
          <a:endParaRPr lang="en-US"/>
        </a:p>
      </dgm:t>
    </dgm:pt>
    <dgm:pt modelId="{D49832BA-9390-441F-87EF-9BD262665921}" type="sibTrans" cxnId="{279DDB05-7452-45ED-92DF-213F72CD22A6}">
      <dgm:prSet/>
      <dgm:spPr/>
      <dgm:t>
        <a:bodyPr/>
        <a:lstStyle/>
        <a:p>
          <a:endParaRPr lang="en-US"/>
        </a:p>
      </dgm:t>
    </dgm:pt>
    <dgm:pt modelId="{8BCDB0DC-BADF-47A2-976D-30AAC3786850}">
      <dgm:prSet custT="1"/>
      <dgm:spPr>
        <a:ln>
          <a:solidFill>
            <a:srgbClr val="3333B2"/>
          </a:solidFill>
        </a:ln>
      </dgm:spPr>
      <dgm:t>
        <a:bodyPr/>
        <a:lstStyle/>
        <a:p>
          <a:endParaRPr lang="en-US" sz="7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6F77642-6367-4363-9D59-448940B8320D}" type="parTrans" cxnId="{EB35FDBD-CA19-4D62-9687-AFE580A854B4}">
      <dgm:prSet/>
      <dgm:spPr/>
      <dgm:t>
        <a:bodyPr/>
        <a:lstStyle/>
        <a:p>
          <a:endParaRPr lang="en-US"/>
        </a:p>
      </dgm:t>
    </dgm:pt>
    <dgm:pt modelId="{E7729033-FD10-4987-8A06-F076068A0410}" type="sibTrans" cxnId="{EB35FDBD-CA19-4D62-9687-AFE580A854B4}">
      <dgm:prSet/>
      <dgm:spPr/>
      <dgm:t>
        <a:bodyPr/>
        <a:lstStyle/>
        <a:p>
          <a:endParaRPr lang="en-US"/>
        </a:p>
      </dgm:t>
    </dgm:pt>
    <dgm:pt modelId="{424D7174-FEE0-45DA-AC51-D979F13E7D36}">
      <dgm:prSet custT="1"/>
      <dgm:spPr>
        <a:ln>
          <a:solidFill>
            <a:srgbClr val="3333B2"/>
          </a:solidFill>
        </a:ln>
      </dgm:spPr>
      <dgm:t>
        <a:bodyPr/>
        <a:lstStyle/>
        <a:p>
          <a:endParaRPr lang="en-US" sz="7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3D73C9C-B1C6-40E5-979F-DADAADC3B2B2}" type="parTrans" cxnId="{E02A4AC2-7E17-4252-981B-1F4E7AF5ABAE}">
      <dgm:prSet/>
      <dgm:spPr/>
      <dgm:t>
        <a:bodyPr/>
        <a:lstStyle/>
        <a:p>
          <a:endParaRPr lang="en-US"/>
        </a:p>
      </dgm:t>
    </dgm:pt>
    <dgm:pt modelId="{CE58B2FA-8073-4A7F-A207-295583AE7926}" type="sibTrans" cxnId="{E02A4AC2-7E17-4252-981B-1F4E7AF5ABAE}">
      <dgm:prSet/>
      <dgm:spPr/>
      <dgm:t>
        <a:bodyPr/>
        <a:lstStyle/>
        <a:p>
          <a:endParaRPr lang="en-US"/>
        </a:p>
      </dgm:t>
    </dgm:pt>
    <dgm:pt modelId="{C0D7D822-5FBE-4053-A9F6-094AD86F3CA4}">
      <dgm:prSet phldrT="[Text]" custT="1"/>
      <dgm:spPr>
        <a:ln>
          <a:solidFill>
            <a:srgbClr val="3333B2"/>
          </a:solidFill>
        </a:ln>
      </dgm:spPr>
      <dgm:t>
        <a:bodyPr/>
        <a:lstStyle/>
        <a:p>
          <a:r>
            <a:rPr lang="en-US" sz="750" dirty="0">
              <a:latin typeface="Times New Roman" panose="02020603050405020304" pitchFamily="18" charset="0"/>
              <a:cs typeface="Times New Roman" panose="02020603050405020304" pitchFamily="18" charset="0"/>
            </a:rPr>
            <a:t>US 1979-2012</a:t>
          </a:r>
        </a:p>
      </dgm:t>
    </dgm:pt>
    <dgm:pt modelId="{FE3C8FA8-A289-4730-9020-1F6E0FA79496}" type="parTrans" cxnId="{2717660A-45D7-4793-B433-CC81BC94C049}">
      <dgm:prSet/>
      <dgm:spPr/>
      <dgm:t>
        <a:bodyPr/>
        <a:lstStyle/>
        <a:p>
          <a:endParaRPr lang="en-US"/>
        </a:p>
      </dgm:t>
    </dgm:pt>
    <dgm:pt modelId="{D56A3D6A-AF08-422D-89C7-612CB96C8A11}" type="sibTrans" cxnId="{2717660A-45D7-4793-B433-CC81BC94C049}">
      <dgm:prSet/>
      <dgm:spPr/>
      <dgm:t>
        <a:bodyPr/>
        <a:lstStyle/>
        <a:p>
          <a:endParaRPr lang="en-US"/>
        </a:p>
      </dgm:t>
    </dgm:pt>
    <dgm:pt modelId="{F2DD9893-747F-4D09-A6C9-4411A486376F}">
      <dgm:prSet custT="1"/>
      <dgm:spPr>
        <a:ln>
          <a:solidFill>
            <a:srgbClr val="3333B2"/>
          </a:solidFill>
        </a:ln>
      </dgm:spPr>
      <dgm:t>
        <a:bodyPr/>
        <a:lstStyle/>
        <a:p>
          <a:endParaRPr lang="en-US" sz="75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8C4D6A2-5196-4124-8AA3-F5F9A50F45CD}" type="parTrans" cxnId="{A8DF02FD-1C0E-4C4D-84D4-CB9595498EDF}">
      <dgm:prSet/>
      <dgm:spPr/>
      <dgm:t>
        <a:bodyPr/>
        <a:lstStyle/>
        <a:p>
          <a:endParaRPr lang="en-US"/>
        </a:p>
      </dgm:t>
    </dgm:pt>
    <dgm:pt modelId="{04B28CE0-28FC-4AF8-9E94-4C0D27D7BD27}" type="sibTrans" cxnId="{A8DF02FD-1C0E-4C4D-84D4-CB9595498EDF}">
      <dgm:prSet/>
      <dgm:spPr/>
      <dgm:t>
        <a:bodyPr/>
        <a:lstStyle/>
        <a:p>
          <a:endParaRPr lang="en-US"/>
        </a:p>
      </dgm:t>
    </dgm:pt>
    <dgm:pt modelId="{9F63E6A9-9DB3-4D99-A083-D44A4DC1CF84}">
      <dgm:prSet custT="1"/>
      <dgm:spPr>
        <a:ln>
          <a:solidFill>
            <a:srgbClr val="3333B2"/>
          </a:solidFill>
        </a:ln>
      </dgm:spPr>
      <dgm:t>
        <a:bodyPr/>
        <a:lstStyle/>
        <a:p>
          <a:endParaRPr lang="en-US" sz="75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52AF4C8-8FB5-4959-AED2-F63798D69D93}" type="parTrans" cxnId="{413F91D6-AC48-47AA-BF37-8351DA386F0A}">
      <dgm:prSet/>
      <dgm:spPr/>
      <dgm:t>
        <a:bodyPr/>
        <a:lstStyle/>
        <a:p>
          <a:endParaRPr lang="en-US"/>
        </a:p>
      </dgm:t>
    </dgm:pt>
    <dgm:pt modelId="{C8564942-0552-491E-9542-8802188BE0F1}" type="sibTrans" cxnId="{413F91D6-AC48-47AA-BF37-8351DA386F0A}">
      <dgm:prSet/>
      <dgm:spPr/>
      <dgm:t>
        <a:bodyPr/>
        <a:lstStyle/>
        <a:p>
          <a:endParaRPr lang="en-US"/>
        </a:p>
      </dgm:t>
    </dgm:pt>
    <dgm:pt modelId="{40587D58-AA2E-47B5-817D-67ED0460D958}" type="pres">
      <dgm:prSet presAssocID="{1D133D48-D3D3-44E6-8801-F11962543AF1}" presName="Name0" presStyleCnt="0">
        <dgm:presLayoutVars>
          <dgm:dir/>
          <dgm:animLvl val="lvl"/>
          <dgm:resizeHandles val="exact"/>
        </dgm:presLayoutVars>
      </dgm:prSet>
      <dgm:spPr/>
    </dgm:pt>
    <dgm:pt modelId="{0296E2DF-1FFE-457F-8A50-68AC5C8AC354}" type="pres">
      <dgm:prSet presAssocID="{FF4AA4ED-0F44-40C0-ABBF-D9664DAB84EE}" presName="composite" presStyleCnt="0"/>
      <dgm:spPr/>
    </dgm:pt>
    <dgm:pt modelId="{24B46811-9136-4E63-8BC3-AF4C321954B1}" type="pres">
      <dgm:prSet presAssocID="{FF4AA4ED-0F44-40C0-ABBF-D9664DAB84EE}" presName="parTx" presStyleLbl="alignNode1" presStyleIdx="0" presStyleCnt="5" custLinFactNeighborX="1049" custLinFactNeighborY="-14657">
        <dgm:presLayoutVars>
          <dgm:chMax val="0"/>
          <dgm:chPref val="0"/>
          <dgm:bulletEnabled val="1"/>
        </dgm:presLayoutVars>
      </dgm:prSet>
      <dgm:spPr/>
    </dgm:pt>
    <dgm:pt modelId="{84C1A79C-FAB9-4AAE-8534-E39A11B518F6}" type="pres">
      <dgm:prSet presAssocID="{FF4AA4ED-0F44-40C0-ABBF-D9664DAB84EE}" presName="desTx" presStyleLbl="alignAccFollowNode1" presStyleIdx="0" presStyleCnt="5" custScaleY="98472" custLinFactNeighborX="1983" custLinFactNeighborY="6000">
        <dgm:presLayoutVars>
          <dgm:bulletEnabled val="1"/>
        </dgm:presLayoutVars>
      </dgm:prSet>
      <dgm:spPr/>
    </dgm:pt>
    <dgm:pt modelId="{70D89185-6589-47D8-9225-0268B9A3A9F0}" type="pres">
      <dgm:prSet presAssocID="{B11AF3F8-372A-451D-8E88-35BAE622C04B}" presName="space" presStyleCnt="0"/>
      <dgm:spPr/>
    </dgm:pt>
    <dgm:pt modelId="{076BE2AD-8772-4755-9438-F9150CD3A125}" type="pres">
      <dgm:prSet presAssocID="{EC3E148C-862A-46FB-A87A-EEF62BF11F6C}" presName="composite" presStyleCnt="0"/>
      <dgm:spPr/>
    </dgm:pt>
    <dgm:pt modelId="{748F4636-B263-460A-9F14-69565D21416C}" type="pres">
      <dgm:prSet presAssocID="{EC3E148C-862A-46FB-A87A-EEF62BF11F6C}" presName="parTx" presStyleLbl="alignNode1" presStyleIdx="1" presStyleCnt="5" custLinFactNeighborX="-1494" custLinFactNeighborY="-12265">
        <dgm:presLayoutVars>
          <dgm:chMax val="0"/>
          <dgm:chPref val="0"/>
          <dgm:bulletEnabled val="1"/>
        </dgm:presLayoutVars>
      </dgm:prSet>
      <dgm:spPr/>
    </dgm:pt>
    <dgm:pt modelId="{5944B2D2-4ADB-45DC-947F-5444C332786A}" type="pres">
      <dgm:prSet presAssocID="{EC3E148C-862A-46FB-A87A-EEF62BF11F6C}" presName="desTx" presStyleLbl="alignAccFollowNode1" presStyleIdx="1" presStyleCnt="5" custLinFactNeighborX="-1494" custLinFactNeighborY="89169">
        <dgm:presLayoutVars>
          <dgm:bulletEnabled val="1"/>
        </dgm:presLayoutVars>
      </dgm:prSet>
      <dgm:spPr/>
    </dgm:pt>
    <dgm:pt modelId="{9F0D1017-6A4F-4313-816A-203AC7A5F894}" type="pres">
      <dgm:prSet presAssocID="{1C737BC4-ADEA-40C5-AE7E-A4A5E675130A}" presName="space" presStyleCnt="0"/>
      <dgm:spPr/>
    </dgm:pt>
    <dgm:pt modelId="{38C55F50-286E-48EB-BEF2-8DACEB8D82D4}" type="pres">
      <dgm:prSet presAssocID="{BD17711D-885A-44DC-AC61-5A20407BF71F}" presName="composite" presStyleCnt="0"/>
      <dgm:spPr/>
    </dgm:pt>
    <dgm:pt modelId="{CD0DBDAC-E2DE-4259-A934-DD00AE8EF791}" type="pres">
      <dgm:prSet presAssocID="{BD17711D-885A-44DC-AC61-5A20407BF71F}" presName="parTx" presStyleLbl="alignNode1" presStyleIdx="2" presStyleCnt="5" custLinFactNeighborX="-2606" custLinFactNeighborY="-14190">
        <dgm:presLayoutVars>
          <dgm:chMax val="0"/>
          <dgm:chPref val="0"/>
          <dgm:bulletEnabled val="1"/>
        </dgm:presLayoutVars>
      </dgm:prSet>
      <dgm:spPr/>
    </dgm:pt>
    <dgm:pt modelId="{64209384-5620-4506-AD17-CCC102399122}" type="pres">
      <dgm:prSet presAssocID="{BD17711D-885A-44DC-AC61-5A20407BF71F}" presName="desTx" presStyleLbl="alignAccFollowNode1" presStyleIdx="2" presStyleCnt="5" custLinFactNeighborX="-3545" custLinFactNeighborY="89169">
        <dgm:presLayoutVars>
          <dgm:bulletEnabled val="1"/>
        </dgm:presLayoutVars>
      </dgm:prSet>
      <dgm:spPr/>
    </dgm:pt>
    <dgm:pt modelId="{15FBD1CD-9971-4844-8E86-3D16A2320533}" type="pres">
      <dgm:prSet presAssocID="{29F927A9-E95B-4F85-99B1-CCDD1E883207}" presName="space" presStyleCnt="0"/>
      <dgm:spPr/>
    </dgm:pt>
    <dgm:pt modelId="{1C9E5E9A-4360-4541-8BAF-99F179FEEC74}" type="pres">
      <dgm:prSet presAssocID="{5FC60275-69BF-4A01-84B8-4D781F843655}" presName="composite" presStyleCnt="0"/>
      <dgm:spPr/>
    </dgm:pt>
    <dgm:pt modelId="{BE87F508-84DC-4849-805B-AD734DAE9DE3}" type="pres">
      <dgm:prSet presAssocID="{5FC60275-69BF-4A01-84B8-4D781F843655}" presName="parTx" presStyleLbl="alignNode1" presStyleIdx="3" presStyleCnt="5" custLinFactNeighborY="-14190">
        <dgm:presLayoutVars>
          <dgm:chMax val="0"/>
          <dgm:chPref val="0"/>
          <dgm:bulletEnabled val="1"/>
        </dgm:presLayoutVars>
      </dgm:prSet>
      <dgm:spPr/>
    </dgm:pt>
    <dgm:pt modelId="{538AE1A0-494E-492F-B2F6-0964B3F5D728}" type="pres">
      <dgm:prSet presAssocID="{5FC60275-69BF-4A01-84B8-4D781F843655}" presName="desTx" presStyleLbl="alignAccFollowNode1" presStyleIdx="3" presStyleCnt="5" custLinFactNeighborY="89167">
        <dgm:presLayoutVars>
          <dgm:bulletEnabled val="1"/>
        </dgm:presLayoutVars>
      </dgm:prSet>
      <dgm:spPr/>
    </dgm:pt>
    <dgm:pt modelId="{6E56188B-108B-400C-BC8D-51F0A2A8EA9F}" type="pres">
      <dgm:prSet presAssocID="{7AACCDD8-7E81-4EC7-9621-0EA89E1F9921}" presName="space" presStyleCnt="0"/>
      <dgm:spPr/>
    </dgm:pt>
    <dgm:pt modelId="{4DFCDE94-CEB0-43C3-A41F-5A2AAED4747E}" type="pres">
      <dgm:prSet presAssocID="{40466935-5395-43AC-83C8-F002704BF247}" presName="composite" presStyleCnt="0"/>
      <dgm:spPr/>
    </dgm:pt>
    <dgm:pt modelId="{7CE7F6B8-DFA3-41B3-994C-6E72841F5FC4}" type="pres">
      <dgm:prSet presAssocID="{40466935-5395-43AC-83C8-F002704BF247}" presName="parTx" presStyleLbl="alignNode1" presStyleIdx="4" presStyleCnt="5" custLinFactNeighborY="-14190">
        <dgm:presLayoutVars>
          <dgm:chMax val="0"/>
          <dgm:chPref val="0"/>
          <dgm:bulletEnabled val="1"/>
        </dgm:presLayoutVars>
      </dgm:prSet>
      <dgm:spPr/>
    </dgm:pt>
    <dgm:pt modelId="{5946217E-9C82-4689-A428-64478B47188B}" type="pres">
      <dgm:prSet presAssocID="{40466935-5395-43AC-83C8-F002704BF247}" presName="desTx" presStyleLbl="alignAccFollowNode1" presStyleIdx="4" presStyleCnt="5" custLinFactNeighborY="89167">
        <dgm:presLayoutVars>
          <dgm:bulletEnabled val="1"/>
        </dgm:presLayoutVars>
      </dgm:prSet>
      <dgm:spPr/>
    </dgm:pt>
  </dgm:ptLst>
  <dgm:cxnLst>
    <dgm:cxn modelId="{D07AC705-D71C-4CC4-8C94-DF1F5DFDCCDC}" type="presOf" srcId="{9F63E6A9-9DB3-4D99-A083-D44A4DC1CF84}" destId="{538AE1A0-494E-492F-B2F6-0964B3F5D728}" srcOrd="0" destOrd="4" presId="urn:microsoft.com/office/officeart/2005/8/layout/hList1"/>
    <dgm:cxn modelId="{279DDB05-7452-45ED-92DF-213F72CD22A6}" srcId="{BD17711D-885A-44DC-AC61-5A20407BF71F}" destId="{8C6827C1-3EB6-4CC7-84D7-BA516FA51664}" srcOrd="6" destOrd="0" parTransId="{0B07CE02-FD26-4B73-9BD5-0FDDAA9CC0BF}" sibTransId="{D49832BA-9390-441F-87EF-9BD262665921}"/>
    <dgm:cxn modelId="{2717660A-45D7-4793-B433-CC81BC94C049}" srcId="{5FC60275-69BF-4A01-84B8-4D781F843655}" destId="{C0D7D822-5FBE-4053-A9F6-094AD86F3CA4}" srcOrd="1" destOrd="0" parTransId="{FE3C8FA8-A289-4730-9020-1F6E0FA79496}" sibTransId="{D56A3D6A-AF08-422D-89C7-612CB96C8A11}"/>
    <dgm:cxn modelId="{375E4A0A-EF82-4345-BD6B-61B3E0045F74}" srcId="{5FC60275-69BF-4A01-84B8-4D781F843655}" destId="{6D925FFB-41F0-47FA-AC1A-F58B94A032A1}" srcOrd="2" destOrd="0" parTransId="{25EBB6E0-1843-44A7-8AD0-84A9DE3B2610}" sibTransId="{E4930C5C-CB2F-4AB9-AE78-7AEABC695706}"/>
    <dgm:cxn modelId="{4851B40A-ABBD-4529-9199-416CC7B0F68A}" srcId="{EC3E148C-862A-46FB-A87A-EEF62BF11F6C}" destId="{7B12D52F-DA51-4795-B82C-73CED4E1CD09}" srcOrd="7" destOrd="0" parTransId="{6401F646-EE80-4679-9F80-CAEA2D8DB9BB}" sibTransId="{2D5C32A7-602C-441F-93E2-1FE0383E1D0B}"/>
    <dgm:cxn modelId="{9D94AC0B-1346-4623-90E8-44B8A53FCA23}" srcId="{BD17711D-885A-44DC-AC61-5A20407BF71F}" destId="{F0F2BD73-DF4C-4DA9-B399-0509321CC7B1}" srcOrd="4" destOrd="0" parTransId="{0D87A488-E77A-4E10-88D5-BBC7F7E46ADB}" sibTransId="{CC9411A7-D79D-499D-B26E-29A38BA20D73}"/>
    <dgm:cxn modelId="{41FEA30C-1B9B-4B6C-BDB6-AEFBDAE9B7E1}" type="presOf" srcId="{5B0055EE-2FBD-470E-8E1A-1A8D12C0F7FD}" destId="{84C1A79C-FAB9-4AAE-8534-E39A11B518F6}" srcOrd="0" destOrd="2" presId="urn:microsoft.com/office/officeart/2005/8/layout/hList1"/>
    <dgm:cxn modelId="{7F3A260E-B9A6-476F-B9C4-3F6C0FAF56FE}" srcId="{FF4AA4ED-0F44-40C0-ABBF-D9664DAB84EE}" destId="{86A2D72C-3D70-4D3B-A324-D37F034CC58E}" srcOrd="3" destOrd="0" parTransId="{845FE2E9-E856-437E-829F-CFD395FDC043}" sibTransId="{A5F6D6DF-A983-4FF4-9517-1BAB3E7E24DE}"/>
    <dgm:cxn modelId="{0551A40E-FD7D-4EF7-908C-ABB5A0581969}" type="presOf" srcId="{D5114DE8-5FC2-4B7B-88EF-12AE7E6223B8}" destId="{64209384-5620-4506-AD17-CCC102399122}" srcOrd="0" destOrd="0" presId="urn:microsoft.com/office/officeart/2005/8/layout/hList1"/>
    <dgm:cxn modelId="{83AAA011-6206-4C37-837D-A2B8BC684288}" srcId="{FF4AA4ED-0F44-40C0-ABBF-D9664DAB84EE}" destId="{5B0055EE-2FBD-470E-8E1A-1A8D12C0F7FD}" srcOrd="2" destOrd="0" parTransId="{497A1C1A-7221-4DF8-8AF4-57B0A104F8FE}" sibTransId="{1ABF42B1-6E4C-444B-A60A-9582C24FFD53}"/>
    <dgm:cxn modelId="{1E9D2717-70F5-4DC7-A171-33B6B1BDA340}" srcId="{FF4AA4ED-0F44-40C0-ABBF-D9664DAB84EE}" destId="{A6713012-C259-4029-A5D0-D052631DA1BA}" srcOrd="6" destOrd="0" parTransId="{B2346F0F-4F4C-4652-91EC-78448353AF30}" sibTransId="{D9406952-EB24-40AD-9E23-4E3F3CE23ED8}"/>
    <dgm:cxn modelId="{696E5317-4F31-43D2-93CB-F852E7E68B4D}" srcId="{BD17711D-885A-44DC-AC61-5A20407BF71F}" destId="{9442D50F-2642-44EB-AD1F-FC7E518DC4A0}" srcOrd="3" destOrd="0" parTransId="{9FB2DF0D-AF9B-43AD-B986-50C75DB45F8E}" sibTransId="{F6DA5349-1289-46F4-9A99-D8F3BB9E0890}"/>
    <dgm:cxn modelId="{40FE621A-5385-42E0-8806-383202F51A64}" srcId="{1D133D48-D3D3-44E6-8801-F11962543AF1}" destId="{FF4AA4ED-0F44-40C0-ABBF-D9664DAB84EE}" srcOrd="0" destOrd="0" parTransId="{2B11B76A-7D5F-403A-ABF5-A5A46DCE3606}" sibTransId="{B11AF3F8-372A-451D-8E88-35BAE622C04B}"/>
    <dgm:cxn modelId="{D0322E22-4A74-49AE-9E9B-A0FDBBB092C8}" srcId="{EC3E148C-862A-46FB-A87A-EEF62BF11F6C}" destId="{C894076E-4C54-4D9B-9D2E-9C731BC36216}" srcOrd="1" destOrd="0" parTransId="{0A25D404-2054-4679-B0AE-E0A960FB0DDE}" sibTransId="{D84ED3D4-D89C-4CDE-AE3A-EAFA62630979}"/>
    <dgm:cxn modelId="{B705FA2D-49F6-49CB-A1F3-17DD9AA16623}" srcId="{BD17711D-885A-44DC-AC61-5A20407BF71F}" destId="{53E27216-52C6-415E-81AA-BC3E64400662}" srcOrd="2" destOrd="0" parTransId="{1E56F50C-A93B-488E-9EEF-9941DA259601}" sibTransId="{78AF4F4D-B799-499F-95A8-A62846F89C3B}"/>
    <dgm:cxn modelId="{B26B4B31-361F-45C6-8D2D-DDD372CD1F08}" type="presOf" srcId="{07A85AE0-6E71-421F-96CB-D479AF582487}" destId="{64209384-5620-4506-AD17-CCC102399122}" srcOrd="0" destOrd="1" presId="urn:microsoft.com/office/officeart/2005/8/layout/hList1"/>
    <dgm:cxn modelId="{FF113A37-6960-4276-ADBF-2C1F101D6A96}" srcId="{5FC60275-69BF-4A01-84B8-4D781F843655}" destId="{BF0448E0-B477-4723-8CFA-4C21F7BA091B}" srcOrd="0" destOrd="0" parTransId="{0F411AD6-FB6C-4954-9533-B5DF1FC931D7}" sibTransId="{4FEE6A8A-FBA7-41E8-B8DA-188BD49AE20D}"/>
    <dgm:cxn modelId="{85343E3A-2A49-41C0-9B39-0DCF0933E107}" srcId="{5FC60275-69BF-4A01-84B8-4D781F843655}" destId="{1416E64F-16E0-4676-8613-BCA9ABF5D6D0}" srcOrd="8" destOrd="0" parTransId="{0F49C544-2C8F-4D4B-B06D-07D14D0EC332}" sibTransId="{B49ECCDF-0282-4B5F-A700-DEBF467EB7A4}"/>
    <dgm:cxn modelId="{FEFF1A40-DCE8-4CE7-81FF-CD5B859AB35F}" type="presOf" srcId="{32D0DE08-D76F-43C1-884F-7A65B9BEDDAE}" destId="{84C1A79C-FAB9-4AAE-8534-E39A11B518F6}" srcOrd="0" destOrd="7" presId="urn:microsoft.com/office/officeart/2005/8/layout/hList1"/>
    <dgm:cxn modelId="{6542F65B-7634-4FBA-B3A0-2352063AC1A0}" srcId="{BD17711D-885A-44DC-AC61-5A20407BF71F}" destId="{888836EA-C279-4790-B54C-783D54694B6A}" srcOrd="7" destOrd="0" parTransId="{36890411-61A0-4838-B5A2-C5AA1AF79B70}" sibTransId="{78CECF36-6DE5-4031-A0C7-47909F9AD72B}"/>
    <dgm:cxn modelId="{DCAA4D5C-5934-476F-AB3B-43F192E7D0C8}" type="presOf" srcId="{10996737-3FD3-4143-BB3A-06F248147F7E}" destId="{5946217E-9C82-4689-A428-64478B47188B}" srcOrd="0" destOrd="1" presId="urn:microsoft.com/office/officeart/2005/8/layout/hList1"/>
    <dgm:cxn modelId="{CD98585E-3A00-4452-89C8-0A88E4464E68}" type="presOf" srcId="{42444967-02CA-4851-BB3D-D82880A6D7CF}" destId="{538AE1A0-494E-492F-B2F6-0964B3F5D728}" srcOrd="0" destOrd="3" presId="urn:microsoft.com/office/officeart/2005/8/layout/hList1"/>
    <dgm:cxn modelId="{0F98A964-3824-4F09-A149-378ED3A90F0A}" type="presOf" srcId="{8C6827C1-3EB6-4CC7-84D7-BA516FA51664}" destId="{64209384-5620-4506-AD17-CCC102399122}" srcOrd="0" destOrd="6" presId="urn:microsoft.com/office/officeart/2005/8/layout/hList1"/>
    <dgm:cxn modelId="{1C8D8B66-C5BF-4BE9-9740-D6CF07C699BB}" type="presOf" srcId="{A6713012-C259-4029-A5D0-D052631DA1BA}" destId="{84C1A79C-FAB9-4AAE-8534-E39A11B518F6}" srcOrd="0" destOrd="6" presId="urn:microsoft.com/office/officeart/2005/8/layout/hList1"/>
    <dgm:cxn modelId="{4F510B67-9A03-4012-814E-3304FB442698}" type="presOf" srcId="{0E3FB3F4-8F05-4B1D-98AF-4B651DAC64C6}" destId="{64209384-5620-4506-AD17-CCC102399122}" srcOrd="0" destOrd="8" presId="urn:microsoft.com/office/officeart/2005/8/layout/hList1"/>
    <dgm:cxn modelId="{62CBBF67-281A-4CCD-B862-397EDE3ECB52}" srcId="{BD17711D-885A-44DC-AC61-5A20407BF71F}" destId="{8DF10D41-DD9E-4BD7-A54C-6D15809186DB}" srcOrd="5" destOrd="0" parTransId="{1A1A3D11-CC65-492C-82BD-92C6E9EAB97A}" sibTransId="{1D6731AC-4963-4DC3-8DCF-3F2C91F0875A}"/>
    <dgm:cxn modelId="{3F465149-C109-4460-9384-687F194303BC}" type="presOf" srcId="{7B12D52F-DA51-4795-B82C-73CED4E1CD09}" destId="{5944B2D2-4ADB-45DC-947F-5444C332786A}" srcOrd="0" destOrd="7" presId="urn:microsoft.com/office/officeart/2005/8/layout/hList1"/>
    <dgm:cxn modelId="{05315249-890F-41F0-B16D-ED65C7017FD4}" srcId="{1D133D48-D3D3-44E6-8801-F11962543AF1}" destId="{40466935-5395-43AC-83C8-F002704BF247}" srcOrd="4" destOrd="0" parTransId="{90433593-A985-4A94-9E62-9EC9D628F791}" sibTransId="{117C6F3C-6A5C-4CC5-8C1B-93E9DBC6AA8E}"/>
    <dgm:cxn modelId="{5EED5C6A-A980-4CFE-91E3-0D5BAFA2BCCC}" type="presOf" srcId="{336CFE1F-3027-4599-81D8-F23E01EED752}" destId="{5946217E-9C82-4689-A428-64478B47188B}" srcOrd="0" destOrd="2" presId="urn:microsoft.com/office/officeart/2005/8/layout/hList1"/>
    <dgm:cxn modelId="{D0C40F4B-7691-48D6-ABE1-71F73CEE010F}" type="presOf" srcId="{53E27216-52C6-415E-81AA-BC3E64400662}" destId="{64209384-5620-4506-AD17-CCC102399122}" srcOrd="0" destOrd="2" presId="urn:microsoft.com/office/officeart/2005/8/layout/hList1"/>
    <dgm:cxn modelId="{7081BF4B-40B1-470B-ACD2-AB638E3CFB6A}" srcId="{5FC60275-69BF-4A01-84B8-4D781F843655}" destId="{6EBB1BCE-5C7D-447F-8292-28DC4D0F8317}" srcOrd="5" destOrd="0" parTransId="{CCE4742B-2CC1-440C-8912-D3335331A911}" sibTransId="{B8A1893B-DCA8-40FF-A9D4-E1EEB1B9F6A4}"/>
    <dgm:cxn modelId="{A2D2BB6C-A269-43FD-AA88-8BAEE5127B07}" srcId="{FF4AA4ED-0F44-40C0-ABBF-D9664DAB84EE}" destId="{75011D97-1C3E-4C6D-90C0-B4813F67238F}" srcOrd="4" destOrd="0" parTransId="{94520B18-C1CD-45E8-8137-9709F59739B7}" sibTransId="{1A8D50DB-77D3-498A-A6F8-47BC5C8D8DEB}"/>
    <dgm:cxn modelId="{1F02864E-6E99-4075-987C-A3331643A238}" type="presOf" srcId="{424D7174-FEE0-45DA-AC51-D979F13E7D36}" destId="{5944B2D2-4ADB-45DC-947F-5444C332786A}" srcOrd="0" destOrd="6" presId="urn:microsoft.com/office/officeart/2005/8/layout/hList1"/>
    <dgm:cxn modelId="{9A01F770-9B30-4BEF-8105-635753DB93A0}" srcId="{BD17711D-885A-44DC-AC61-5A20407BF71F}" destId="{0E3FB3F4-8F05-4B1D-98AF-4B651DAC64C6}" srcOrd="8" destOrd="0" parTransId="{BBB1CAAF-7410-4A05-8737-2DCE375F203D}" sibTransId="{F2C850F4-6506-47BB-9988-69E67A3582B1}"/>
    <dgm:cxn modelId="{9CAEFB50-28A0-4524-B874-D70665668863}" type="presOf" srcId="{C894076E-4C54-4D9B-9D2E-9C731BC36216}" destId="{5944B2D2-4ADB-45DC-947F-5444C332786A}" srcOrd="0" destOrd="1" presId="urn:microsoft.com/office/officeart/2005/8/layout/hList1"/>
    <dgm:cxn modelId="{14A26151-1B24-4054-B279-E6E6F694FFAD}" srcId="{EC3E148C-862A-46FB-A87A-EEF62BF11F6C}" destId="{7695576E-601F-4B7B-9A5C-16D866DD91B5}" srcOrd="3" destOrd="0" parTransId="{142A4160-F151-43F4-9259-A5E6826BB657}" sibTransId="{76E1BF57-F730-4929-99CD-F28214288174}"/>
    <dgm:cxn modelId="{FAF39372-A2F6-4FBB-B190-EC3CCC5CB2E2}" type="presOf" srcId="{AF04C2F2-43B8-4A86-833C-E8350E12E357}" destId="{5946217E-9C82-4689-A428-64478B47188B}" srcOrd="0" destOrd="0" presId="urn:microsoft.com/office/officeart/2005/8/layout/hList1"/>
    <dgm:cxn modelId="{9BFF2374-4E0D-400A-ADB3-16388FEEECE0}" type="presOf" srcId="{EC3E148C-862A-46FB-A87A-EEF62BF11F6C}" destId="{748F4636-B263-460A-9F14-69565D21416C}" srcOrd="0" destOrd="0" presId="urn:microsoft.com/office/officeart/2005/8/layout/hList1"/>
    <dgm:cxn modelId="{3FE66976-9CB9-47B3-ADD3-101FA7431487}" type="presOf" srcId="{58B8EC10-F434-45C5-8225-F6003123E2AB}" destId="{5946217E-9C82-4689-A428-64478B47188B}" srcOrd="0" destOrd="5" presId="urn:microsoft.com/office/officeart/2005/8/layout/hList1"/>
    <dgm:cxn modelId="{1A32B856-6EB2-40B8-A87F-E16822CC4CA1}" type="presOf" srcId="{9442D50F-2642-44EB-AD1F-FC7E518DC4A0}" destId="{64209384-5620-4506-AD17-CCC102399122}" srcOrd="0" destOrd="3" presId="urn:microsoft.com/office/officeart/2005/8/layout/hList1"/>
    <dgm:cxn modelId="{E0ACB557-FFF4-4F76-ACBF-ACA0261D724D}" type="presOf" srcId="{FF4AA4ED-0F44-40C0-ABBF-D9664DAB84EE}" destId="{24B46811-9136-4E63-8BC3-AF4C321954B1}" srcOrd="0" destOrd="0" presId="urn:microsoft.com/office/officeart/2005/8/layout/hList1"/>
    <dgm:cxn modelId="{10AC7078-743B-4409-B065-D6AA8CE7C092}" type="presOf" srcId="{7695576E-601F-4B7B-9A5C-16D866DD91B5}" destId="{5944B2D2-4ADB-45DC-947F-5444C332786A}" srcOrd="0" destOrd="3" presId="urn:microsoft.com/office/officeart/2005/8/layout/hList1"/>
    <dgm:cxn modelId="{FDDF3159-6DB0-465A-854D-B0E8FB7B6DD7}" type="presOf" srcId="{F2DD9893-747F-4D09-A6C9-4411A486376F}" destId="{538AE1A0-494E-492F-B2F6-0964B3F5D728}" srcOrd="0" destOrd="6" presId="urn:microsoft.com/office/officeart/2005/8/layout/hList1"/>
    <dgm:cxn modelId="{0BE88459-CA23-47B9-B185-4C0271008430}" type="presOf" srcId="{40466935-5395-43AC-83C8-F002704BF247}" destId="{7CE7F6B8-DFA3-41B3-994C-6E72841F5FC4}" srcOrd="0" destOrd="0" presId="urn:microsoft.com/office/officeart/2005/8/layout/hList1"/>
    <dgm:cxn modelId="{691CD781-3253-4BF7-BE6E-852E58A270A8}" type="presOf" srcId="{C0D7D822-5FBE-4053-A9F6-094AD86F3CA4}" destId="{538AE1A0-494E-492F-B2F6-0964B3F5D728}" srcOrd="0" destOrd="1" presId="urn:microsoft.com/office/officeart/2005/8/layout/hList1"/>
    <dgm:cxn modelId="{FEE05184-7E77-4116-A701-C1F6719DE6C8}" srcId="{FF4AA4ED-0F44-40C0-ABBF-D9664DAB84EE}" destId="{7B2BD4CF-4FB8-4C5B-9A16-B1C60F195E4C}" srcOrd="1" destOrd="0" parTransId="{3C48DBFB-996D-43D8-84B6-CA5EB73FDEDD}" sibTransId="{613AB30F-39F7-4BF4-A142-4CC522DD2429}"/>
    <dgm:cxn modelId="{B2CD8387-A01F-4503-87F2-A9DBDB69CA94}" srcId="{40466935-5395-43AC-83C8-F002704BF247}" destId="{10996737-3FD3-4143-BB3A-06F248147F7E}" srcOrd="1" destOrd="0" parTransId="{7B76176C-01E6-4E4C-9403-8D7790998853}" sibTransId="{BEAD64E5-8455-4973-B1C7-25E667F1C320}"/>
    <dgm:cxn modelId="{562A3089-B0D9-43B8-BB5B-83005467F3DA}" type="presOf" srcId="{FB42BB85-D94E-46C2-B506-926327DF5D41}" destId="{5946217E-9C82-4689-A428-64478B47188B}" srcOrd="0" destOrd="3" presId="urn:microsoft.com/office/officeart/2005/8/layout/hList1"/>
    <dgm:cxn modelId="{7CFE6389-3E5F-477A-BF04-0DE9E62E02E5}" type="presOf" srcId="{EF8BA0CB-9168-4DF3-B39A-B3701722FE40}" destId="{84C1A79C-FAB9-4AAE-8534-E39A11B518F6}" srcOrd="0" destOrd="0" presId="urn:microsoft.com/office/officeart/2005/8/layout/hList1"/>
    <dgm:cxn modelId="{0BC55C8B-E4CF-409B-9C6E-E77743CBC705}" srcId="{BD17711D-885A-44DC-AC61-5A20407BF71F}" destId="{D5114DE8-5FC2-4B7B-88EF-12AE7E6223B8}" srcOrd="0" destOrd="0" parTransId="{EAD0D399-85DB-488B-BAD6-AE3CB3288C71}" sibTransId="{71A41519-A5CA-4698-81D2-0F6AB7984D7E}"/>
    <dgm:cxn modelId="{3D13D78C-7E44-4AED-A108-E8FC13A16481}" srcId="{5FC60275-69BF-4A01-84B8-4D781F843655}" destId="{42444967-02CA-4851-BB3D-D82880A6D7CF}" srcOrd="3" destOrd="0" parTransId="{E32AD1CF-0DF0-40F5-A6F9-70E243AEC0D2}" sibTransId="{A25B76F8-8855-45F3-A0BD-BAFBF812773E}"/>
    <dgm:cxn modelId="{425E578E-D0F0-44F3-969D-7D4F75FDBAC0}" srcId="{40466935-5395-43AC-83C8-F002704BF247}" destId="{58B8EC10-F434-45C5-8225-F6003123E2AB}" srcOrd="5" destOrd="0" parTransId="{DEDDC244-486A-4E88-921B-9B596651541E}" sibTransId="{27FB3A91-983F-409D-98EA-D3254FA090CD}"/>
    <dgm:cxn modelId="{25E0F492-80D9-482C-816E-700632DA90D2}" type="presOf" srcId="{6EBB1BCE-5C7D-447F-8292-28DC4D0F8317}" destId="{538AE1A0-494E-492F-B2F6-0964B3F5D728}" srcOrd="0" destOrd="5" presId="urn:microsoft.com/office/officeart/2005/8/layout/hList1"/>
    <dgm:cxn modelId="{EFC35F96-DDCC-4DE8-9A76-55B8E3F63AD2}" type="presOf" srcId="{EEEBC669-5242-4ABA-A9A7-9B4254E7886C}" destId="{5944B2D2-4ADB-45DC-947F-5444C332786A}" srcOrd="0" destOrd="2" presId="urn:microsoft.com/office/officeart/2005/8/layout/hList1"/>
    <dgm:cxn modelId="{B9F6659B-99BC-4415-BF30-95773EFEA92B}" type="presOf" srcId="{1416E64F-16E0-4676-8613-BCA9ABF5D6D0}" destId="{538AE1A0-494E-492F-B2F6-0964B3F5D728}" srcOrd="0" destOrd="8" presId="urn:microsoft.com/office/officeart/2005/8/layout/hList1"/>
    <dgm:cxn modelId="{670F879F-ED21-4223-A8D7-B5C248B320B2}" type="presOf" srcId="{75011D97-1C3E-4C6D-90C0-B4813F67238F}" destId="{84C1A79C-FAB9-4AAE-8534-E39A11B518F6}" srcOrd="0" destOrd="4" presId="urn:microsoft.com/office/officeart/2005/8/layout/hList1"/>
    <dgm:cxn modelId="{B297D3A5-2B1B-42F5-A9C0-753A16489A1A}" type="presOf" srcId="{B9AD04B3-515D-48D3-8C03-862885FBE316}" destId="{538AE1A0-494E-492F-B2F6-0964B3F5D728}" srcOrd="0" destOrd="7" presId="urn:microsoft.com/office/officeart/2005/8/layout/hList1"/>
    <dgm:cxn modelId="{5F2254A6-4F42-4E4A-AF2E-A639EF383E35}" type="presOf" srcId="{8DF10D41-DD9E-4BD7-A54C-6D15809186DB}" destId="{64209384-5620-4506-AD17-CCC102399122}" srcOrd="0" destOrd="5" presId="urn:microsoft.com/office/officeart/2005/8/layout/hList1"/>
    <dgm:cxn modelId="{71F443AD-F89D-4547-A72E-5E9A506F077E}" srcId="{FF4AA4ED-0F44-40C0-ABBF-D9664DAB84EE}" destId="{AA8F9812-D45D-493C-8D48-0B3A35BD4488}" srcOrd="5" destOrd="0" parTransId="{B06B5F1E-1D37-4D63-A474-D684C8355465}" sibTransId="{0558BA56-A118-4E45-9DFB-2C37084E7F2D}"/>
    <dgm:cxn modelId="{9472D8B3-5504-4D64-B0D5-EB3F351688F2}" srcId="{EC3E148C-862A-46FB-A87A-EEF62BF11F6C}" destId="{EEEBC669-5242-4ABA-A9A7-9B4254E7886C}" srcOrd="2" destOrd="0" parTransId="{834E48B6-A3F7-41A0-AA9A-AF29479D18BE}" sibTransId="{617DED65-5101-4BC4-B4E9-BFD58E6D59BD}"/>
    <dgm:cxn modelId="{49D703B4-D402-4F24-8B66-6F284CF709D9}" srcId="{5FC60275-69BF-4A01-84B8-4D781F843655}" destId="{B9AD04B3-515D-48D3-8C03-862885FBE316}" srcOrd="7" destOrd="0" parTransId="{8A92E618-B6DB-49E0-B1A2-0E4A980FC352}" sibTransId="{199E028B-E95D-43D9-B7C5-C657F800949F}"/>
    <dgm:cxn modelId="{FE8E3FB4-0A77-446A-B9DF-1AE8A2DEBC6F}" type="presOf" srcId="{D8F3ABD7-12FD-49E4-BB11-41B611BCF228}" destId="{5946217E-9C82-4689-A428-64478B47188B}" srcOrd="0" destOrd="4" presId="urn:microsoft.com/office/officeart/2005/8/layout/hList1"/>
    <dgm:cxn modelId="{F77F89B9-CECD-43A0-B65B-97DEFC8516AC}" srcId="{40466935-5395-43AC-83C8-F002704BF247}" destId="{AF04C2F2-43B8-4A86-833C-E8350E12E357}" srcOrd="0" destOrd="0" parTransId="{3022B110-274C-4FEE-B65F-DEE8908CFA75}" sibTransId="{04080F87-AA8E-44DE-A5C0-FEC9F5E50A08}"/>
    <dgm:cxn modelId="{6E9C0CBA-649D-4E3C-BA70-BAB90CE2EAC5}" srcId="{1D133D48-D3D3-44E6-8801-F11962543AF1}" destId="{BD17711D-885A-44DC-AC61-5A20407BF71F}" srcOrd="2" destOrd="0" parTransId="{29ADFF8F-CE9C-40FE-86B5-C1D3EFBC5F13}" sibTransId="{29F927A9-E95B-4F85-99B1-CCDD1E883207}"/>
    <dgm:cxn modelId="{953ECABB-8FAE-4DC4-B6A8-0E6AD10086D1}" type="presOf" srcId="{8BCDB0DC-BADF-47A2-976D-30AAC3786850}" destId="{5944B2D2-4ADB-45DC-947F-5444C332786A}" srcOrd="0" destOrd="4" presId="urn:microsoft.com/office/officeart/2005/8/layout/hList1"/>
    <dgm:cxn modelId="{EB35FDBD-CA19-4D62-9687-AFE580A854B4}" srcId="{EC3E148C-862A-46FB-A87A-EEF62BF11F6C}" destId="{8BCDB0DC-BADF-47A2-976D-30AAC3786850}" srcOrd="4" destOrd="0" parTransId="{06F77642-6367-4363-9D59-448940B8320D}" sibTransId="{E7729033-FD10-4987-8A06-F076068A0410}"/>
    <dgm:cxn modelId="{21E03DBE-509E-44D5-A55B-7572DE0F901A}" type="presOf" srcId="{6D925FFB-41F0-47FA-AC1A-F58B94A032A1}" destId="{538AE1A0-494E-492F-B2F6-0964B3F5D728}" srcOrd="0" destOrd="2" presId="urn:microsoft.com/office/officeart/2005/8/layout/hList1"/>
    <dgm:cxn modelId="{39D62CBF-4F40-4FC9-87B0-0588BFD600EC}" type="presOf" srcId="{AA8F9812-D45D-493C-8D48-0B3A35BD4488}" destId="{84C1A79C-FAB9-4AAE-8534-E39A11B518F6}" srcOrd="0" destOrd="5" presId="urn:microsoft.com/office/officeart/2005/8/layout/hList1"/>
    <dgm:cxn modelId="{E02A4AC2-7E17-4252-981B-1F4E7AF5ABAE}" srcId="{EC3E148C-862A-46FB-A87A-EEF62BF11F6C}" destId="{424D7174-FEE0-45DA-AC51-D979F13E7D36}" srcOrd="6" destOrd="0" parTransId="{F3D73C9C-B1C6-40E5-979F-DADAADC3B2B2}" sibTransId="{CE58B2FA-8073-4A7F-A207-295583AE7926}"/>
    <dgm:cxn modelId="{AC32A1C3-09DE-4318-9303-CE99C2666100}" srcId="{FF4AA4ED-0F44-40C0-ABBF-D9664DAB84EE}" destId="{EF8BA0CB-9168-4DF3-B39A-B3701722FE40}" srcOrd="0" destOrd="0" parTransId="{4151EFA4-CE43-4C1E-8A9A-E1C2C7329AE3}" sibTransId="{87041C25-A7F6-42E9-9BEB-6980420FBFD1}"/>
    <dgm:cxn modelId="{0CCC29C4-52AB-4E74-8233-AF3EB3351015}" type="presOf" srcId="{1D133D48-D3D3-44E6-8801-F11962543AF1}" destId="{40587D58-AA2E-47B5-817D-67ED0460D958}" srcOrd="0" destOrd="0" presId="urn:microsoft.com/office/officeart/2005/8/layout/hList1"/>
    <dgm:cxn modelId="{869062C5-881A-49A9-9434-B56E409997AD}" type="presOf" srcId="{37560764-1D71-44A4-9FE2-E90365D3A2C2}" destId="{5944B2D2-4ADB-45DC-947F-5444C332786A}" srcOrd="0" destOrd="0" presId="urn:microsoft.com/office/officeart/2005/8/layout/hList1"/>
    <dgm:cxn modelId="{BC195AC5-9B23-4079-BBF2-4100CAE3D03C}" srcId="{1D133D48-D3D3-44E6-8801-F11962543AF1}" destId="{EC3E148C-862A-46FB-A87A-EEF62BF11F6C}" srcOrd="1" destOrd="0" parTransId="{30925CF5-7990-43B2-82A9-2F8E9886F44A}" sibTransId="{1C737BC4-ADEA-40C5-AE7E-A4A5E675130A}"/>
    <dgm:cxn modelId="{99776ACF-7F5F-47CC-9EF8-82AE1F064AC6}" srcId="{40466935-5395-43AC-83C8-F002704BF247}" destId="{FB42BB85-D94E-46C2-B506-926327DF5D41}" srcOrd="3" destOrd="0" parTransId="{D4533800-0924-4CE4-B25D-290DE2E236EC}" sibTransId="{CAD3BDA9-154C-42BB-A9DB-F4A4D3B4850A}"/>
    <dgm:cxn modelId="{62EFD4D0-2E6D-40DA-A697-F7E61B31E35A}" type="presOf" srcId="{888836EA-C279-4790-B54C-783D54694B6A}" destId="{64209384-5620-4506-AD17-CCC102399122}" srcOrd="0" destOrd="7" presId="urn:microsoft.com/office/officeart/2005/8/layout/hList1"/>
    <dgm:cxn modelId="{413F91D6-AC48-47AA-BF37-8351DA386F0A}" srcId="{5FC60275-69BF-4A01-84B8-4D781F843655}" destId="{9F63E6A9-9DB3-4D99-A083-D44A4DC1CF84}" srcOrd="4" destOrd="0" parTransId="{452AF4C8-8FB5-4959-AED2-F63798D69D93}" sibTransId="{C8564942-0552-491E-9542-8802188BE0F1}"/>
    <dgm:cxn modelId="{F1790CD7-745A-4F0D-9A7B-09606CA53A4F}" type="presOf" srcId="{7B2BD4CF-4FB8-4C5B-9A16-B1C60F195E4C}" destId="{84C1A79C-FAB9-4AAE-8534-E39A11B518F6}" srcOrd="0" destOrd="1" presId="urn:microsoft.com/office/officeart/2005/8/layout/hList1"/>
    <dgm:cxn modelId="{CF8EAED7-FCBF-4DEB-8E3D-9003E35AFF2D}" srcId="{EC3E148C-862A-46FB-A87A-EEF62BF11F6C}" destId="{37560764-1D71-44A4-9FE2-E90365D3A2C2}" srcOrd="0" destOrd="0" parTransId="{05F2640C-B3E2-4B37-869F-171394C3B89E}" sibTransId="{2B72EFDB-C95D-4E75-9050-6DC7C0C93B52}"/>
    <dgm:cxn modelId="{4D53D1DD-37D9-4315-91B9-34952CB48A01}" type="presOf" srcId="{BF0448E0-B477-4723-8CFA-4C21F7BA091B}" destId="{538AE1A0-494E-492F-B2F6-0964B3F5D728}" srcOrd="0" destOrd="0" presId="urn:microsoft.com/office/officeart/2005/8/layout/hList1"/>
    <dgm:cxn modelId="{FBAD2CDE-6D4F-4D6C-B0F5-F1AA6A7A0685}" type="presOf" srcId="{86A2D72C-3D70-4D3B-A324-D37F034CC58E}" destId="{84C1A79C-FAB9-4AAE-8534-E39A11B518F6}" srcOrd="0" destOrd="3" presId="urn:microsoft.com/office/officeart/2005/8/layout/hList1"/>
    <dgm:cxn modelId="{714038DE-214A-4AE7-B581-8E7F567DE60D}" srcId="{40466935-5395-43AC-83C8-F002704BF247}" destId="{D8F3ABD7-12FD-49E4-BB11-41B611BCF228}" srcOrd="4" destOrd="0" parTransId="{5BB6FF5C-3591-4A0A-945E-4EB317747F6F}" sibTransId="{008927C5-7EDA-47A1-8A32-CCD0367A75EA}"/>
    <dgm:cxn modelId="{EB9929E1-8A31-488F-B6A7-4876BCE6E320}" srcId="{1D133D48-D3D3-44E6-8801-F11962543AF1}" destId="{5FC60275-69BF-4A01-84B8-4D781F843655}" srcOrd="3" destOrd="0" parTransId="{EE7BB46C-527D-4595-B83D-CFA72994121F}" sibTransId="{7AACCDD8-7E81-4EC7-9621-0EA89E1F9921}"/>
    <dgm:cxn modelId="{7B95B8E8-CA3D-498F-9DA8-A15EA401657C}" srcId="{40466935-5395-43AC-83C8-F002704BF247}" destId="{336CFE1F-3027-4599-81D8-F23E01EED752}" srcOrd="2" destOrd="0" parTransId="{BEB0DF29-24C8-4497-809E-89A67B9BFE00}" sibTransId="{2E722801-D15C-47C1-9FC9-5DBD5004E51C}"/>
    <dgm:cxn modelId="{82B5BFE8-2345-47D2-9627-2309265A8EA4}" type="presOf" srcId="{5FC60275-69BF-4A01-84B8-4D781F843655}" destId="{BE87F508-84DC-4849-805B-AD734DAE9DE3}" srcOrd="0" destOrd="0" presId="urn:microsoft.com/office/officeart/2005/8/layout/hList1"/>
    <dgm:cxn modelId="{106BF2E8-FF7A-4732-972D-E4E379ACA353}" type="presOf" srcId="{F0F2BD73-DF4C-4DA9-B399-0509321CC7B1}" destId="{64209384-5620-4506-AD17-CCC102399122}" srcOrd="0" destOrd="4" presId="urn:microsoft.com/office/officeart/2005/8/layout/hList1"/>
    <dgm:cxn modelId="{67FE6BEF-5C29-4929-A949-4B45537CE26F}" type="presOf" srcId="{BD17711D-885A-44DC-AC61-5A20407BF71F}" destId="{CD0DBDAC-E2DE-4259-A934-DD00AE8EF791}" srcOrd="0" destOrd="0" presId="urn:microsoft.com/office/officeart/2005/8/layout/hList1"/>
    <dgm:cxn modelId="{8112B5EF-9C30-4B22-A3C1-D240FBDAA405}" srcId="{BD17711D-885A-44DC-AC61-5A20407BF71F}" destId="{07A85AE0-6E71-421F-96CB-D479AF582487}" srcOrd="1" destOrd="0" parTransId="{0498DFFC-D03A-4301-A3FD-4D8A5DB74213}" sibTransId="{0E6AFAA8-AEAB-417D-A5EF-7463D12B944B}"/>
    <dgm:cxn modelId="{C7EEADF0-4814-4BB8-8E98-0648EDC3F9F7}" srcId="{EC3E148C-862A-46FB-A87A-EEF62BF11F6C}" destId="{5E85E9F7-EFB0-43C7-A0F3-A67CFA646348}" srcOrd="5" destOrd="0" parTransId="{E98E9CC2-F194-4A8E-A1D4-3ABD5AA82C29}" sibTransId="{6473BC98-F352-4E04-9A5B-6B14DFC299A2}"/>
    <dgm:cxn modelId="{FA1ACFF4-0972-44D6-8AE6-322374DA86DE}" type="presOf" srcId="{5E85E9F7-EFB0-43C7-A0F3-A67CFA646348}" destId="{5944B2D2-4ADB-45DC-947F-5444C332786A}" srcOrd="0" destOrd="5" presId="urn:microsoft.com/office/officeart/2005/8/layout/hList1"/>
    <dgm:cxn modelId="{A8DF02FD-1C0E-4C4D-84D4-CB9595498EDF}" srcId="{5FC60275-69BF-4A01-84B8-4D781F843655}" destId="{F2DD9893-747F-4D09-A6C9-4411A486376F}" srcOrd="6" destOrd="0" parTransId="{68C4D6A2-5196-4124-8AA3-F5F9A50F45CD}" sibTransId="{04B28CE0-28FC-4AF8-9E94-4C0D27D7BD27}"/>
    <dgm:cxn modelId="{DCF0F0FF-31B0-41D8-90E9-E4CA5C8A67A4}" srcId="{FF4AA4ED-0F44-40C0-ABBF-D9664DAB84EE}" destId="{32D0DE08-D76F-43C1-884F-7A65B9BEDDAE}" srcOrd="7" destOrd="0" parTransId="{F06CD5BD-6A20-4C2B-A3B0-C8523DD7C6F5}" sibTransId="{68B231E3-BFCC-4ECE-85EE-AF1F7D1F81C6}"/>
    <dgm:cxn modelId="{08B9F582-8F53-42F1-A558-4E0F6641F596}" type="presParOf" srcId="{40587D58-AA2E-47B5-817D-67ED0460D958}" destId="{0296E2DF-1FFE-457F-8A50-68AC5C8AC354}" srcOrd="0" destOrd="0" presId="urn:microsoft.com/office/officeart/2005/8/layout/hList1"/>
    <dgm:cxn modelId="{E470DD05-9BA2-4165-9FD6-71B2011501B1}" type="presParOf" srcId="{0296E2DF-1FFE-457F-8A50-68AC5C8AC354}" destId="{24B46811-9136-4E63-8BC3-AF4C321954B1}" srcOrd="0" destOrd="0" presId="urn:microsoft.com/office/officeart/2005/8/layout/hList1"/>
    <dgm:cxn modelId="{FDB54957-B337-4F9C-90B7-D953D900CAE4}" type="presParOf" srcId="{0296E2DF-1FFE-457F-8A50-68AC5C8AC354}" destId="{84C1A79C-FAB9-4AAE-8534-E39A11B518F6}" srcOrd="1" destOrd="0" presId="urn:microsoft.com/office/officeart/2005/8/layout/hList1"/>
    <dgm:cxn modelId="{52B9A474-6918-4577-91C0-90ECD57B917F}" type="presParOf" srcId="{40587D58-AA2E-47B5-817D-67ED0460D958}" destId="{70D89185-6589-47D8-9225-0268B9A3A9F0}" srcOrd="1" destOrd="0" presId="urn:microsoft.com/office/officeart/2005/8/layout/hList1"/>
    <dgm:cxn modelId="{C06AAC52-F4E7-4141-AC82-784BAE184A02}" type="presParOf" srcId="{40587D58-AA2E-47B5-817D-67ED0460D958}" destId="{076BE2AD-8772-4755-9438-F9150CD3A125}" srcOrd="2" destOrd="0" presId="urn:microsoft.com/office/officeart/2005/8/layout/hList1"/>
    <dgm:cxn modelId="{61D283D8-8138-4CF2-BB0C-7C39F5C15DC6}" type="presParOf" srcId="{076BE2AD-8772-4755-9438-F9150CD3A125}" destId="{748F4636-B263-460A-9F14-69565D21416C}" srcOrd="0" destOrd="0" presId="urn:microsoft.com/office/officeart/2005/8/layout/hList1"/>
    <dgm:cxn modelId="{9F3C1EE6-730D-48A1-9007-E64B52692D5E}" type="presParOf" srcId="{076BE2AD-8772-4755-9438-F9150CD3A125}" destId="{5944B2D2-4ADB-45DC-947F-5444C332786A}" srcOrd="1" destOrd="0" presId="urn:microsoft.com/office/officeart/2005/8/layout/hList1"/>
    <dgm:cxn modelId="{25FD4B34-F316-435B-BAF1-C28DC1F9EADF}" type="presParOf" srcId="{40587D58-AA2E-47B5-817D-67ED0460D958}" destId="{9F0D1017-6A4F-4313-816A-203AC7A5F894}" srcOrd="3" destOrd="0" presId="urn:microsoft.com/office/officeart/2005/8/layout/hList1"/>
    <dgm:cxn modelId="{353E3A24-D4E2-435B-9F42-B1192F0A3164}" type="presParOf" srcId="{40587D58-AA2E-47B5-817D-67ED0460D958}" destId="{38C55F50-286E-48EB-BEF2-8DACEB8D82D4}" srcOrd="4" destOrd="0" presId="urn:microsoft.com/office/officeart/2005/8/layout/hList1"/>
    <dgm:cxn modelId="{65CA2FC6-D6C9-4E55-A398-979A5C55093B}" type="presParOf" srcId="{38C55F50-286E-48EB-BEF2-8DACEB8D82D4}" destId="{CD0DBDAC-E2DE-4259-A934-DD00AE8EF791}" srcOrd="0" destOrd="0" presId="urn:microsoft.com/office/officeart/2005/8/layout/hList1"/>
    <dgm:cxn modelId="{F040DDC5-543D-46C9-8333-20563750CB8C}" type="presParOf" srcId="{38C55F50-286E-48EB-BEF2-8DACEB8D82D4}" destId="{64209384-5620-4506-AD17-CCC102399122}" srcOrd="1" destOrd="0" presId="urn:microsoft.com/office/officeart/2005/8/layout/hList1"/>
    <dgm:cxn modelId="{5355B0C9-160D-4BBC-9AE3-105EA8547681}" type="presParOf" srcId="{40587D58-AA2E-47B5-817D-67ED0460D958}" destId="{15FBD1CD-9971-4844-8E86-3D16A2320533}" srcOrd="5" destOrd="0" presId="urn:microsoft.com/office/officeart/2005/8/layout/hList1"/>
    <dgm:cxn modelId="{6998B2FC-3234-474E-AF7F-C65DD4CC1D6E}" type="presParOf" srcId="{40587D58-AA2E-47B5-817D-67ED0460D958}" destId="{1C9E5E9A-4360-4541-8BAF-99F179FEEC74}" srcOrd="6" destOrd="0" presId="urn:microsoft.com/office/officeart/2005/8/layout/hList1"/>
    <dgm:cxn modelId="{B73AB182-E281-432D-A321-5D0D6A40908B}" type="presParOf" srcId="{1C9E5E9A-4360-4541-8BAF-99F179FEEC74}" destId="{BE87F508-84DC-4849-805B-AD734DAE9DE3}" srcOrd="0" destOrd="0" presId="urn:microsoft.com/office/officeart/2005/8/layout/hList1"/>
    <dgm:cxn modelId="{40B1674B-1724-4E24-99A1-13DFC27BEFDB}" type="presParOf" srcId="{1C9E5E9A-4360-4541-8BAF-99F179FEEC74}" destId="{538AE1A0-494E-492F-B2F6-0964B3F5D728}" srcOrd="1" destOrd="0" presId="urn:microsoft.com/office/officeart/2005/8/layout/hList1"/>
    <dgm:cxn modelId="{5BE644F4-B90D-409F-9F29-1AD5054A9C31}" type="presParOf" srcId="{40587D58-AA2E-47B5-817D-67ED0460D958}" destId="{6E56188B-108B-400C-BC8D-51F0A2A8EA9F}" srcOrd="7" destOrd="0" presId="urn:microsoft.com/office/officeart/2005/8/layout/hList1"/>
    <dgm:cxn modelId="{BD3CD0CB-E275-4907-A3DA-5BF034B9F5D3}" type="presParOf" srcId="{40587D58-AA2E-47B5-817D-67ED0460D958}" destId="{4DFCDE94-CEB0-43C3-A41F-5A2AAED4747E}" srcOrd="8" destOrd="0" presId="urn:microsoft.com/office/officeart/2005/8/layout/hList1"/>
    <dgm:cxn modelId="{91599FB4-7C29-4F2A-A681-1E09245F0476}" type="presParOf" srcId="{4DFCDE94-CEB0-43C3-A41F-5A2AAED4747E}" destId="{7CE7F6B8-DFA3-41B3-994C-6E72841F5FC4}" srcOrd="0" destOrd="0" presId="urn:microsoft.com/office/officeart/2005/8/layout/hList1"/>
    <dgm:cxn modelId="{CFADC0F9-93A7-410B-8CBA-B23D31E5FB9E}" type="presParOf" srcId="{4DFCDE94-CEB0-43C3-A41F-5A2AAED4747E}" destId="{5946217E-9C82-4689-A428-64478B47188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D133D48-D3D3-44E6-8801-F11962543AF1}" type="doc">
      <dgm:prSet loTypeId="urn:microsoft.com/office/officeart/2005/8/layout/hList1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BD17711D-885A-44DC-AC61-5A20407BF71F}">
      <dgm:prSet phldrT="[Text]" custT="1"/>
      <dgm:spPr>
        <a:ln>
          <a:solidFill>
            <a:srgbClr val="3333B2"/>
          </a:solidFill>
        </a:ln>
      </dgm:spPr>
      <dgm:t>
        <a:bodyPr/>
        <a:lstStyle/>
        <a:p>
          <a:r>
            <a:rPr lang="en-US" sz="11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Guerello (2018) </a:t>
          </a:r>
          <a:endParaRPr lang="en-US" sz="11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9ADFF8F-CE9C-40FE-86B5-C1D3EFBC5F13}" type="parTrans" cxnId="{6E9C0CBA-649D-4E3C-BA70-BAB90CE2EAC5}">
      <dgm:prSet/>
      <dgm:spPr/>
      <dgm:t>
        <a:bodyPr/>
        <a:lstStyle/>
        <a:p>
          <a:endParaRPr lang="en-US"/>
        </a:p>
      </dgm:t>
    </dgm:pt>
    <dgm:pt modelId="{29F927A9-E95B-4F85-99B1-CCDD1E883207}" type="sibTrans" cxnId="{6E9C0CBA-649D-4E3C-BA70-BAB90CE2EAC5}">
      <dgm:prSet/>
      <dgm:spPr/>
      <dgm:t>
        <a:bodyPr/>
        <a:lstStyle/>
        <a:p>
          <a:endParaRPr lang="en-US"/>
        </a:p>
      </dgm:t>
    </dgm:pt>
    <dgm:pt modelId="{5FC60275-69BF-4A01-84B8-4D781F843655}">
      <dgm:prSet phldrT="[Text]" custT="1"/>
      <dgm:spPr>
        <a:ln>
          <a:solidFill>
            <a:srgbClr val="3333B2"/>
          </a:solidFill>
        </a:ln>
      </dgm:spPr>
      <dgm:t>
        <a:bodyPr/>
        <a:lstStyle/>
        <a:p>
          <a:r>
            <a:rPr lang="en-US" sz="1100" b="1" dirty="0">
              <a:latin typeface="Times New Roman" panose="02020603050405020304" pitchFamily="18" charset="0"/>
              <a:cs typeface="Times New Roman" panose="02020603050405020304" pitchFamily="18" charset="0"/>
            </a:rPr>
            <a:t>Inui et al. (2017)</a:t>
          </a:r>
        </a:p>
      </dgm:t>
    </dgm:pt>
    <dgm:pt modelId="{EE7BB46C-527D-4595-B83D-CFA72994121F}" type="parTrans" cxnId="{EB9929E1-8A31-488F-B6A7-4876BCE6E320}">
      <dgm:prSet/>
      <dgm:spPr/>
      <dgm:t>
        <a:bodyPr/>
        <a:lstStyle/>
        <a:p>
          <a:endParaRPr lang="en-US"/>
        </a:p>
      </dgm:t>
    </dgm:pt>
    <dgm:pt modelId="{7AACCDD8-7E81-4EC7-9621-0EA89E1F9921}" type="sibTrans" cxnId="{EB9929E1-8A31-488F-B6A7-4876BCE6E320}">
      <dgm:prSet/>
      <dgm:spPr/>
      <dgm:t>
        <a:bodyPr/>
        <a:lstStyle/>
        <a:p>
          <a:endParaRPr lang="en-US"/>
        </a:p>
      </dgm:t>
    </dgm:pt>
    <dgm:pt modelId="{40466935-5395-43AC-83C8-F002704BF247}">
      <dgm:prSet phldrT="[Text]" custT="1"/>
      <dgm:spPr>
        <a:ln>
          <a:solidFill>
            <a:srgbClr val="3333B2"/>
          </a:solidFill>
        </a:ln>
      </dgm:spPr>
      <dgm:t>
        <a:bodyPr/>
        <a:lstStyle/>
        <a:p>
          <a:r>
            <a:rPr lang="en-US" sz="1000" b="1" dirty="0">
              <a:latin typeface="Times New Roman" panose="02020603050405020304" pitchFamily="18" charset="0"/>
              <a:cs typeface="Times New Roman" panose="02020603050405020304" pitchFamily="18" charset="0"/>
            </a:rPr>
            <a:t>Hesary et al. (2019)</a:t>
          </a:r>
        </a:p>
      </dgm:t>
    </dgm:pt>
    <dgm:pt modelId="{90433593-A985-4A94-9E62-9EC9D628F791}" type="parTrans" cxnId="{05315249-890F-41F0-B16D-ED65C7017FD4}">
      <dgm:prSet/>
      <dgm:spPr/>
      <dgm:t>
        <a:bodyPr/>
        <a:lstStyle/>
        <a:p>
          <a:endParaRPr lang="en-US"/>
        </a:p>
      </dgm:t>
    </dgm:pt>
    <dgm:pt modelId="{117C6F3C-6A5C-4CC5-8C1B-93E9DBC6AA8E}" type="sibTrans" cxnId="{05315249-890F-41F0-B16D-ED65C7017FD4}">
      <dgm:prSet/>
      <dgm:spPr/>
      <dgm:t>
        <a:bodyPr/>
        <a:lstStyle/>
        <a:p>
          <a:endParaRPr lang="en-US"/>
        </a:p>
      </dgm:t>
    </dgm:pt>
    <dgm:pt modelId="{0E3FB3F4-8F05-4B1D-98AF-4B651DAC64C6}">
      <dgm:prSet phldrT="[Text]" custT="1"/>
      <dgm:spPr>
        <a:ln>
          <a:solidFill>
            <a:srgbClr val="3333B2"/>
          </a:solidFill>
        </a:ln>
      </dgm:spPr>
      <dgm:t>
        <a:bodyPr/>
        <a:lstStyle/>
        <a:p>
          <a:pPr algn="l"/>
          <a:endParaRPr lang="en-US" sz="7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BB1CAAF-7410-4A05-8737-2DCE375F203D}" type="parTrans" cxnId="{9A01F770-9B30-4BEF-8105-635753DB93A0}">
      <dgm:prSet/>
      <dgm:spPr/>
      <dgm:t>
        <a:bodyPr/>
        <a:lstStyle/>
        <a:p>
          <a:endParaRPr lang="en-US"/>
        </a:p>
      </dgm:t>
    </dgm:pt>
    <dgm:pt modelId="{F2C850F4-6506-47BB-9988-69E67A3582B1}" type="sibTrans" cxnId="{9A01F770-9B30-4BEF-8105-635753DB93A0}">
      <dgm:prSet/>
      <dgm:spPr/>
      <dgm:t>
        <a:bodyPr/>
        <a:lstStyle/>
        <a:p>
          <a:endParaRPr lang="en-US"/>
        </a:p>
      </dgm:t>
    </dgm:pt>
    <dgm:pt modelId="{9442D50F-2642-44EB-AD1F-FC7E518DC4A0}">
      <dgm:prSet phldrT="[Text]" custT="1"/>
      <dgm:spPr>
        <a:ln>
          <a:solidFill>
            <a:srgbClr val="3333B2"/>
          </a:solidFill>
        </a:ln>
      </dgm:spPr>
      <dgm:t>
        <a:bodyPr/>
        <a:lstStyle/>
        <a:p>
          <a:pPr algn="l"/>
          <a:r>
            <a:rPr lang="en-US" sz="750" dirty="0">
              <a:latin typeface="Times New Roman" panose="02020603050405020304" pitchFamily="18" charset="0"/>
              <a:cs typeface="Times New Roman" panose="02020603050405020304" pitchFamily="18" charset="0"/>
            </a:rPr>
            <a:t>Effect of short-term interest rate and ECB assets on Theil coefficient of income</a:t>
          </a:r>
        </a:p>
      </dgm:t>
    </dgm:pt>
    <dgm:pt modelId="{9FB2DF0D-AF9B-43AD-B986-50C75DB45F8E}" type="parTrans" cxnId="{696E5317-4F31-43D2-93CB-F852E7E68B4D}">
      <dgm:prSet/>
      <dgm:spPr/>
      <dgm:t>
        <a:bodyPr/>
        <a:lstStyle/>
        <a:p>
          <a:endParaRPr lang="en-US"/>
        </a:p>
      </dgm:t>
    </dgm:pt>
    <dgm:pt modelId="{F6DA5349-1289-46F4-9A99-D8F3BB9E0890}" type="sibTrans" cxnId="{696E5317-4F31-43D2-93CB-F852E7E68B4D}">
      <dgm:prSet/>
      <dgm:spPr/>
      <dgm:t>
        <a:bodyPr/>
        <a:lstStyle/>
        <a:p>
          <a:endParaRPr lang="en-US"/>
        </a:p>
      </dgm:t>
    </dgm:pt>
    <dgm:pt modelId="{8DF10D41-DD9E-4BD7-A54C-6D15809186DB}">
      <dgm:prSet phldrT="[Text]" custT="1"/>
      <dgm:spPr>
        <a:ln>
          <a:solidFill>
            <a:srgbClr val="3333B2"/>
          </a:solidFill>
        </a:ln>
      </dgm:spPr>
      <dgm:t>
        <a:bodyPr/>
        <a:lstStyle/>
        <a:p>
          <a:pPr algn="l"/>
          <a:r>
            <a:rPr lang="en-US" sz="750" dirty="0">
              <a:latin typeface="Times New Roman" panose="02020603050405020304" pitchFamily="18" charset="0"/>
              <a:cs typeface="Times New Roman" panose="02020603050405020304" pitchFamily="18" charset="0"/>
            </a:rPr>
            <a:t>Expansionary conventional shocks reduce income inequality</a:t>
          </a:r>
        </a:p>
      </dgm:t>
    </dgm:pt>
    <dgm:pt modelId="{1A1A3D11-CC65-492C-82BD-92C6E9EAB97A}" type="parTrans" cxnId="{62CBBF67-281A-4CCD-B862-397EDE3ECB52}">
      <dgm:prSet/>
      <dgm:spPr/>
      <dgm:t>
        <a:bodyPr/>
        <a:lstStyle/>
        <a:p>
          <a:endParaRPr lang="en-US"/>
        </a:p>
      </dgm:t>
    </dgm:pt>
    <dgm:pt modelId="{1D6731AC-4963-4DC3-8DCF-3F2C91F0875A}" type="sibTrans" cxnId="{62CBBF67-281A-4CCD-B862-397EDE3ECB52}">
      <dgm:prSet/>
      <dgm:spPr/>
      <dgm:t>
        <a:bodyPr/>
        <a:lstStyle/>
        <a:p>
          <a:endParaRPr lang="en-US"/>
        </a:p>
      </dgm:t>
    </dgm:pt>
    <dgm:pt modelId="{D5114DE8-5FC2-4B7B-88EF-12AE7E6223B8}">
      <dgm:prSet phldrT="[Text]" custT="1"/>
      <dgm:spPr>
        <a:ln>
          <a:solidFill>
            <a:srgbClr val="3333B2"/>
          </a:solidFill>
        </a:ln>
      </dgm:spPr>
      <dgm:t>
        <a:bodyPr/>
        <a:lstStyle/>
        <a:p>
          <a:pPr algn="just"/>
          <a:r>
            <a:rPr lang="en-US" sz="750" dirty="0">
              <a:latin typeface="Times New Roman" panose="02020603050405020304" pitchFamily="18" charset="0"/>
              <a:cs typeface="Times New Roman" panose="02020603050405020304" pitchFamily="18" charset="0"/>
            </a:rPr>
            <a:t>VAR model</a:t>
          </a:r>
        </a:p>
      </dgm:t>
    </dgm:pt>
    <dgm:pt modelId="{EAD0D399-85DB-488B-BAD6-AE3CB3288C71}" type="parTrans" cxnId="{0BC55C8B-E4CF-409B-9C6E-E77743CBC705}">
      <dgm:prSet/>
      <dgm:spPr/>
      <dgm:t>
        <a:bodyPr/>
        <a:lstStyle/>
        <a:p>
          <a:endParaRPr lang="en-US"/>
        </a:p>
      </dgm:t>
    </dgm:pt>
    <dgm:pt modelId="{71A41519-A5CA-4698-81D2-0F6AB7984D7E}" type="sibTrans" cxnId="{0BC55C8B-E4CF-409B-9C6E-E77743CBC705}">
      <dgm:prSet/>
      <dgm:spPr/>
      <dgm:t>
        <a:bodyPr/>
        <a:lstStyle/>
        <a:p>
          <a:endParaRPr lang="en-US"/>
        </a:p>
      </dgm:t>
    </dgm:pt>
    <dgm:pt modelId="{6EBB1BCE-5C7D-447F-8292-28DC4D0F8317}">
      <dgm:prSet custT="1"/>
      <dgm:spPr>
        <a:ln>
          <a:solidFill>
            <a:srgbClr val="3333B2"/>
          </a:solidFill>
        </a:ln>
      </dgm:spPr>
      <dgm:t>
        <a:bodyPr/>
        <a:lstStyle/>
        <a:p>
          <a:r>
            <a:rPr lang="en-US" sz="800" dirty="0">
              <a:latin typeface="Times New Roman" panose="02020603050405020304" pitchFamily="18" charset="0"/>
              <a:cs typeface="Times New Roman" panose="02020603050405020304" pitchFamily="18" charset="0"/>
            </a:rPr>
            <a:t>Expansionary shocks have negligible effect on the inequality measures </a:t>
          </a:r>
        </a:p>
      </dgm:t>
    </dgm:pt>
    <dgm:pt modelId="{CCE4742B-2CC1-440C-8912-D3335331A911}" type="parTrans" cxnId="{7081BF4B-40B1-470B-ACD2-AB638E3CFB6A}">
      <dgm:prSet/>
      <dgm:spPr/>
      <dgm:t>
        <a:bodyPr/>
        <a:lstStyle/>
        <a:p>
          <a:endParaRPr lang="en-US"/>
        </a:p>
      </dgm:t>
    </dgm:pt>
    <dgm:pt modelId="{B8A1893B-DCA8-40FF-A9D4-E1EEB1B9F6A4}" type="sibTrans" cxnId="{7081BF4B-40B1-470B-ACD2-AB638E3CFB6A}">
      <dgm:prSet/>
      <dgm:spPr/>
      <dgm:t>
        <a:bodyPr/>
        <a:lstStyle/>
        <a:p>
          <a:endParaRPr lang="en-US"/>
        </a:p>
      </dgm:t>
    </dgm:pt>
    <dgm:pt modelId="{1416E64F-16E0-4676-8613-BCA9ABF5D6D0}">
      <dgm:prSet custT="1"/>
      <dgm:spPr>
        <a:ln>
          <a:solidFill>
            <a:srgbClr val="3333B2"/>
          </a:solidFill>
        </a:ln>
      </dgm:spPr>
      <dgm:t>
        <a:bodyPr/>
        <a:lstStyle/>
        <a:p>
          <a:endParaRPr lang="en-US" sz="7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F49C544-2C8F-4D4B-B06D-07D14D0EC332}" type="parTrans" cxnId="{85343E3A-2A49-41C0-9B39-0DCF0933E107}">
      <dgm:prSet/>
      <dgm:spPr/>
      <dgm:t>
        <a:bodyPr/>
        <a:lstStyle/>
        <a:p>
          <a:endParaRPr lang="en-US"/>
        </a:p>
      </dgm:t>
    </dgm:pt>
    <dgm:pt modelId="{B49ECCDF-0282-4B5F-A700-DEBF467EB7A4}" type="sibTrans" cxnId="{85343E3A-2A49-41C0-9B39-0DCF0933E107}">
      <dgm:prSet/>
      <dgm:spPr/>
      <dgm:t>
        <a:bodyPr/>
        <a:lstStyle/>
        <a:p>
          <a:endParaRPr lang="en-US"/>
        </a:p>
      </dgm:t>
    </dgm:pt>
    <dgm:pt modelId="{BF0448E0-B477-4723-8CFA-4C21F7BA091B}">
      <dgm:prSet phldrT="[Text]" custT="1"/>
      <dgm:spPr>
        <a:ln>
          <a:solidFill>
            <a:srgbClr val="3333B2"/>
          </a:solidFill>
        </a:ln>
      </dgm:spPr>
      <dgm:t>
        <a:bodyPr/>
        <a:lstStyle/>
        <a:p>
          <a:r>
            <a:rPr lang="en-US" sz="800" dirty="0">
              <a:latin typeface="Times New Roman" panose="02020603050405020304" pitchFamily="18" charset="0"/>
              <a:cs typeface="Times New Roman" panose="02020603050405020304" pitchFamily="18" charset="0"/>
            </a:rPr>
            <a:t>Local Projections</a:t>
          </a:r>
        </a:p>
      </dgm:t>
    </dgm:pt>
    <dgm:pt modelId="{0F411AD6-FB6C-4954-9533-B5DF1FC931D7}" type="parTrans" cxnId="{FF113A37-6960-4276-ADBF-2C1F101D6A96}">
      <dgm:prSet/>
      <dgm:spPr/>
      <dgm:t>
        <a:bodyPr/>
        <a:lstStyle/>
        <a:p>
          <a:endParaRPr lang="en-US"/>
        </a:p>
      </dgm:t>
    </dgm:pt>
    <dgm:pt modelId="{4FEE6A8A-FBA7-41E8-B8DA-188BD49AE20D}" type="sibTrans" cxnId="{FF113A37-6960-4276-ADBF-2C1F101D6A96}">
      <dgm:prSet/>
      <dgm:spPr/>
      <dgm:t>
        <a:bodyPr/>
        <a:lstStyle/>
        <a:p>
          <a:endParaRPr lang="en-US"/>
        </a:p>
      </dgm:t>
    </dgm:pt>
    <dgm:pt modelId="{10996737-3FD3-4143-BB3A-06F248147F7E}">
      <dgm:prSet custT="1"/>
      <dgm:spPr>
        <a:ln>
          <a:solidFill>
            <a:srgbClr val="3333B2"/>
          </a:solidFill>
        </a:ln>
      </dgm:spPr>
      <dgm:t>
        <a:bodyPr/>
        <a:lstStyle/>
        <a:p>
          <a:r>
            <a:rPr lang="en-US" sz="800" dirty="0">
              <a:latin typeface="Times New Roman" panose="02020603050405020304" pitchFamily="18" charset="0"/>
              <a:cs typeface="Times New Roman" panose="02020603050405020304" pitchFamily="18" charset="0"/>
            </a:rPr>
            <a:t>Japan 2002-2017</a:t>
          </a:r>
        </a:p>
      </dgm:t>
    </dgm:pt>
    <dgm:pt modelId="{7B76176C-01E6-4E4C-9403-8D7790998853}" type="parTrans" cxnId="{B2CD8387-A01F-4503-87F2-A9DBDB69CA94}">
      <dgm:prSet/>
      <dgm:spPr/>
      <dgm:t>
        <a:bodyPr/>
        <a:lstStyle/>
        <a:p>
          <a:endParaRPr lang="en-US"/>
        </a:p>
      </dgm:t>
    </dgm:pt>
    <dgm:pt modelId="{BEAD64E5-8455-4973-B1C7-25E667F1C320}" type="sibTrans" cxnId="{B2CD8387-A01F-4503-87F2-A9DBDB69CA94}">
      <dgm:prSet/>
      <dgm:spPr/>
      <dgm:t>
        <a:bodyPr/>
        <a:lstStyle/>
        <a:p>
          <a:endParaRPr lang="en-US"/>
        </a:p>
      </dgm:t>
    </dgm:pt>
    <dgm:pt modelId="{FB42BB85-D94E-46C2-B506-926327DF5D41}">
      <dgm:prSet custT="1"/>
      <dgm:spPr>
        <a:ln>
          <a:solidFill>
            <a:srgbClr val="3333B2"/>
          </a:solidFill>
        </a:ln>
      </dgm:spPr>
      <dgm:t>
        <a:bodyPr/>
        <a:lstStyle/>
        <a:p>
          <a:r>
            <a:rPr lang="en-US" sz="800" dirty="0">
              <a:latin typeface="Times New Roman" panose="02020603050405020304" pitchFamily="18" charset="0"/>
              <a:cs typeface="Times New Roman" panose="02020603050405020304" pitchFamily="18" charset="0"/>
            </a:rPr>
            <a:t>Effect of short-term interest rates/ MB on  90/10 ratio </a:t>
          </a:r>
        </a:p>
      </dgm:t>
    </dgm:pt>
    <dgm:pt modelId="{D4533800-0924-4CE4-B25D-290DE2E236EC}" type="parTrans" cxnId="{99776ACF-7F5F-47CC-9EF8-82AE1F064AC6}">
      <dgm:prSet/>
      <dgm:spPr/>
      <dgm:t>
        <a:bodyPr/>
        <a:lstStyle/>
        <a:p>
          <a:endParaRPr lang="en-US"/>
        </a:p>
      </dgm:t>
    </dgm:pt>
    <dgm:pt modelId="{CAD3BDA9-154C-42BB-A9DB-F4A4D3B4850A}" type="sibTrans" cxnId="{99776ACF-7F5F-47CC-9EF8-82AE1F064AC6}">
      <dgm:prSet/>
      <dgm:spPr/>
      <dgm:t>
        <a:bodyPr/>
        <a:lstStyle/>
        <a:p>
          <a:endParaRPr lang="en-US"/>
        </a:p>
      </dgm:t>
    </dgm:pt>
    <dgm:pt modelId="{58B8EC10-F434-45C5-8225-F6003123E2AB}">
      <dgm:prSet custT="1"/>
      <dgm:spPr>
        <a:ln>
          <a:solidFill>
            <a:srgbClr val="3333B2"/>
          </a:solidFill>
        </a:ln>
      </dgm:spPr>
      <dgm:t>
        <a:bodyPr/>
        <a:lstStyle/>
        <a:p>
          <a:r>
            <a:rPr lang="en-US" sz="800" dirty="0">
              <a:latin typeface="Times New Roman" panose="02020603050405020304" pitchFamily="18" charset="0"/>
              <a:cs typeface="Times New Roman" panose="02020603050405020304" pitchFamily="18" charset="0"/>
            </a:rPr>
            <a:t>Contractionary shocks increase income inequality</a:t>
          </a:r>
        </a:p>
      </dgm:t>
    </dgm:pt>
    <dgm:pt modelId="{DEDDC244-486A-4E88-921B-9B596651541E}" type="parTrans" cxnId="{425E578E-D0F0-44F3-969D-7D4F75FDBAC0}">
      <dgm:prSet/>
      <dgm:spPr/>
      <dgm:t>
        <a:bodyPr/>
        <a:lstStyle/>
        <a:p>
          <a:endParaRPr lang="en-US"/>
        </a:p>
      </dgm:t>
    </dgm:pt>
    <dgm:pt modelId="{27FB3A91-983F-409D-98EA-D3254FA090CD}" type="sibTrans" cxnId="{425E578E-D0F0-44F3-969D-7D4F75FDBAC0}">
      <dgm:prSet/>
      <dgm:spPr/>
      <dgm:t>
        <a:bodyPr/>
        <a:lstStyle/>
        <a:p>
          <a:endParaRPr lang="en-US"/>
        </a:p>
      </dgm:t>
    </dgm:pt>
    <dgm:pt modelId="{AF04C2F2-43B8-4A86-833C-E8350E12E357}">
      <dgm:prSet phldrT="[Text]" custT="1"/>
      <dgm:spPr>
        <a:ln>
          <a:solidFill>
            <a:srgbClr val="3333B2"/>
          </a:solidFill>
        </a:ln>
      </dgm:spPr>
      <dgm:t>
        <a:bodyPr/>
        <a:lstStyle/>
        <a:p>
          <a:r>
            <a:rPr lang="en-US" sz="800" dirty="0">
              <a:latin typeface="Times New Roman" panose="02020603050405020304" pitchFamily="18" charset="0"/>
              <a:cs typeface="Times New Roman" panose="02020603050405020304" pitchFamily="18" charset="0"/>
            </a:rPr>
            <a:t>VECM model</a:t>
          </a:r>
        </a:p>
      </dgm:t>
    </dgm:pt>
    <dgm:pt modelId="{3022B110-274C-4FEE-B65F-DEE8908CFA75}" type="parTrans" cxnId="{F77F89B9-CECD-43A0-B65B-97DEFC8516AC}">
      <dgm:prSet/>
      <dgm:spPr/>
      <dgm:t>
        <a:bodyPr/>
        <a:lstStyle/>
        <a:p>
          <a:endParaRPr lang="en-US"/>
        </a:p>
      </dgm:t>
    </dgm:pt>
    <dgm:pt modelId="{04080F87-AA8E-44DE-A5C0-FEC9F5E50A08}" type="sibTrans" cxnId="{F77F89B9-CECD-43A0-B65B-97DEFC8516AC}">
      <dgm:prSet/>
      <dgm:spPr/>
      <dgm:t>
        <a:bodyPr/>
        <a:lstStyle/>
        <a:p>
          <a:endParaRPr lang="en-US"/>
        </a:p>
      </dgm:t>
    </dgm:pt>
    <dgm:pt modelId="{07A85AE0-6E71-421F-96CB-D479AF582487}">
      <dgm:prSet phldrT="[Text]" custT="1"/>
      <dgm:spPr>
        <a:ln>
          <a:solidFill>
            <a:srgbClr val="3333B2"/>
          </a:solidFill>
        </a:ln>
      </dgm:spPr>
      <dgm:t>
        <a:bodyPr/>
        <a:lstStyle/>
        <a:p>
          <a:pPr algn="just"/>
          <a:r>
            <a:rPr lang="en-US" sz="750" dirty="0">
              <a:latin typeface="Times New Roman" panose="02020603050405020304" pitchFamily="18" charset="0"/>
              <a:cs typeface="Times New Roman" panose="02020603050405020304" pitchFamily="18" charset="0"/>
            </a:rPr>
            <a:t>17 Euro Area countries 2001-2015</a:t>
          </a:r>
        </a:p>
      </dgm:t>
    </dgm:pt>
    <dgm:pt modelId="{0498DFFC-D03A-4301-A3FD-4D8A5DB74213}" type="parTrans" cxnId="{8112B5EF-9C30-4B22-A3C1-D240FBDAA405}">
      <dgm:prSet/>
      <dgm:spPr/>
      <dgm:t>
        <a:bodyPr/>
        <a:lstStyle/>
        <a:p>
          <a:endParaRPr lang="en-US"/>
        </a:p>
      </dgm:t>
    </dgm:pt>
    <dgm:pt modelId="{0E6AFAA8-AEAB-417D-A5EF-7463D12B944B}" type="sibTrans" cxnId="{8112B5EF-9C30-4B22-A3C1-D240FBDAA405}">
      <dgm:prSet/>
      <dgm:spPr/>
      <dgm:t>
        <a:bodyPr/>
        <a:lstStyle/>
        <a:p>
          <a:endParaRPr lang="en-US"/>
        </a:p>
      </dgm:t>
    </dgm:pt>
    <dgm:pt modelId="{6D925FFB-41F0-47FA-AC1A-F58B94A032A1}">
      <dgm:prSet phldrT="[Text]" custT="1"/>
      <dgm:spPr>
        <a:ln>
          <a:solidFill>
            <a:srgbClr val="3333B2"/>
          </a:solidFill>
        </a:ln>
      </dgm:spPr>
      <dgm:t>
        <a:bodyPr/>
        <a:lstStyle/>
        <a:p>
          <a:endParaRPr lang="en-US" sz="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5EBB6E0-1843-44A7-8AD0-84A9DE3B2610}" type="parTrans" cxnId="{375E4A0A-EF82-4345-BD6B-61B3E0045F74}">
      <dgm:prSet/>
      <dgm:spPr/>
      <dgm:t>
        <a:bodyPr/>
        <a:lstStyle/>
        <a:p>
          <a:endParaRPr lang="en-US"/>
        </a:p>
      </dgm:t>
    </dgm:pt>
    <dgm:pt modelId="{E4930C5C-CB2F-4AB9-AE78-7AEABC695706}" type="sibTrans" cxnId="{375E4A0A-EF82-4345-BD6B-61B3E0045F74}">
      <dgm:prSet/>
      <dgm:spPr/>
      <dgm:t>
        <a:bodyPr/>
        <a:lstStyle/>
        <a:p>
          <a:endParaRPr lang="en-US"/>
        </a:p>
      </dgm:t>
    </dgm:pt>
    <dgm:pt modelId="{42444967-02CA-4851-BB3D-D82880A6D7CF}">
      <dgm:prSet custT="1"/>
      <dgm:spPr>
        <a:ln>
          <a:solidFill>
            <a:srgbClr val="3333B2"/>
          </a:solidFill>
        </a:ln>
      </dgm:spPr>
      <dgm:t>
        <a:bodyPr/>
        <a:lstStyle/>
        <a:p>
          <a:r>
            <a:rPr lang="en-US" sz="800" dirty="0">
              <a:latin typeface="Times New Roman" panose="02020603050405020304" pitchFamily="18" charset="0"/>
              <a:cs typeface="Times New Roman" panose="02020603050405020304" pitchFamily="18" charset="0"/>
            </a:rPr>
            <a:t>Effect of short-term interest rates on  log of Gini coefficient and 90/10 ratio for labor earnings, pre-tax income, disposable income, consumption, expenditure and financial positions</a:t>
          </a:r>
        </a:p>
      </dgm:t>
    </dgm:pt>
    <dgm:pt modelId="{E32AD1CF-0DF0-40F5-A6F9-70E243AEC0D2}" type="parTrans" cxnId="{3D13D78C-7E44-4AED-A108-E8FC13A16481}">
      <dgm:prSet/>
      <dgm:spPr/>
      <dgm:t>
        <a:bodyPr/>
        <a:lstStyle/>
        <a:p>
          <a:endParaRPr lang="en-US"/>
        </a:p>
      </dgm:t>
    </dgm:pt>
    <dgm:pt modelId="{A25B76F8-8855-45F3-A0BD-BAFBF812773E}" type="sibTrans" cxnId="{3D13D78C-7E44-4AED-A108-E8FC13A16481}">
      <dgm:prSet/>
      <dgm:spPr/>
      <dgm:t>
        <a:bodyPr/>
        <a:lstStyle/>
        <a:p>
          <a:endParaRPr lang="en-US"/>
        </a:p>
      </dgm:t>
    </dgm:pt>
    <dgm:pt modelId="{B9AD04B3-515D-48D3-8C03-862885FBE316}">
      <dgm:prSet custT="1"/>
      <dgm:spPr>
        <a:ln>
          <a:solidFill>
            <a:srgbClr val="3333B2"/>
          </a:solidFill>
        </a:ln>
      </dgm:spPr>
      <dgm:t>
        <a:bodyPr/>
        <a:lstStyle/>
        <a:p>
          <a:endParaRPr lang="en-US" sz="7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A92E618-B6DB-49E0-B1A2-0E4A980FC352}" type="parTrans" cxnId="{49D703B4-D402-4F24-8B66-6F284CF709D9}">
      <dgm:prSet/>
      <dgm:spPr/>
      <dgm:t>
        <a:bodyPr/>
        <a:lstStyle/>
        <a:p>
          <a:endParaRPr lang="en-US"/>
        </a:p>
      </dgm:t>
    </dgm:pt>
    <dgm:pt modelId="{199E028B-E95D-43D9-B7C5-C657F800949F}" type="sibTrans" cxnId="{49D703B4-D402-4F24-8B66-6F284CF709D9}">
      <dgm:prSet/>
      <dgm:spPr/>
      <dgm:t>
        <a:bodyPr/>
        <a:lstStyle/>
        <a:p>
          <a:endParaRPr lang="en-US"/>
        </a:p>
      </dgm:t>
    </dgm:pt>
    <dgm:pt modelId="{336CFE1F-3027-4599-81D8-F23E01EED752}">
      <dgm:prSet custT="1"/>
      <dgm:spPr>
        <a:ln>
          <a:solidFill>
            <a:srgbClr val="3333B2"/>
          </a:solidFill>
        </a:ln>
      </dgm:spPr>
      <dgm:t>
        <a:bodyPr/>
        <a:lstStyle/>
        <a:p>
          <a:endParaRPr lang="en-US" sz="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EB0DF29-24C8-4497-809E-89A67B9BFE00}" type="parTrans" cxnId="{7B95B8E8-CA3D-498F-9DA8-A15EA401657C}">
      <dgm:prSet/>
      <dgm:spPr/>
      <dgm:t>
        <a:bodyPr/>
        <a:lstStyle/>
        <a:p>
          <a:endParaRPr lang="en-US"/>
        </a:p>
      </dgm:t>
    </dgm:pt>
    <dgm:pt modelId="{2E722801-D15C-47C1-9FC9-5DBD5004E51C}" type="sibTrans" cxnId="{7B95B8E8-CA3D-498F-9DA8-A15EA401657C}">
      <dgm:prSet/>
      <dgm:spPr/>
      <dgm:t>
        <a:bodyPr/>
        <a:lstStyle/>
        <a:p>
          <a:endParaRPr lang="en-US"/>
        </a:p>
      </dgm:t>
    </dgm:pt>
    <dgm:pt modelId="{D8F3ABD7-12FD-49E4-BB11-41B611BCF228}">
      <dgm:prSet custT="1"/>
      <dgm:spPr>
        <a:ln>
          <a:solidFill>
            <a:srgbClr val="3333B2"/>
          </a:solidFill>
        </a:ln>
      </dgm:spPr>
      <dgm:t>
        <a:bodyPr/>
        <a:lstStyle/>
        <a:p>
          <a:endParaRPr lang="en-US" sz="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BB6FF5C-3591-4A0A-945E-4EB317747F6F}" type="parTrans" cxnId="{714038DE-214A-4AE7-B581-8E7F567DE60D}">
      <dgm:prSet/>
      <dgm:spPr/>
      <dgm:t>
        <a:bodyPr/>
        <a:lstStyle/>
        <a:p>
          <a:endParaRPr lang="en-US"/>
        </a:p>
      </dgm:t>
    </dgm:pt>
    <dgm:pt modelId="{008927C5-7EDA-47A1-8A32-CCD0367A75EA}" type="sibTrans" cxnId="{714038DE-214A-4AE7-B581-8E7F567DE60D}">
      <dgm:prSet/>
      <dgm:spPr/>
      <dgm:t>
        <a:bodyPr/>
        <a:lstStyle/>
        <a:p>
          <a:endParaRPr lang="en-US"/>
        </a:p>
      </dgm:t>
    </dgm:pt>
    <dgm:pt modelId="{53E27216-52C6-415E-81AA-BC3E64400662}">
      <dgm:prSet phldrT="[Text]" custT="1"/>
      <dgm:spPr>
        <a:ln>
          <a:solidFill>
            <a:srgbClr val="3333B2"/>
          </a:solidFill>
        </a:ln>
      </dgm:spPr>
      <dgm:t>
        <a:bodyPr/>
        <a:lstStyle/>
        <a:p>
          <a:pPr algn="just"/>
          <a:endParaRPr lang="en-US" sz="75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E56F50C-A93B-488E-9EEF-9941DA259601}" type="parTrans" cxnId="{B705FA2D-49F6-49CB-A1F3-17DD9AA16623}">
      <dgm:prSet/>
      <dgm:spPr/>
      <dgm:t>
        <a:bodyPr/>
        <a:lstStyle/>
        <a:p>
          <a:endParaRPr lang="en-US"/>
        </a:p>
      </dgm:t>
    </dgm:pt>
    <dgm:pt modelId="{78AF4F4D-B799-499F-95A8-A62846F89C3B}" type="sibTrans" cxnId="{B705FA2D-49F6-49CB-A1F3-17DD9AA16623}">
      <dgm:prSet/>
      <dgm:spPr/>
      <dgm:t>
        <a:bodyPr/>
        <a:lstStyle/>
        <a:p>
          <a:endParaRPr lang="en-US"/>
        </a:p>
      </dgm:t>
    </dgm:pt>
    <dgm:pt modelId="{888836EA-C279-4790-B54C-783D54694B6A}">
      <dgm:prSet phldrT="[Text]" custT="1"/>
      <dgm:spPr>
        <a:ln>
          <a:solidFill>
            <a:srgbClr val="3333B2"/>
          </a:solidFill>
        </a:ln>
      </dgm:spPr>
      <dgm:t>
        <a:bodyPr/>
        <a:lstStyle/>
        <a:p>
          <a:pPr algn="l"/>
          <a:r>
            <a:rPr lang="en-US" sz="750" dirty="0">
              <a:latin typeface="Times New Roman" panose="02020603050405020304" pitchFamily="18" charset="0"/>
              <a:cs typeface="Times New Roman" panose="02020603050405020304" pitchFamily="18" charset="0"/>
            </a:rPr>
            <a:t>The higher the share, the more the reduction in inequality</a:t>
          </a:r>
          <a:r>
            <a:rPr lang="en-US" sz="7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</a:p>
      </dgm:t>
    </dgm:pt>
    <dgm:pt modelId="{36890411-61A0-4838-B5A2-C5AA1AF79B70}" type="parTrans" cxnId="{6542F65B-7634-4FBA-B3A0-2352063AC1A0}">
      <dgm:prSet/>
      <dgm:spPr/>
      <dgm:t>
        <a:bodyPr/>
        <a:lstStyle/>
        <a:p>
          <a:endParaRPr lang="en-US"/>
        </a:p>
      </dgm:t>
    </dgm:pt>
    <dgm:pt modelId="{78CECF36-6DE5-4031-A0C7-47909F9AD72B}" type="sibTrans" cxnId="{6542F65B-7634-4FBA-B3A0-2352063AC1A0}">
      <dgm:prSet/>
      <dgm:spPr/>
      <dgm:t>
        <a:bodyPr/>
        <a:lstStyle/>
        <a:p>
          <a:endParaRPr lang="en-US"/>
        </a:p>
      </dgm:t>
    </dgm:pt>
    <dgm:pt modelId="{F0F2BD73-DF4C-4DA9-B399-0509321CC7B1}">
      <dgm:prSet phldrT="[Text]" custT="1"/>
      <dgm:spPr>
        <a:ln>
          <a:solidFill>
            <a:srgbClr val="3333B2"/>
          </a:solidFill>
        </a:ln>
      </dgm:spPr>
      <dgm:t>
        <a:bodyPr/>
        <a:lstStyle/>
        <a:p>
          <a:pPr algn="l"/>
          <a:endParaRPr lang="en-US" sz="75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D87A488-E77A-4E10-88D5-BBC7F7E46ADB}" type="parTrans" cxnId="{9D94AC0B-1346-4623-90E8-44B8A53FCA23}">
      <dgm:prSet/>
      <dgm:spPr/>
      <dgm:t>
        <a:bodyPr/>
        <a:lstStyle/>
        <a:p>
          <a:endParaRPr lang="en-US"/>
        </a:p>
      </dgm:t>
    </dgm:pt>
    <dgm:pt modelId="{CC9411A7-D79D-499D-B26E-29A38BA20D73}" type="sibTrans" cxnId="{9D94AC0B-1346-4623-90E8-44B8A53FCA23}">
      <dgm:prSet/>
      <dgm:spPr/>
      <dgm:t>
        <a:bodyPr/>
        <a:lstStyle/>
        <a:p>
          <a:endParaRPr lang="en-US"/>
        </a:p>
      </dgm:t>
    </dgm:pt>
    <dgm:pt modelId="{8C6827C1-3EB6-4CC7-84D7-BA516FA51664}">
      <dgm:prSet phldrT="[Text]" custT="1"/>
      <dgm:spPr>
        <a:ln>
          <a:solidFill>
            <a:srgbClr val="3333B2"/>
          </a:solidFill>
        </a:ln>
      </dgm:spPr>
      <dgm:t>
        <a:bodyPr/>
        <a:lstStyle/>
        <a:p>
          <a:pPr algn="l"/>
          <a:endParaRPr lang="en-US" sz="75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B07CE02-FD26-4B73-9BD5-0FDDAA9CC0BF}" type="parTrans" cxnId="{279DDB05-7452-45ED-92DF-213F72CD22A6}">
      <dgm:prSet/>
      <dgm:spPr/>
      <dgm:t>
        <a:bodyPr/>
        <a:lstStyle/>
        <a:p>
          <a:endParaRPr lang="en-US"/>
        </a:p>
      </dgm:t>
    </dgm:pt>
    <dgm:pt modelId="{D49832BA-9390-441F-87EF-9BD262665921}" type="sibTrans" cxnId="{279DDB05-7452-45ED-92DF-213F72CD22A6}">
      <dgm:prSet/>
      <dgm:spPr/>
      <dgm:t>
        <a:bodyPr/>
        <a:lstStyle/>
        <a:p>
          <a:endParaRPr lang="en-US"/>
        </a:p>
      </dgm:t>
    </dgm:pt>
    <dgm:pt modelId="{C0D7D822-5FBE-4053-A9F6-094AD86F3CA4}">
      <dgm:prSet phldrT="[Text]" custT="1"/>
      <dgm:spPr>
        <a:ln>
          <a:solidFill>
            <a:srgbClr val="3333B2"/>
          </a:solidFill>
        </a:ln>
      </dgm:spPr>
      <dgm:t>
        <a:bodyPr/>
        <a:lstStyle/>
        <a:p>
          <a:r>
            <a:rPr lang="en-US" sz="800" dirty="0">
              <a:latin typeface="Times New Roman" panose="02020603050405020304" pitchFamily="18" charset="0"/>
              <a:cs typeface="Times New Roman" panose="02020603050405020304" pitchFamily="18" charset="0"/>
            </a:rPr>
            <a:t>Japan 1981-1998</a:t>
          </a:r>
        </a:p>
      </dgm:t>
    </dgm:pt>
    <dgm:pt modelId="{FE3C8FA8-A289-4730-9020-1F6E0FA79496}" type="parTrans" cxnId="{2717660A-45D7-4793-B433-CC81BC94C049}">
      <dgm:prSet/>
      <dgm:spPr/>
      <dgm:t>
        <a:bodyPr/>
        <a:lstStyle/>
        <a:p>
          <a:endParaRPr lang="en-US"/>
        </a:p>
      </dgm:t>
    </dgm:pt>
    <dgm:pt modelId="{D56A3D6A-AF08-422D-89C7-612CB96C8A11}" type="sibTrans" cxnId="{2717660A-45D7-4793-B433-CC81BC94C049}">
      <dgm:prSet/>
      <dgm:spPr/>
      <dgm:t>
        <a:bodyPr/>
        <a:lstStyle/>
        <a:p>
          <a:endParaRPr lang="en-US"/>
        </a:p>
      </dgm:t>
    </dgm:pt>
    <dgm:pt modelId="{F2DD9893-747F-4D09-A6C9-4411A486376F}">
      <dgm:prSet custT="1"/>
      <dgm:spPr>
        <a:ln>
          <a:solidFill>
            <a:srgbClr val="3333B2"/>
          </a:solidFill>
        </a:ln>
      </dgm:spPr>
      <dgm:t>
        <a:bodyPr/>
        <a:lstStyle/>
        <a:p>
          <a:endParaRPr lang="en-US" sz="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8C4D6A2-5196-4124-8AA3-F5F9A50F45CD}" type="parTrans" cxnId="{A8DF02FD-1C0E-4C4D-84D4-CB9595498EDF}">
      <dgm:prSet/>
      <dgm:spPr/>
      <dgm:t>
        <a:bodyPr/>
        <a:lstStyle/>
        <a:p>
          <a:endParaRPr lang="en-US"/>
        </a:p>
      </dgm:t>
    </dgm:pt>
    <dgm:pt modelId="{04B28CE0-28FC-4AF8-9E94-4C0D27D7BD27}" type="sibTrans" cxnId="{A8DF02FD-1C0E-4C4D-84D4-CB9595498EDF}">
      <dgm:prSet/>
      <dgm:spPr/>
      <dgm:t>
        <a:bodyPr/>
        <a:lstStyle/>
        <a:p>
          <a:endParaRPr lang="en-US"/>
        </a:p>
      </dgm:t>
    </dgm:pt>
    <dgm:pt modelId="{9F63E6A9-9DB3-4D99-A083-D44A4DC1CF84}">
      <dgm:prSet custT="1"/>
      <dgm:spPr>
        <a:ln>
          <a:solidFill>
            <a:srgbClr val="3333B2"/>
          </a:solidFill>
        </a:ln>
      </dgm:spPr>
      <dgm:t>
        <a:bodyPr/>
        <a:lstStyle/>
        <a:p>
          <a:endParaRPr lang="en-US" sz="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52AF4C8-8FB5-4959-AED2-F63798D69D93}" type="parTrans" cxnId="{413F91D6-AC48-47AA-BF37-8351DA386F0A}">
      <dgm:prSet/>
      <dgm:spPr/>
      <dgm:t>
        <a:bodyPr/>
        <a:lstStyle/>
        <a:p>
          <a:endParaRPr lang="en-US"/>
        </a:p>
      </dgm:t>
    </dgm:pt>
    <dgm:pt modelId="{C8564942-0552-491E-9542-8802188BE0F1}" type="sibTrans" cxnId="{413F91D6-AC48-47AA-BF37-8351DA386F0A}">
      <dgm:prSet/>
      <dgm:spPr/>
      <dgm:t>
        <a:bodyPr/>
        <a:lstStyle/>
        <a:p>
          <a:endParaRPr lang="en-US"/>
        </a:p>
      </dgm:t>
    </dgm:pt>
    <dgm:pt modelId="{B0A404CC-7688-4BF7-9869-B589498BA884}">
      <dgm:prSet phldrT="[Text]" custT="1"/>
      <dgm:spPr>
        <a:ln>
          <a:solidFill>
            <a:srgbClr val="3333B2"/>
          </a:solidFill>
        </a:ln>
      </dgm:spPr>
      <dgm:t>
        <a:bodyPr/>
        <a:lstStyle/>
        <a:p>
          <a:pPr algn="l"/>
          <a:r>
            <a:rPr lang="en-US" sz="750" dirty="0">
              <a:latin typeface="Times New Roman" panose="02020603050405020304" pitchFamily="18" charset="0"/>
              <a:cs typeface="Times New Roman" panose="02020603050405020304" pitchFamily="18" charset="0"/>
            </a:rPr>
            <a:t>The effect of unconventional MP depends on the share of deposits on total financial assets</a:t>
          </a:r>
        </a:p>
      </dgm:t>
    </dgm:pt>
    <dgm:pt modelId="{DEA9527C-E632-4A0E-9F39-68626A823DAD}" type="parTrans" cxnId="{3351C8E6-22C3-404F-8560-ECF2E895F174}">
      <dgm:prSet/>
      <dgm:spPr/>
      <dgm:t>
        <a:bodyPr/>
        <a:lstStyle/>
        <a:p>
          <a:endParaRPr lang="en-US"/>
        </a:p>
      </dgm:t>
    </dgm:pt>
    <dgm:pt modelId="{A2137A1C-E275-4CDE-9A8A-F13FD669A6D8}" type="sibTrans" cxnId="{3351C8E6-22C3-404F-8560-ECF2E895F174}">
      <dgm:prSet/>
      <dgm:spPr/>
      <dgm:t>
        <a:bodyPr/>
        <a:lstStyle/>
        <a:p>
          <a:endParaRPr lang="en-US"/>
        </a:p>
      </dgm:t>
    </dgm:pt>
    <dgm:pt modelId="{40587D58-AA2E-47B5-817D-67ED0460D958}" type="pres">
      <dgm:prSet presAssocID="{1D133D48-D3D3-44E6-8801-F11962543AF1}" presName="Name0" presStyleCnt="0">
        <dgm:presLayoutVars>
          <dgm:dir/>
          <dgm:animLvl val="lvl"/>
          <dgm:resizeHandles val="exact"/>
        </dgm:presLayoutVars>
      </dgm:prSet>
      <dgm:spPr/>
    </dgm:pt>
    <dgm:pt modelId="{38C55F50-286E-48EB-BEF2-8DACEB8D82D4}" type="pres">
      <dgm:prSet presAssocID="{BD17711D-885A-44DC-AC61-5A20407BF71F}" presName="composite" presStyleCnt="0"/>
      <dgm:spPr/>
    </dgm:pt>
    <dgm:pt modelId="{CD0DBDAC-E2DE-4259-A934-DD00AE8EF791}" type="pres">
      <dgm:prSet presAssocID="{BD17711D-885A-44DC-AC61-5A20407BF71F}" presName="parTx" presStyleLbl="alignNode1" presStyleIdx="0" presStyleCnt="3" custScaleY="74823" custLinFactNeighborX="-103" custLinFactNeighborY="-16942">
        <dgm:presLayoutVars>
          <dgm:chMax val="0"/>
          <dgm:chPref val="0"/>
          <dgm:bulletEnabled val="1"/>
        </dgm:presLayoutVars>
      </dgm:prSet>
      <dgm:spPr/>
    </dgm:pt>
    <dgm:pt modelId="{64209384-5620-4506-AD17-CCC102399122}" type="pres">
      <dgm:prSet presAssocID="{BD17711D-885A-44DC-AC61-5A20407BF71F}" presName="desTx" presStyleLbl="alignAccFollowNode1" presStyleIdx="0" presStyleCnt="3" custLinFactNeighborX="-3545" custLinFactNeighborY="89169">
        <dgm:presLayoutVars>
          <dgm:bulletEnabled val="1"/>
        </dgm:presLayoutVars>
      </dgm:prSet>
      <dgm:spPr/>
    </dgm:pt>
    <dgm:pt modelId="{15FBD1CD-9971-4844-8E86-3D16A2320533}" type="pres">
      <dgm:prSet presAssocID="{29F927A9-E95B-4F85-99B1-CCDD1E883207}" presName="space" presStyleCnt="0"/>
      <dgm:spPr/>
    </dgm:pt>
    <dgm:pt modelId="{1C9E5E9A-4360-4541-8BAF-99F179FEEC74}" type="pres">
      <dgm:prSet presAssocID="{5FC60275-69BF-4A01-84B8-4D781F843655}" presName="composite" presStyleCnt="0"/>
      <dgm:spPr/>
    </dgm:pt>
    <dgm:pt modelId="{BE87F508-84DC-4849-805B-AD734DAE9DE3}" type="pres">
      <dgm:prSet presAssocID="{5FC60275-69BF-4A01-84B8-4D781F843655}" presName="parTx" presStyleLbl="alignNode1" presStyleIdx="1" presStyleCnt="3" custScaleY="74823" custLinFactNeighborY="-21356">
        <dgm:presLayoutVars>
          <dgm:chMax val="0"/>
          <dgm:chPref val="0"/>
          <dgm:bulletEnabled val="1"/>
        </dgm:presLayoutVars>
      </dgm:prSet>
      <dgm:spPr/>
    </dgm:pt>
    <dgm:pt modelId="{538AE1A0-494E-492F-B2F6-0964B3F5D728}" type="pres">
      <dgm:prSet presAssocID="{5FC60275-69BF-4A01-84B8-4D781F843655}" presName="desTx" presStyleLbl="alignAccFollowNode1" presStyleIdx="1" presStyleCnt="3" custLinFactNeighborY="89167">
        <dgm:presLayoutVars>
          <dgm:bulletEnabled val="1"/>
        </dgm:presLayoutVars>
      </dgm:prSet>
      <dgm:spPr/>
    </dgm:pt>
    <dgm:pt modelId="{6E56188B-108B-400C-BC8D-51F0A2A8EA9F}" type="pres">
      <dgm:prSet presAssocID="{7AACCDD8-7E81-4EC7-9621-0EA89E1F9921}" presName="space" presStyleCnt="0"/>
      <dgm:spPr/>
    </dgm:pt>
    <dgm:pt modelId="{4DFCDE94-CEB0-43C3-A41F-5A2AAED4747E}" type="pres">
      <dgm:prSet presAssocID="{40466935-5395-43AC-83C8-F002704BF247}" presName="composite" presStyleCnt="0"/>
      <dgm:spPr/>
    </dgm:pt>
    <dgm:pt modelId="{7CE7F6B8-DFA3-41B3-994C-6E72841F5FC4}" type="pres">
      <dgm:prSet presAssocID="{40466935-5395-43AC-83C8-F002704BF247}" presName="parTx" presStyleLbl="alignNode1" presStyleIdx="2" presStyleCnt="3" custScaleY="74823" custLinFactNeighborY="-14190">
        <dgm:presLayoutVars>
          <dgm:chMax val="0"/>
          <dgm:chPref val="0"/>
          <dgm:bulletEnabled val="1"/>
        </dgm:presLayoutVars>
      </dgm:prSet>
      <dgm:spPr/>
    </dgm:pt>
    <dgm:pt modelId="{5946217E-9C82-4689-A428-64478B47188B}" type="pres">
      <dgm:prSet presAssocID="{40466935-5395-43AC-83C8-F002704BF247}" presName="desTx" presStyleLbl="alignAccFollowNode1" presStyleIdx="2" presStyleCnt="3" custLinFactNeighborY="89167">
        <dgm:presLayoutVars>
          <dgm:bulletEnabled val="1"/>
        </dgm:presLayoutVars>
      </dgm:prSet>
      <dgm:spPr/>
    </dgm:pt>
  </dgm:ptLst>
  <dgm:cxnLst>
    <dgm:cxn modelId="{D07AC705-D71C-4CC4-8C94-DF1F5DFDCCDC}" type="presOf" srcId="{9F63E6A9-9DB3-4D99-A083-D44A4DC1CF84}" destId="{538AE1A0-494E-492F-B2F6-0964B3F5D728}" srcOrd="0" destOrd="4" presId="urn:microsoft.com/office/officeart/2005/8/layout/hList1"/>
    <dgm:cxn modelId="{279DDB05-7452-45ED-92DF-213F72CD22A6}" srcId="{BD17711D-885A-44DC-AC61-5A20407BF71F}" destId="{8C6827C1-3EB6-4CC7-84D7-BA516FA51664}" srcOrd="7" destOrd="0" parTransId="{0B07CE02-FD26-4B73-9BD5-0FDDAA9CC0BF}" sibTransId="{D49832BA-9390-441F-87EF-9BD262665921}"/>
    <dgm:cxn modelId="{2717660A-45D7-4793-B433-CC81BC94C049}" srcId="{5FC60275-69BF-4A01-84B8-4D781F843655}" destId="{C0D7D822-5FBE-4053-A9F6-094AD86F3CA4}" srcOrd="1" destOrd="0" parTransId="{FE3C8FA8-A289-4730-9020-1F6E0FA79496}" sibTransId="{D56A3D6A-AF08-422D-89C7-612CB96C8A11}"/>
    <dgm:cxn modelId="{375E4A0A-EF82-4345-BD6B-61B3E0045F74}" srcId="{5FC60275-69BF-4A01-84B8-4D781F843655}" destId="{6D925FFB-41F0-47FA-AC1A-F58B94A032A1}" srcOrd="2" destOrd="0" parTransId="{25EBB6E0-1843-44A7-8AD0-84A9DE3B2610}" sibTransId="{E4930C5C-CB2F-4AB9-AE78-7AEABC695706}"/>
    <dgm:cxn modelId="{9D94AC0B-1346-4623-90E8-44B8A53FCA23}" srcId="{BD17711D-885A-44DC-AC61-5A20407BF71F}" destId="{F0F2BD73-DF4C-4DA9-B399-0509321CC7B1}" srcOrd="4" destOrd="0" parTransId="{0D87A488-E77A-4E10-88D5-BBC7F7E46ADB}" sibTransId="{CC9411A7-D79D-499D-B26E-29A38BA20D73}"/>
    <dgm:cxn modelId="{0551A40E-FD7D-4EF7-908C-ABB5A0581969}" type="presOf" srcId="{D5114DE8-5FC2-4B7B-88EF-12AE7E6223B8}" destId="{64209384-5620-4506-AD17-CCC102399122}" srcOrd="0" destOrd="0" presId="urn:microsoft.com/office/officeart/2005/8/layout/hList1"/>
    <dgm:cxn modelId="{696E5317-4F31-43D2-93CB-F852E7E68B4D}" srcId="{BD17711D-885A-44DC-AC61-5A20407BF71F}" destId="{9442D50F-2642-44EB-AD1F-FC7E518DC4A0}" srcOrd="3" destOrd="0" parTransId="{9FB2DF0D-AF9B-43AD-B986-50C75DB45F8E}" sibTransId="{F6DA5349-1289-46F4-9A99-D8F3BB9E0890}"/>
    <dgm:cxn modelId="{B705FA2D-49F6-49CB-A1F3-17DD9AA16623}" srcId="{BD17711D-885A-44DC-AC61-5A20407BF71F}" destId="{53E27216-52C6-415E-81AA-BC3E64400662}" srcOrd="2" destOrd="0" parTransId="{1E56F50C-A93B-488E-9EEF-9941DA259601}" sibTransId="{78AF4F4D-B799-499F-95A8-A62846F89C3B}"/>
    <dgm:cxn modelId="{B26B4B31-361F-45C6-8D2D-DDD372CD1F08}" type="presOf" srcId="{07A85AE0-6E71-421F-96CB-D479AF582487}" destId="{64209384-5620-4506-AD17-CCC102399122}" srcOrd="0" destOrd="1" presId="urn:microsoft.com/office/officeart/2005/8/layout/hList1"/>
    <dgm:cxn modelId="{FF113A37-6960-4276-ADBF-2C1F101D6A96}" srcId="{5FC60275-69BF-4A01-84B8-4D781F843655}" destId="{BF0448E0-B477-4723-8CFA-4C21F7BA091B}" srcOrd="0" destOrd="0" parTransId="{0F411AD6-FB6C-4954-9533-B5DF1FC931D7}" sibTransId="{4FEE6A8A-FBA7-41E8-B8DA-188BD49AE20D}"/>
    <dgm:cxn modelId="{85343E3A-2A49-41C0-9B39-0DCF0933E107}" srcId="{5FC60275-69BF-4A01-84B8-4D781F843655}" destId="{1416E64F-16E0-4676-8613-BCA9ABF5D6D0}" srcOrd="8" destOrd="0" parTransId="{0F49C544-2C8F-4D4B-B06D-07D14D0EC332}" sibTransId="{B49ECCDF-0282-4B5F-A700-DEBF467EB7A4}"/>
    <dgm:cxn modelId="{6542F65B-7634-4FBA-B3A0-2352063AC1A0}" srcId="{BD17711D-885A-44DC-AC61-5A20407BF71F}" destId="{888836EA-C279-4790-B54C-783D54694B6A}" srcOrd="8" destOrd="0" parTransId="{36890411-61A0-4838-B5A2-C5AA1AF79B70}" sibTransId="{78CECF36-6DE5-4031-A0C7-47909F9AD72B}"/>
    <dgm:cxn modelId="{DCAA4D5C-5934-476F-AB3B-43F192E7D0C8}" type="presOf" srcId="{10996737-3FD3-4143-BB3A-06F248147F7E}" destId="{5946217E-9C82-4689-A428-64478B47188B}" srcOrd="0" destOrd="1" presId="urn:microsoft.com/office/officeart/2005/8/layout/hList1"/>
    <dgm:cxn modelId="{CD98585E-3A00-4452-89C8-0A88E4464E68}" type="presOf" srcId="{42444967-02CA-4851-BB3D-D82880A6D7CF}" destId="{538AE1A0-494E-492F-B2F6-0964B3F5D728}" srcOrd="0" destOrd="3" presId="urn:microsoft.com/office/officeart/2005/8/layout/hList1"/>
    <dgm:cxn modelId="{0F98A964-3824-4F09-A149-378ED3A90F0A}" type="presOf" srcId="{8C6827C1-3EB6-4CC7-84D7-BA516FA51664}" destId="{64209384-5620-4506-AD17-CCC102399122}" srcOrd="0" destOrd="7" presId="urn:microsoft.com/office/officeart/2005/8/layout/hList1"/>
    <dgm:cxn modelId="{4F510B67-9A03-4012-814E-3304FB442698}" type="presOf" srcId="{0E3FB3F4-8F05-4B1D-98AF-4B651DAC64C6}" destId="{64209384-5620-4506-AD17-CCC102399122}" srcOrd="0" destOrd="9" presId="urn:microsoft.com/office/officeart/2005/8/layout/hList1"/>
    <dgm:cxn modelId="{62CBBF67-281A-4CCD-B862-397EDE3ECB52}" srcId="{BD17711D-885A-44DC-AC61-5A20407BF71F}" destId="{8DF10D41-DD9E-4BD7-A54C-6D15809186DB}" srcOrd="5" destOrd="0" parTransId="{1A1A3D11-CC65-492C-82BD-92C6E9EAB97A}" sibTransId="{1D6731AC-4963-4DC3-8DCF-3F2C91F0875A}"/>
    <dgm:cxn modelId="{05315249-890F-41F0-B16D-ED65C7017FD4}" srcId="{1D133D48-D3D3-44E6-8801-F11962543AF1}" destId="{40466935-5395-43AC-83C8-F002704BF247}" srcOrd="2" destOrd="0" parTransId="{90433593-A985-4A94-9E62-9EC9D628F791}" sibTransId="{117C6F3C-6A5C-4CC5-8C1B-93E9DBC6AA8E}"/>
    <dgm:cxn modelId="{5EED5C6A-A980-4CFE-91E3-0D5BAFA2BCCC}" type="presOf" srcId="{336CFE1F-3027-4599-81D8-F23E01EED752}" destId="{5946217E-9C82-4689-A428-64478B47188B}" srcOrd="0" destOrd="2" presId="urn:microsoft.com/office/officeart/2005/8/layout/hList1"/>
    <dgm:cxn modelId="{D0C40F4B-7691-48D6-ABE1-71F73CEE010F}" type="presOf" srcId="{53E27216-52C6-415E-81AA-BC3E64400662}" destId="{64209384-5620-4506-AD17-CCC102399122}" srcOrd="0" destOrd="2" presId="urn:microsoft.com/office/officeart/2005/8/layout/hList1"/>
    <dgm:cxn modelId="{7081BF4B-40B1-470B-ACD2-AB638E3CFB6A}" srcId="{5FC60275-69BF-4A01-84B8-4D781F843655}" destId="{6EBB1BCE-5C7D-447F-8292-28DC4D0F8317}" srcOrd="5" destOrd="0" parTransId="{CCE4742B-2CC1-440C-8912-D3335331A911}" sibTransId="{B8A1893B-DCA8-40FF-A9D4-E1EEB1B9F6A4}"/>
    <dgm:cxn modelId="{9A01F770-9B30-4BEF-8105-635753DB93A0}" srcId="{BD17711D-885A-44DC-AC61-5A20407BF71F}" destId="{0E3FB3F4-8F05-4B1D-98AF-4B651DAC64C6}" srcOrd="9" destOrd="0" parTransId="{BBB1CAAF-7410-4A05-8737-2DCE375F203D}" sibTransId="{F2C850F4-6506-47BB-9988-69E67A3582B1}"/>
    <dgm:cxn modelId="{FAF39372-A2F6-4FBB-B190-EC3CCC5CB2E2}" type="presOf" srcId="{AF04C2F2-43B8-4A86-833C-E8350E12E357}" destId="{5946217E-9C82-4689-A428-64478B47188B}" srcOrd="0" destOrd="0" presId="urn:microsoft.com/office/officeart/2005/8/layout/hList1"/>
    <dgm:cxn modelId="{3FE66976-9CB9-47B3-ADD3-101FA7431487}" type="presOf" srcId="{58B8EC10-F434-45C5-8225-F6003123E2AB}" destId="{5946217E-9C82-4689-A428-64478B47188B}" srcOrd="0" destOrd="5" presId="urn:microsoft.com/office/officeart/2005/8/layout/hList1"/>
    <dgm:cxn modelId="{1A32B856-6EB2-40B8-A87F-E16822CC4CA1}" type="presOf" srcId="{9442D50F-2642-44EB-AD1F-FC7E518DC4A0}" destId="{64209384-5620-4506-AD17-CCC102399122}" srcOrd="0" destOrd="3" presId="urn:microsoft.com/office/officeart/2005/8/layout/hList1"/>
    <dgm:cxn modelId="{FDDF3159-6DB0-465A-854D-B0E8FB7B6DD7}" type="presOf" srcId="{F2DD9893-747F-4D09-A6C9-4411A486376F}" destId="{538AE1A0-494E-492F-B2F6-0964B3F5D728}" srcOrd="0" destOrd="6" presId="urn:microsoft.com/office/officeart/2005/8/layout/hList1"/>
    <dgm:cxn modelId="{0BE88459-CA23-47B9-B185-4C0271008430}" type="presOf" srcId="{40466935-5395-43AC-83C8-F002704BF247}" destId="{7CE7F6B8-DFA3-41B3-994C-6E72841F5FC4}" srcOrd="0" destOrd="0" presId="urn:microsoft.com/office/officeart/2005/8/layout/hList1"/>
    <dgm:cxn modelId="{691CD781-3253-4BF7-BE6E-852E58A270A8}" type="presOf" srcId="{C0D7D822-5FBE-4053-A9F6-094AD86F3CA4}" destId="{538AE1A0-494E-492F-B2F6-0964B3F5D728}" srcOrd="0" destOrd="1" presId="urn:microsoft.com/office/officeart/2005/8/layout/hList1"/>
    <dgm:cxn modelId="{B2CD8387-A01F-4503-87F2-A9DBDB69CA94}" srcId="{40466935-5395-43AC-83C8-F002704BF247}" destId="{10996737-3FD3-4143-BB3A-06F248147F7E}" srcOrd="1" destOrd="0" parTransId="{7B76176C-01E6-4E4C-9403-8D7790998853}" sibTransId="{BEAD64E5-8455-4973-B1C7-25E667F1C320}"/>
    <dgm:cxn modelId="{562A3089-B0D9-43B8-BB5B-83005467F3DA}" type="presOf" srcId="{FB42BB85-D94E-46C2-B506-926327DF5D41}" destId="{5946217E-9C82-4689-A428-64478B47188B}" srcOrd="0" destOrd="3" presId="urn:microsoft.com/office/officeart/2005/8/layout/hList1"/>
    <dgm:cxn modelId="{0BC55C8B-E4CF-409B-9C6E-E77743CBC705}" srcId="{BD17711D-885A-44DC-AC61-5A20407BF71F}" destId="{D5114DE8-5FC2-4B7B-88EF-12AE7E6223B8}" srcOrd="0" destOrd="0" parTransId="{EAD0D399-85DB-488B-BAD6-AE3CB3288C71}" sibTransId="{71A41519-A5CA-4698-81D2-0F6AB7984D7E}"/>
    <dgm:cxn modelId="{3D13D78C-7E44-4AED-A108-E8FC13A16481}" srcId="{5FC60275-69BF-4A01-84B8-4D781F843655}" destId="{42444967-02CA-4851-BB3D-D82880A6D7CF}" srcOrd="3" destOrd="0" parTransId="{E32AD1CF-0DF0-40F5-A6F9-70E243AEC0D2}" sibTransId="{A25B76F8-8855-45F3-A0BD-BAFBF812773E}"/>
    <dgm:cxn modelId="{425E578E-D0F0-44F3-969D-7D4F75FDBAC0}" srcId="{40466935-5395-43AC-83C8-F002704BF247}" destId="{58B8EC10-F434-45C5-8225-F6003123E2AB}" srcOrd="5" destOrd="0" parTransId="{DEDDC244-486A-4E88-921B-9B596651541E}" sibTransId="{27FB3A91-983F-409D-98EA-D3254FA090CD}"/>
    <dgm:cxn modelId="{25E0F492-80D9-482C-816E-700632DA90D2}" type="presOf" srcId="{6EBB1BCE-5C7D-447F-8292-28DC4D0F8317}" destId="{538AE1A0-494E-492F-B2F6-0964B3F5D728}" srcOrd="0" destOrd="5" presId="urn:microsoft.com/office/officeart/2005/8/layout/hList1"/>
    <dgm:cxn modelId="{B6230E94-83B1-4946-9DC1-EE813B2497A1}" type="presOf" srcId="{B0A404CC-7688-4BF7-9869-B589498BA884}" destId="{64209384-5620-4506-AD17-CCC102399122}" srcOrd="0" destOrd="6" presId="urn:microsoft.com/office/officeart/2005/8/layout/hList1"/>
    <dgm:cxn modelId="{B9F6659B-99BC-4415-BF30-95773EFEA92B}" type="presOf" srcId="{1416E64F-16E0-4676-8613-BCA9ABF5D6D0}" destId="{538AE1A0-494E-492F-B2F6-0964B3F5D728}" srcOrd="0" destOrd="8" presId="urn:microsoft.com/office/officeart/2005/8/layout/hList1"/>
    <dgm:cxn modelId="{B297D3A5-2B1B-42F5-A9C0-753A16489A1A}" type="presOf" srcId="{B9AD04B3-515D-48D3-8C03-862885FBE316}" destId="{538AE1A0-494E-492F-B2F6-0964B3F5D728}" srcOrd="0" destOrd="7" presId="urn:microsoft.com/office/officeart/2005/8/layout/hList1"/>
    <dgm:cxn modelId="{5F2254A6-4F42-4E4A-AF2E-A639EF383E35}" type="presOf" srcId="{8DF10D41-DD9E-4BD7-A54C-6D15809186DB}" destId="{64209384-5620-4506-AD17-CCC102399122}" srcOrd="0" destOrd="5" presId="urn:microsoft.com/office/officeart/2005/8/layout/hList1"/>
    <dgm:cxn modelId="{49D703B4-D402-4F24-8B66-6F284CF709D9}" srcId="{5FC60275-69BF-4A01-84B8-4D781F843655}" destId="{B9AD04B3-515D-48D3-8C03-862885FBE316}" srcOrd="7" destOrd="0" parTransId="{8A92E618-B6DB-49E0-B1A2-0E4A980FC352}" sibTransId="{199E028B-E95D-43D9-B7C5-C657F800949F}"/>
    <dgm:cxn modelId="{FE8E3FB4-0A77-446A-B9DF-1AE8A2DEBC6F}" type="presOf" srcId="{D8F3ABD7-12FD-49E4-BB11-41B611BCF228}" destId="{5946217E-9C82-4689-A428-64478B47188B}" srcOrd="0" destOrd="4" presId="urn:microsoft.com/office/officeart/2005/8/layout/hList1"/>
    <dgm:cxn modelId="{F77F89B9-CECD-43A0-B65B-97DEFC8516AC}" srcId="{40466935-5395-43AC-83C8-F002704BF247}" destId="{AF04C2F2-43B8-4A86-833C-E8350E12E357}" srcOrd="0" destOrd="0" parTransId="{3022B110-274C-4FEE-B65F-DEE8908CFA75}" sibTransId="{04080F87-AA8E-44DE-A5C0-FEC9F5E50A08}"/>
    <dgm:cxn modelId="{6E9C0CBA-649D-4E3C-BA70-BAB90CE2EAC5}" srcId="{1D133D48-D3D3-44E6-8801-F11962543AF1}" destId="{BD17711D-885A-44DC-AC61-5A20407BF71F}" srcOrd="0" destOrd="0" parTransId="{29ADFF8F-CE9C-40FE-86B5-C1D3EFBC5F13}" sibTransId="{29F927A9-E95B-4F85-99B1-CCDD1E883207}"/>
    <dgm:cxn modelId="{21E03DBE-509E-44D5-A55B-7572DE0F901A}" type="presOf" srcId="{6D925FFB-41F0-47FA-AC1A-F58B94A032A1}" destId="{538AE1A0-494E-492F-B2F6-0964B3F5D728}" srcOrd="0" destOrd="2" presId="urn:microsoft.com/office/officeart/2005/8/layout/hList1"/>
    <dgm:cxn modelId="{0CCC29C4-52AB-4E74-8233-AF3EB3351015}" type="presOf" srcId="{1D133D48-D3D3-44E6-8801-F11962543AF1}" destId="{40587D58-AA2E-47B5-817D-67ED0460D958}" srcOrd="0" destOrd="0" presId="urn:microsoft.com/office/officeart/2005/8/layout/hList1"/>
    <dgm:cxn modelId="{99776ACF-7F5F-47CC-9EF8-82AE1F064AC6}" srcId="{40466935-5395-43AC-83C8-F002704BF247}" destId="{FB42BB85-D94E-46C2-B506-926327DF5D41}" srcOrd="3" destOrd="0" parTransId="{D4533800-0924-4CE4-B25D-290DE2E236EC}" sibTransId="{CAD3BDA9-154C-42BB-A9DB-F4A4D3B4850A}"/>
    <dgm:cxn modelId="{62EFD4D0-2E6D-40DA-A697-F7E61B31E35A}" type="presOf" srcId="{888836EA-C279-4790-B54C-783D54694B6A}" destId="{64209384-5620-4506-AD17-CCC102399122}" srcOrd="0" destOrd="8" presId="urn:microsoft.com/office/officeart/2005/8/layout/hList1"/>
    <dgm:cxn modelId="{413F91D6-AC48-47AA-BF37-8351DA386F0A}" srcId="{5FC60275-69BF-4A01-84B8-4D781F843655}" destId="{9F63E6A9-9DB3-4D99-A083-D44A4DC1CF84}" srcOrd="4" destOrd="0" parTransId="{452AF4C8-8FB5-4959-AED2-F63798D69D93}" sibTransId="{C8564942-0552-491E-9542-8802188BE0F1}"/>
    <dgm:cxn modelId="{4D53D1DD-37D9-4315-91B9-34952CB48A01}" type="presOf" srcId="{BF0448E0-B477-4723-8CFA-4C21F7BA091B}" destId="{538AE1A0-494E-492F-B2F6-0964B3F5D728}" srcOrd="0" destOrd="0" presId="urn:microsoft.com/office/officeart/2005/8/layout/hList1"/>
    <dgm:cxn modelId="{714038DE-214A-4AE7-B581-8E7F567DE60D}" srcId="{40466935-5395-43AC-83C8-F002704BF247}" destId="{D8F3ABD7-12FD-49E4-BB11-41B611BCF228}" srcOrd="4" destOrd="0" parTransId="{5BB6FF5C-3591-4A0A-945E-4EB317747F6F}" sibTransId="{008927C5-7EDA-47A1-8A32-CCD0367A75EA}"/>
    <dgm:cxn modelId="{EB9929E1-8A31-488F-B6A7-4876BCE6E320}" srcId="{1D133D48-D3D3-44E6-8801-F11962543AF1}" destId="{5FC60275-69BF-4A01-84B8-4D781F843655}" srcOrd="1" destOrd="0" parTransId="{EE7BB46C-527D-4595-B83D-CFA72994121F}" sibTransId="{7AACCDD8-7E81-4EC7-9621-0EA89E1F9921}"/>
    <dgm:cxn modelId="{3351C8E6-22C3-404F-8560-ECF2E895F174}" srcId="{BD17711D-885A-44DC-AC61-5A20407BF71F}" destId="{B0A404CC-7688-4BF7-9869-B589498BA884}" srcOrd="6" destOrd="0" parTransId="{DEA9527C-E632-4A0E-9F39-68626A823DAD}" sibTransId="{A2137A1C-E275-4CDE-9A8A-F13FD669A6D8}"/>
    <dgm:cxn modelId="{7B95B8E8-CA3D-498F-9DA8-A15EA401657C}" srcId="{40466935-5395-43AC-83C8-F002704BF247}" destId="{336CFE1F-3027-4599-81D8-F23E01EED752}" srcOrd="2" destOrd="0" parTransId="{BEB0DF29-24C8-4497-809E-89A67B9BFE00}" sibTransId="{2E722801-D15C-47C1-9FC9-5DBD5004E51C}"/>
    <dgm:cxn modelId="{82B5BFE8-2345-47D2-9627-2309265A8EA4}" type="presOf" srcId="{5FC60275-69BF-4A01-84B8-4D781F843655}" destId="{BE87F508-84DC-4849-805B-AD734DAE9DE3}" srcOrd="0" destOrd="0" presId="urn:microsoft.com/office/officeart/2005/8/layout/hList1"/>
    <dgm:cxn modelId="{106BF2E8-FF7A-4732-972D-E4E379ACA353}" type="presOf" srcId="{F0F2BD73-DF4C-4DA9-B399-0509321CC7B1}" destId="{64209384-5620-4506-AD17-CCC102399122}" srcOrd="0" destOrd="4" presId="urn:microsoft.com/office/officeart/2005/8/layout/hList1"/>
    <dgm:cxn modelId="{67FE6BEF-5C29-4929-A949-4B45537CE26F}" type="presOf" srcId="{BD17711D-885A-44DC-AC61-5A20407BF71F}" destId="{CD0DBDAC-E2DE-4259-A934-DD00AE8EF791}" srcOrd="0" destOrd="0" presId="urn:microsoft.com/office/officeart/2005/8/layout/hList1"/>
    <dgm:cxn modelId="{8112B5EF-9C30-4B22-A3C1-D240FBDAA405}" srcId="{BD17711D-885A-44DC-AC61-5A20407BF71F}" destId="{07A85AE0-6E71-421F-96CB-D479AF582487}" srcOrd="1" destOrd="0" parTransId="{0498DFFC-D03A-4301-A3FD-4D8A5DB74213}" sibTransId="{0E6AFAA8-AEAB-417D-A5EF-7463D12B944B}"/>
    <dgm:cxn modelId="{A8DF02FD-1C0E-4C4D-84D4-CB9595498EDF}" srcId="{5FC60275-69BF-4A01-84B8-4D781F843655}" destId="{F2DD9893-747F-4D09-A6C9-4411A486376F}" srcOrd="6" destOrd="0" parTransId="{68C4D6A2-5196-4124-8AA3-F5F9A50F45CD}" sibTransId="{04B28CE0-28FC-4AF8-9E94-4C0D27D7BD27}"/>
    <dgm:cxn modelId="{353E3A24-D4E2-435B-9F42-B1192F0A3164}" type="presParOf" srcId="{40587D58-AA2E-47B5-817D-67ED0460D958}" destId="{38C55F50-286E-48EB-BEF2-8DACEB8D82D4}" srcOrd="0" destOrd="0" presId="urn:microsoft.com/office/officeart/2005/8/layout/hList1"/>
    <dgm:cxn modelId="{65CA2FC6-D6C9-4E55-A398-979A5C55093B}" type="presParOf" srcId="{38C55F50-286E-48EB-BEF2-8DACEB8D82D4}" destId="{CD0DBDAC-E2DE-4259-A934-DD00AE8EF791}" srcOrd="0" destOrd="0" presId="urn:microsoft.com/office/officeart/2005/8/layout/hList1"/>
    <dgm:cxn modelId="{F040DDC5-543D-46C9-8333-20563750CB8C}" type="presParOf" srcId="{38C55F50-286E-48EB-BEF2-8DACEB8D82D4}" destId="{64209384-5620-4506-AD17-CCC102399122}" srcOrd="1" destOrd="0" presId="urn:microsoft.com/office/officeart/2005/8/layout/hList1"/>
    <dgm:cxn modelId="{5355B0C9-160D-4BBC-9AE3-105EA8547681}" type="presParOf" srcId="{40587D58-AA2E-47B5-817D-67ED0460D958}" destId="{15FBD1CD-9971-4844-8E86-3D16A2320533}" srcOrd="1" destOrd="0" presId="urn:microsoft.com/office/officeart/2005/8/layout/hList1"/>
    <dgm:cxn modelId="{6998B2FC-3234-474E-AF7F-C65DD4CC1D6E}" type="presParOf" srcId="{40587D58-AA2E-47B5-817D-67ED0460D958}" destId="{1C9E5E9A-4360-4541-8BAF-99F179FEEC74}" srcOrd="2" destOrd="0" presId="urn:microsoft.com/office/officeart/2005/8/layout/hList1"/>
    <dgm:cxn modelId="{B73AB182-E281-432D-A321-5D0D6A40908B}" type="presParOf" srcId="{1C9E5E9A-4360-4541-8BAF-99F179FEEC74}" destId="{BE87F508-84DC-4849-805B-AD734DAE9DE3}" srcOrd="0" destOrd="0" presId="urn:microsoft.com/office/officeart/2005/8/layout/hList1"/>
    <dgm:cxn modelId="{40B1674B-1724-4E24-99A1-13DFC27BEFDB}" type="presParOf" srcId="{1C9E5E9A-4360-4541-8BAF-99F179FEEC74}" destId="{538AE1A0-494E-492F-B2F6-0964B3F5D728}" srcOrd="1" destOrd="0" presId="urn:microsoft.com/office/officeart/2005/8/layout/hList1"/>
    <dgm:cxn modelId="{5BE644F4-B90D-409F-9F29-1AD5054A9C31}" type="presParOf" srcId="{40587D58-AA2E-47B5-817D-67ED0460D958}" destId="{6E56188B-108B-400C-BC8D-51F0A2A8EA9F}" srcOrd="3" destOrd="0" presId="urn:microsoft.com/office/officeart/2005/8/layout/hList1"/>
    <dgm:cxn modelId="{BD3CD0CB-E275-4907-A3DA-5BF034B9F5D3}" type="presParOf" srcId="{40587D58-AA2E-47B5-817D-67ED0460D958}" destId="{4DFCDE94-CEB0-43C3-A41F-5A2AAED4747E}" srcOrd="4" destOrd="0" presId="urn:microsoft.com/office/officeart/2005/8/layout/hList1"/>
    <dgm:cxn modelId="{91599FB4-7C29-4F2A-A681-1E09245F0476}" type="presParOf" srcId="{4DFCDE94-CEB0-43C3-A41F-5A2AAED4747E}" destId="{7CE7F6B8-DFA3-41B3-994C-6E72841F5FC4}" srcOrd="0" destOrd="0" presId="urn:microsoft.com/office/officeart/2005/8/layout/hList1"/>
    <dgm:cxn modelId="{CFADC0F9-93A7-410B-8CBA-B23D31E5FB9E}" type="presParOf" srcId="{4DFCDE94-CEB0-43C3-A41F-5A2AAED4747E}" destId="{5946217E-9C82-4689-A428-64478B47188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1B6873-3A7A-4B65-A933-F0FBF50D969B}">
      <dsp:nvSpPr>
        <dsp:cNvPr id="0" name=""/>
        <dsp:cNvSpPr/>
      </dsp:nvSpPr>
      <dsp:spPr>
        <a:xfrm>
          <a:off x="74326" y="916786"/>
          <a:ext cx="1260030" cy="75423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rgbClr val="3333B2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tx1"/>
              </a:solidFill>
            </a:rPr>
            <a:t>Two broad empirical strategies</a:t>
          </a:r>
          <a:endParaRPr lang="en-US" sz="1400" b="1" kern="1200" dirty="0">
            <a:latin typeface="Calisto MT" panose="02040603050505030304" pitchFamily="18" charset="0"/>
            <a:ea typeface="+mn-ea"/>
            <a:cs typeface="+mn-cs"/>
          </a:endParaRPr>
        </a:p>
      </dsp:txBody>
      <dsp:txXfrm>
        <a:off x="96417" y="938877"/>
        <a:ext cx="1215848" cy="710050"/>
      </dsp:txXfrm>
    </dsp:sp>
    <dsp:sp modelId="{4466765A-BF64-40B9-AA58-A27070902288}">
      <dsp:nvSpPr>
        <dsp:cNvPr id="0" name=""/>
        <dsp:cNvSpPr/>
      </dsp:nvSpPr>
      <dsp:spPr>
        <a:xfrm rot="18219408">
          <a:off x="1158905" y="945795"/>
          <a:ext cx="787161" cy="41004"/>
        </a:xfrm>
        <a:custGeom>
          <a:avLst/>
          <a:gdLst/>
          <a:ahLst/>
          <a:cxnLst/>
          <a:rect l="0" t="0" r="0" b="0"/>
          <a:pathLst>
            <a:path>
              <a:moveTo>
                <a:pt x="0" y="15629"/>
              </a:moveTo>
              <a:lnTo>
                <a:pt x="766213" y="15629"/>
              </a:lnTo>
            </a:path>
          </a:pathLst>
        </a:custGeom>
        <a:noFill/>
        <a:ln w="25400" cap="flat" cmpd="sng" algn="ctr">
          <a:solidFill>
            <a:srgbClr val="3333B2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Franklin Gothic Book" panose="020B0503020102020204"/>
            <a:ea typeface="+mn-ea"/>
            <a:cs typeface="+mn-cs"/>
          </a:endParaRPr>
        </a:p>
      </dsp:txBody>
      <dsp:txXfrm>
        <a:off x="1525198" y="971771"/>
        <a:ext cx="0" cy="0"/>
      </dsp:txXfrm>
    </dsp:sp>
    <dsp:sp modelId="{FD1DECA5-CFFD-4048-84E5-93C8B2F26835}">
      <dsp:nvSpPr>
        <dsp:cNvPr id="0" name=""/>
        <dsp:cNvSpPr/>
      </dsp:nvSpPr>
      <dsp:spPr>
        <a:xfrm>
          <a:off x="1770615" y="2127"/>
          <a:ext cx="2258334" cy="127312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rgbClr val="3333B2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Three-step approach (3SLS)</a:t>
          </a:r>
        </a:p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ts val="100"/>
            </a:spcAft>
            <a:buNone/>
          </a:pPr>
          <a:r>
            <a:rPr lang="en-US" sz="1000" b="1" kern="1200" dirty="0">
              <a:latin typeface="Calisto MT" panose="02040603050505030304" pitchFamily="18" charset="0"/>
              <a:ea typeface="+mn-ea"/>
              <a:cs typeface="+mn-cs"/>
            </a:rPr>
            <a:t>- </a:t>
          </a:r>
          <a:r>
            <a:rPr lang="en-US" sz="800" kern="1200" dirty="0"/>
            <a:t>deals with unconventional MP</a:t>
          </a:r>
        </a:p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ts val="100"/>
            </a:spcAft>
            <a:buFontTx/>
            <a:buNone/>
          </a:pPr>
          <a:r>
            <a:rPr lang="en-US" sz="800" u="sng" kern="1200" dirty="0"/>
            <a:t>First step</a:t>
          </a:r>
          <a:r>
            <a:rPr lang="en-US" sz="800" kern="1200" dirty="0"/>
            <a:t>: VAR model to estimate the aggregate effects of monetary policy on economic variables. </a:t>
          </a:r>
        </a:p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ts val="100"/>
            </a:spcAft>
            <a:buFontTx/>
            <a:buNone/>
          </a:pPr>
          <a:r>
            <a:rPr lang="en-US" sz="800" u="sng" kern="1200" dirty="0"/>
            <a:t>Second step</a:t>
          </a:r>
          <a:r>
            <a:rPr lang="en-US" sz="800" kern="1200" dirty="0"/>
            <a:t>: Logit/Probit models to distribute aggregate changes into individual-level data</a:t>
          </a:r>
        </a:p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ts val="100"/>
            </a:spcAft>
            <a:buFontTx/>
            <a:buNone/>
          </a:pPr>
          <a:r>
            <a:rPr lang="en-US" sz="800" u="sng" kern="1200" dirty="0"/>
            <a:t>Third step</a:t>
          </a:r>
          <a:r>
            <a:rPr lang="en-US" sz="800" kern="1200" dirty="0"/>
            <a:t>: Individual changes are re-aggregated in inequality measures to be compared</a:t>
          </a:r>
          <a:endParaRPr lang="en-US" sz="800" kern="1200" dirty="0">
            <a:latin typeface="Calisto MT" panose="02040603050505030304" pitchFamily="18" charset="0"/>
            <a:ea typeface="+mn-ea"/>
            <a:cs typeface="+mn-cs"/>
          </a:endParaRPr>
        </a:p>
      </dsp:txBody>
      <dsp:txXfrm>
        <a:off x="1807904" y="39416"/>
        <a:ext cx="2183756" cy="1198551"/>
      </dsp:txXfrm>
    </dsp:sp>
    <dsp:sp modelId="{ED44B622-8A67-4766-AE38-45F78B95E8A9}">
      <dsp:nvSpPr>
        <dsp:cNvPr id="0" name=""/>
        <dsp:cNvSpPr/>
      </dsp:nvSpPr>
      <dsp:spPr>
        <a:xfrm rot="3479429">
          <a:off x="1140968" y="1622350"/>
          <a:ext cx="823034" cy="41004"/>
        </a:xfrm>
        <a:custGeom>
          <a:avLst/>
          <a:gdLst/>
          <a:ahLst/>
          <a:cxnLst/>
          <a:rect l="0" t="0" r="0" b="0"/>
          <a:pathLst>
            <a:path>
              <a:moveTo>
                <a:pt x="0" y="15629"/>
              </a:moveTo>
              <a:lnTo>
                <a:pt x="1591773" y="15629"/>
              </a:lnTo>
            </a:path>
          </a:pathLst>
        </a:custGeom>
        <a:noFill/>
        <a:ln w="25400" cap="flat" cmpd="sng" algn="ctr">
          <a:solidFill>
            <a:srgbClr val="3333B2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Franklin Gothic Book" panose="020B0503020102020204"/>
            <a:ea typeface="+mn-ea"/>
            <a:cs typeface="+mn-cs"/>
          </a:endParaRPr>
        </a:p>
      </dsp:txBody>
      <dsp:txXfrm>
        <a:off x="1559026" y="1614499"/>
        <a:ext cx="0" cy="0"/>
      </dsp:txXfrm>
    </dsp:sp>
    <dsp:sp modelId="{07B0F2EB-38D6-4604-B4D7-9B8232656C8F}">
      <dsp:nvSpPr>
        <dsp:cNvPr id="0" name=""/>
        <dsp:cNvSpPr/>
      </dsp:nvSpPr>
      <dsp:spPr>
        <a:xfrm>
          <a:off x="1770615" y="1364815"/>
          <a:ext cx="2322279" cy="12539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rgbClr val="3333B2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b="1" kern="1200" dirty="0"/>
            <a:t>Using readily disposable data</a:t>
          </a:r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- </a:t>
          </a:r>
          <a:r>
            <a:rPr lang="en-US" sz="800" b="0" kern="1200" dirty="0"/>
            <a:t>deals with conventional MP</a:t>
          </a:r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kern="1200" dirty="0"/>
            <a:t>-data on Gini coefficients or percentiles ratios </a:t>
          </a:r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kern="1200" dirty="0"/>
            <a:t>-uses VAR models (Bayesian VAR, Panel VAR, Structural VAR) or Local Projections </a:t>
          </a:r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 dirty="0">
            <a:latin typeface="Calisto MT" panose="02040603050505030304" pitchFamily="18" charset="0"/>
            <a:ea typeface="+mn-ea"/>
            <a:cs typeface="+mn-cs"/>
          </a:endParaRPr>
        </a:p>
      </dsp:txBody>
      <dsp:txXfrm>
        <a:off x="1807343" y="1401543"/>
        <a:ext cx="2248823" cy="11805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1B6873-3A7A-4B65-A933-F0FBF50D969B}">
      <dsp:nvSpPr>
        <dsp:cNvPr id="0" name=""/>
        <dsp:cNvSpPr/>
      </dsp:nvSpPr>
      <dsp:spPr>
        <a:xfrm>
          <a:off x="220631" y="853779"/>
          <a:ext cx="1519338" cy="75966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rgbClr val="3333B2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latin typeface="Calisto MT" panose="02040603050505030304" pitchFamily="18" charset="0"/>
              <a:ea typeface="+mn-ea"/>
              <a:cs typeface="+mn-cs"/>
            </a:rPr>
            <a:t>Literature Review on MP and income inequality</a:t>
          </a:r>
        </a:p>
      </dsp:txBody>
      <dsp:txXfrm>
        <a:off x="242881" y="876029"/>
        <a:ext cx="1474838" cy="715169"/>
      </dsp:txXfrm>
    </dsp:sp>
    <dsp:sp modelId="{F9E18E73-F18F-4C0A-A7AE-992C88281842}">
      <dsp:nvSpPr>
        <dsp:cNvPr id="0" name=""/>
        <dsp:cNvSpPr/>
      </dsp:nvSpPr>
      <dsp:spPr>
        <a:xfrm rot="18174873">
          <a:off x="1510596" y="784663"/>
          <a:ext cx="1004676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15629"/>
              </a:moveTo>
              <a:lnTo>
                <a:pt x="1523874" y="15629"/>
              </a:lnTo>
            </a:path>
          </a:pathLst>
        </a:custGeom>
        <a:noFill/>
        <a:ln w="25400" cap="flat" cmpd="sng" algn="ctr">
          <a:solidFill>
            <a:srgbClr val="3333B2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78201" y="819346"/>
        <a:ext cx="0" cy="0"/>
      </dsp:txXfrm>
    </dsp:sp>
    <dsp:sp modelId="{C509DF64-AE5E-49AF-AE3F-BB6DDB329115}">
      <dsp:nvSpPr>
        <dsp:cNvPr id="0" name=""/>
        <dsp:cNvSpPr/>
      </dsp:nvSpPr>
      <dsp:spPr>
        <a:xfrm>
          <a:off x="2285898" y="10371"/>
          <a:ext cx="1519338" cy="75966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rgbClr val="3333B2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Calisto MT" panose="02040603050505030304" pitchFamily="18" charset="0"/>
              <a:ea typeface="+mn-ea"/>
              <a:cs typeface="+mn-cs"/>
            </a:rPr>
            <a:t>1. Studies dealing with unconventional MP</a:t>
          </a:r>
        </a:p>
      </dsp:txBody>
      <dsp:txXfrm>
        <a:off x="2308148" y="32621"/>
        <a:ext cx="1474838" cy="715169"/>
      </dsp:txXfrm>
    </dsp:sp>
    <dsp:sp modelId="{4466765A-BF64-40B9-AA58-A27070902288}">
      <dsp:nvSpPr>
        <dsp:cNvPr id="0" name=""/>
        <dsp:cNvSpPr/>
      </dsp:nvSpPr>
      <dsp:spPr>
        <a:xfrm rot="130403">
          <a:off x="1739770" y="1216900"/>
          <a:ext cx="555474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15629"/>
              </a:moveTo>
              <a:lnTo>
                <a:pt x="766213" y="15629"/>
              </a:lnTo>
            </a:path>
          </a:pathLst>
        </a:custGeom>
        <a:noFill/>
        <a:ln w="25400" cap="flat" cmpd="sng" algn="ctr">
          <a:solidFill>
            <a:srgbClr val="3333B2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Franklin Gothic Book" panose="020B0503020102020204"/>
            <a:ea typeface="+mn-ea"/>
            <a:cs typeface="+mn-cs"/>
          </a:endParaRPr>
        </a:p>
      </dsp:txBody>
      <dsp:txXfrm>
        <a:off x="2004157" y="1229742"/>
        <a:ext cx="0" cy="0"/>
      </dsp:txXfrm>
    </dsp:sp>
    <dsp:sp modelId="{FD1DECA5-CFFD-4048-84E5-93C8B2F26835}">
      <dsp:nvSpPr>
        <dsp:cNvPr id="0" name=""/>
        <dsp:cNvSpPr/>
      </dsp:nvSpPr>
      <dsp:spPr>
        <a:xfrm>
          <a:off x="2295045" y="874844"/>
          <a:ext cx="1519338" cy="75966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rgbClr val="3333B2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Calisto MT" panose="02040603050505030304" pitchFamily="18" charset="0"/>
              <a:ea typeface="+mn-ea"/>
              <a:cs typeface="+mn-cs"/>
            </a:rPr>
            <a:t>2. Studies dealing with conventional MP</a:t>
          </a:r>
        </a:p>
      </dsp:txBody>
      <dsp:txXfrm>
        <a:off x="2317295" y="897094"/>
        <a:ext cx="1474838" cy="715169"/>
      </dsp:txXfrm>
    </dsp:sp>
    <dsp:sp modelId="{ED44B622-8A67-4766-AE38-45F78B95E8A9}">
      <dsp:nvSpPr>
        <dsp:cNvPr id="0" name=""/>
        <dsp:cNvSpPr/>
      </dsp:nvSpPr>
      <dsp:spPr>
        <a:xfrm rot="3491038">
          <a:off x="1491064" y="1653710"/>
          <a:ext cx="1052886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15629"/>
              </a:moveTo>
              <a:lnTo>
                <a:pt x="1591773" y="15629"/>
              </a:lnTo>
            </a:path>
          </a:pathLst>
        </a:custGeom>
        <a:noFill/>
        <a:ln w="25400" cap="flat" cmpd="sng" algn="ctr">
          <a:solidFill>
            <a:srgbClr val="3333B2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Franklin Gothic Book" panose="020B0503020102020204"/>
            <a:ea typeface="+mn-ea"/>
            <a:cs typeface="+mn-cs"/>
          </a:endParaRPr>
        </a:p>
      </dsp:txBody>
      <dsp:txXfrm>
        <a:off x="2025997" y="1644712"/>
        <a:ext cx="0" cy="0"/>
      </dsp:txXfrm>
    </dsp:sp>
    <dsp:sp modelId="{07B0F2EB-38D6-4604-B4D7-9B8232656C8F}">
      <dsp:nvSpPr>
        <dsp:cNvPr id="0" name=""/>
        <dsp:cNvSpPr/>
      </dsp:nvSpPr>
      <dsp:spPr>
        <a:xfrm>
          <a:off x="2295045" y="1748464"/>
          <a:ext cx="1519338" cy="75966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rgbClr val="3333B2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Calisto MT" panose="02040603050505030304" pitchFamily="18" charset="0"/>
              <a:ea typeface="+mn-ea"/>
              <a:cs typeface="+mn-cs"/>
            </a:rPr>
            <a:t>3. Studies dealing with both conventional  and unconventional MP</a:t>
          </a:r>
        </a:p>
      </dsp:txBody>
      <dsp:txXfrm>
        <a:off x="2317295" y="1770714"/>
        <a:ext cx="1474838" cy="71516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B46811-9136-4E63-8BC3-AF4C321954B1}">
      <dsp:nvSpPr>
        <dsp:cNvPr id="0" name=""/>
        <dsp:cNvSpPr/>
      </dsp:nvSpPr>
      <dsp:spPr>
        <a:xfrm>
          <a:off x="2026" y="2247"/>
          <a:ext cx="776956" cy="31078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3333B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6576" rIns="64008" bIns="36576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Saiki and Frost (2014) </a:t>
          </a:r>
        </a:p>
      </dsp:txBody>
      <dsp:txXfrm>
        <a:off x="2026" y="2247"/>
        <a:ext cx="776956" cy="310782"/>
      </dsp:txXfrm>
    </dsp:sp>
    <dsp:sp modelId="{84C1A79C-FAB9-4AAE-8534-E39A11B518F6}">
      <dsp:nvSpPr>
        <dsp:cNvPr id="0" name=""/>
        <dsp:cNvSpPr/>
      </dsp:nvSpPr>
      <dsp:spPr>
        <a:xfrm>
          <a:off x="0" y="346258"/>
          <a:ext cx="776956" cy="2075947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3333B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" tIns="42672" rIns="56896" bIns="64008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VAR model </a:t>
          </a:r>
          <a:endParaRPr lang="en-US" sz="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Japan 2008-2014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Effect of central bank assets to nominal GDP on 80/20 ratio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An increase in the assets increases inequality</a:t>
          </a:r>
        </a:p>
      </dsp:txBody>
      <dsp:txXfrm>
        <a:off x="0" y="346258"/>
        <a:ext cx="776956" cy="2075947"/>
      </dsp:txXfrm>
    </dsp:sp>
    <dsp:sp modelId="{748F4636-B263-460A-9F14-69565D21416C}">
      <dsp:nvSpPr>
        <dsp:cNvPr id="0" name=""/>
        <dsp:cNvSpPr/>
      </dsp:nvSpPr>
      <dsp:spPr>
        <a:xfrm>
          <a:off x="887757" y="0"/>
          <a:ext cx="776956" cy="31078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3333B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96" tIns="32512" rIns="56896" bIns="32512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Montecino and Epstein (2015) </a:t>
          </a:r>
        </a:p>
      </dsp:txBody>
      <dsp:txXfrm>
        <a:off x="887757" y="0"/>
        <a:ext cx="776956" cy="310782"/>
      </dsp:txXfrm>
    </dsp:sp>
    <dsp:sp modelId="{5944B2D2-4ADB-45DC-947F-5444C332786A}">
      <dsp:nvSpPr>
        <dsp:cNvPr id="0" name=""/>
        <dsp:cNvSpPr/>
      </dsp:nvSpPr>
      <dsp:spPr>
        <a:xfrm>
          <a:off x="887757" y="321634"/>
          <a:ext cx="776956" cy="210816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3333B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" tIns="42672" rIns="56896" bIns="64008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RIF model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US 2008-2014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Effect of QE on 90/10 ratio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An increase in QE increases inequality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87757" y="321634"/>
        <a:ext cx="776956" cy="2108160"/>
      </dsp:txXfrm>
    </dsp:sp>
    <dsp:sp modelId="{CD0DBDAC-E2DE-4259-A934-DD00AE8EF791}">
      <dsp:nvSpPr>
        <dsp:cNvPr id="0" name=""/>
        <dsp:cNvSpPr/>
      </dsp:nvSpPr>
      <dsp:spPr>
        <a:xfrm>
          <a:off x="1746760" y="0"/>
          <a:ext cx="776956" cy="31078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3333B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96" tIns="32512" rIns="56896" bIns="32512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Casiraghi et al. (2018) </a:t>
          </a:r>
        </a:p>
      </dsp:txBody>
      <dsp:txXfrm>
        <a:off x="1746760" y="0"/>
        <a:ext cx="776956" cy="310782"/>
      </dsp:txXfrm>
    </dsp:sp>
    <dsp:sp modelId="{64209384-5620-4506-AD17-CCC102399122}">
      <dsp:nvSpPr>
        <dsp:cNvPr id="0" name=""/>
        <dsp:cNvSpPr/>
      </dsp:nvSpPr>
      <dsp:spPr>
        <a:xfrm>
          <a:off x="1745944" y="317924"/>
          <a:ext cx="776956" cy="210816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3333B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" tIns="42672" rIns="56896" bIns="64008" numCol="1" spcCol="1270" anchor="t" anchorCtr="0">
          <a:noAutofit/>
        </a:bodyPr>
        <a:lstStyle/>
        <a:p>
          <a:pPr marL="57150" lvl="1" indent="-57150" algn="just" defTabSz="34226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7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3-step approach</a:t>
          </a:r>
        </a:p>
        <a:p>
          <a:pPr marL="57150" lvl="1" indent="-57150" algn="just" defTabSz="34226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77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57150" lvl="1" indent="-57150" algn="l" defTabSz="34226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7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Italy 2010</a:t>
          </a:r>
        </a:p>
        <a:p>
          <a:pPr marL="57150" lvl="1" indent="-57150" algn="l" defTabSz="34226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77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57150" lvl="1" indent="-57150" algn="l" defTabSz="34226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7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Effect of ECB unconventional MP on Gini coefficient and 90/10 ratio</a:t>
          </a:r>
        </a:p>
        <a:p>
          <a:pPr marL="57150" lvl="1" indent="-57150" algn="l" defTabSz="34226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77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57150" lvl="1" indent="-57150" algn="l" defTabSz="34226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7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An increase in ECB reduces inequality negligibly</a:t>
          </a:r>
        </a:p>
        <a:p>
          <a:pPr marL="57150" lvl="1" indent="-57150" algn="l" defTabSz="34226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77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745944" y="317924"/>
        <a:ext cx="776956" cy="2108160"/>
      </dsp:txXfrm>
    </dsp:sp>
    <dsp:sp modelId="{BE87F508-84DC-4849-805B-AD734DAE9DE3}">
      <dsp:nvSpPr>
        <dsp:cNvPr id="0" name=""/>
        <dsp:cNvSpPr/>
      </dsp:nvSpPr>
      <dsp:spPr>
        <a:xfrm>
          <a:off x="2659218" y="0"/>
          <a:ext cx="776956" cy="31078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3333B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96" tIns="32512" rIns="56896" bIns="32512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Lenza and Slacalek (2018) </a:t>
          </a:r>
        </a:p>
      </dsp:txBody>
      <dsp:txXfrm>
        <a:off x="2659218" y="0"/>
        <a:ext cx="776956" cy="310782"/>
      </dsp:txXfrm>
    </dsp:sp>
    <dsp:sp modelId="{538AE1A0-494E-492F-B2F6-0964B3F5D728}">
      <dsp:nvSpPr>
        <dsp:cNvPr id="0" name=""/>
        <dsp:cNvSpPr/>
      </dsp:nvSpPr>
      <dsp:spPr>
        <a:xfrm>
          <a:off x="2659218" y="321634"/>
          <a:ext cx="776956" cy="210816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3333B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" tIns="42672" rIns="56896" bIns="64008" numCol="1" spcCol="1270" anchor="t" anchorCtr="0">
          <a:noAutofit/>
        </a:bodyPr>
        <a:lstStyle/>
        <a:p>
          <a:pPr marL="57150" lvl="1" indent="-57150" algn="l" defTabSz="33337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5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3-step approach</a:t>
          </a:r>
        </a:p>
        <a:p>
          <a:pPr marL="57150" lvl="1" indent="-57150" algn="l" defTabSz="33337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75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57150" lvl="1" indent="-57150" algn="l" defTabSz="33337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5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France, Germany, Italy and Spain 1999- 2016; US 2008-2013</a:t>
          </a:r>
        </a:p>
        <a:p>
          <a:pPr marL="57150" lvl="1" indent="-57150" algn="l" defTabSz="33337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75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57150" lvl="1" indent="-57150" algn="l" defTabSz="33337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5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Impacts of ECB UMP on Gini coefficient</a:t>
          </a:r>
        </a:p>
        <a:p>
          <a:pPr marL="57150" lvl="1" indent="-57150" algn="l" defTabSz="33337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75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57150" lvl="1" indent="-57150" algn="l" defTabSz="33337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5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An increase in ECB reduces inequality </a:t>
          </a:r>
        </a:p>
        <a:p>
          <a:pPr marL="57150" lvl="1" indent="-57150" algn="l" defTabSz="33337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75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59218" y="321634"/>
        <a:ext cx="776956" cy="2108160"/>
      </dsp:txXfrm>
    </dsp:sp>
    <dsp:sp modelId="{7CE7F6B8-DFA3-41B3-994C-6E72841F5FC4}">
      <dsp:nvSpPr>
        <dsp:cNvPr id="0" name=""/>
        <dsp:cNvSpPr/>
      </dsp:nvSpPr>
      <dsp:spPr>
        <a:xfrm>
          <a:off x="3544948" y="0"/>
          <a:ext cx="776956" cy="31078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3333B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96" tIns="32512" rIns="56896" bIns="32512" numCol="1" spcCol="1270" anchor="ctr" anchorCtr="0">
          <a:noAutofit/>
        </a:bodyPr>
        <a:lstStyle/>
        <a:p>
          <a:pPr marL="0" lvl="0" indent="0" algn="ctr" defTabSz="34226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7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Bunn et al. (2018) </a:t>
          </a:r>
        </a:p>
      </dsp:txBody>
      <dsp:txXfrm>
        <a:off x="3544948" y="0"/>
        <a:ext cx="776956" cy="310782"/>
      </dsp:txXfrm>
    </dsp:sp>
    <dsp:sp modelId="{5946217E-9C82-4689-A428-64478B47188B}">
      <dsp:nvSpPr>
        <dsp:cNvPr id="0" name=""/>
        <dsp:cNvSpPr/>
      </dsp:nvSpPr>
      <dsp:spPr>
        <a:xfrm>
          <a:off x="3544948" y="321634"/>
          <a:ext cx="776956" cy="210816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3333B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338" tIns="37338" rIns="49784" bIns="56007" numCol="1" spcCol="1270" anchor="t" anchorCtr="0">
          <a:noAutofit/>
        </a:bodyPr>
        <a:lstStyle/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3-step approach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UK 2008-2014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Impacts of UMP on Gini coefficient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UMP has negligibly reduced income and wealth inequality</a:t>
          </a:r>
        </a:p>
      </dsp:txBody>
      <dsp:txXfrm>
        <a:off x="3544948" y="321634"/>
        <a:ext cx="776956" cy="210816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B46811-9136-4E63-8BC3-AF4C321954B1}">
      <dsp:nvSpPr>
        <dsp:cNvPr id="0" name=""/>
        <dsp:cNvSpPr/>
      </dsp:nvSpPr>
      <dsp:spPr>
        <a:xfrm>
          <a:off x="11907" y="78447"/>
          <a:ext cx="776956" cy="31078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3333B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96" tIns="32512" rIns="56896" bIns="32512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Furceri et al. (2018) </a:t>
          </a:r>
          <a:endParaRPr lang="en-US" sz="8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1907" y="78447"/>
        <a:ext cx="776956" cy="310782"/>
      </dsp:txXfrm>
    </dsp:sp>
    <dsp:sp modelId="{84C1A79C-FAB9-4AAE-8534-E39A11B518F6}">
      <dsp:nvSpPr>
        <dsp:cNvPr id="0" name=""/>
        <dsp:cNvSpPr/>
      </dsp:nvSpPr>
      <dsp:spPr>
        <a:xfrm>
          <a:off x="19163" y="566422"/>
          <a:ext cx="776956" cy="1916462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3333B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338" tIns="37338" rIns="49784" bIns="56007" numCol="1" spcCol="1270" anchor="t" anchorCtr="0">
          <a:noAutofit/>
        </a:bodyPr>
        <a:lstStyle/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Local Projections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32 emerging countries 1990-2013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Effect of short-term interest rate on GINI coefficient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Unanticipated contractionary monetary policy increases income inequality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Asymmetric effects of unanticipated MP</a:t>
          </a:r>
        </a:p>
      </dsp:txBody>
      <dsp:txXfrm>
        <a:off x="19163" y="566422"/>
        <a:ext cx="776956" cy="1916462"/>
      </dsp:txXfrm>
    </dsp:sp>
    <dsp:sp modelId="{748F4636-B263-460A-9F14-69565D21416C}">
      <dsp:nvSpPr>
        <dsp:cNvPr id="0" name=""/>
        <dsp:cNvSpPr/>
      </dsp:nvSpPr>
      <dsp:spPr>
        <a:xfrm>
          <a:off x="877784" y="78446"/>
          <a:ext cx="776197" cy="31078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3333B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96" tIns="32512" rIns="56896" bIns="32512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Hafemann et al. (2018) </a:t>
          </a:r>
          <a:endParaRPr lang="en-US" sz="8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77784" y="78446"/>
        <a:ext cx="776197" cy="310782"/>
      </dsp:txXfrm>
    </dsp:sp>
    <dsp:sp modelId="{5944B2D2-4ADB-45DC-947F-5444C332786A}">
      <dsp:nvSpPr>
        <dsp:cNvPr id="0" name=""/>
        <dsp:cNvSpPr/>
      </dsp:nvSpPr>
      <dsp:spPr>
        <a:xfrm>
          <a:off x="877784" y="543911"/>
          <a:ext cx="776197" cy="194620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3333B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338" tIns="37338" rIns="49784" bIns="56007" numCol="1" spcCol="1270" anchor="t" anchorCtr="0">
          <a:noAutofit/>
        </a:bodyPr>
        <a:lstStyle/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VAR model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6 countries 1990-2015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Effect of shadow interest rates on Gini coefficient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Interest rate reduction increases inequality.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Degree of redistribution after taxes and transfers is important. </a:t>
          </a:r>
        </a:p>
      </dsp:txBody>
      <dsp:txXfrm>
        <a:off x="877784" y="543911"/>
        <a:ext cx="776197" cy="1946200"/>
      </dsp:txXfrm>
    </dsp:sp>
    <dsp:sp modelId="{CD0DBDAC-E2DE-4259-A934-DD00AE8EF791}">
      <dsp:nvSpPr>
        <dsp:cNvPr id="0" name=""/>
        <dsp:cNvSpPr/>
      </dsp:nvSpPr>
      <dsp:spPr>
        <a:xfrm>
          <a:off x="1754018" y="72464"/>
          <a:ext cx="776197" cy="31078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3333B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96" tIns="32512" rIns="56896" bIns="32512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Aye et al. (2019)</a:t>
          </a:r>
        </a:p>
      </dsp:txBody>
      <dsp:txXfrm>
        <a:off x="1754018" y="72464"/>
        <a:ext cx="776197" cy="310782"/>
      </dsp:txXfrm>
    </dsp:sp>
    <dsp:sp modelId="{64209384-5620-4506-AD17-CCC102399122}">
      <dsp:nvSpPr>
        <dsp:cNvPr id="0" name=""/>
        <dsp:cNvSpPr/>
      </dsp:nvSpPr>
      <dsp:spPr>
        <a:xfrm>
          <a:off x="1746730" y="543911"/>
          <a:ext cx="776197" cy="194620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3333B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338" tIns="37338" rIns="49784" bIns="56007" numCol="1" spcCol="1270" anchor="t" anchorCtr="0">
          <a:noAutofit/>
        </a:bodyPr>
        <a:lstStyle/>
        <a:p>
          <a:pPr marL="57150" lvl="1" indent="-57150" algn="just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Local projections</a:t>
          </a:r>
        </a:p>
        <a:p>
          <a:pPr marL="57150" lvl="1" indent="-57150" algn="just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US 1980-2008</a:t>
          </a:r>
        </a:p>
        <a:p>
          <a:pPr marL="57150" lvl="1" indent="-57150" algn="just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Effect of federal funds rate on Gini coefficient and 90/10 ratio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Contractionary monetary policy shock increases income inequality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MP impact is higher under low uncertainty.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746730" y="543911"/>
        <a:ext cx="776197" cy="1946200"/>
      </dsp:txXfrm>
    </dsp:sp>
    <dsp:sp modelId="{BE87F508-84DC-4849-805B-AD734DAE9DE3}">
      <dsp:nvSpPr>
        <dsp:cNvPr id="0" name=""/>
        <dsp:cNvSpPr/>
      </dsp:nvSpPr>
      <dsp:spPr>
        <a:xfrm>
          <a:off x="2659111" y="72464"/>
          <a:ext cx="776197" cy="31078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3333B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96" tIns="32512" rIns="56896" bIns="32512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Davtyan (2016)</a:t>
          </a:r>
        </a:p>
      </dsp:txBody>
      <dsp:txXfrm>
        <a:off x="2659111" y="72464"/>
        <a:ext cx="776197" cy="310782"/>
      </dsp:txXfrm>
    </dsp:sp>
    <dsp:sp modelId="{538AE1A0-494E-492F-B2F6-0964B3F5D728}">
      <dsp:nvSpPr>
        <dsp:cNvPr id="0" name=""/>
        <dsp:cNvSpPr/>
      </dsp:nvSpPr>
      <dsp:spPr>
        <a:xfrm>
          <a:off x="2659111" y="543911"/>
          <a:ext cx="776197" cy="194620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3333B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" tIns="42672" rIns="56896" bIns="64008" numCol="1" spcCol="1270" anchor="t" anchorCtr="0">
          <a:noAutofit/>
        </a:bodyPr>
        <a:lstStyle/>
        <a:p>
          <a:pPr marL="57150" lvl="1" indent="-57150" algn="l" defTabSz="33337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5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VAR model</a:t>
          </a:r>
        </a:p>
        <a:p>
          <a:pPr marL="57150" lvl="1" indent="-57150" algn="l" defTabSz="33337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5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US 1979-2012</a:t>
          </a:r>
        </a:p>
        <a:p>
          <a:pPr marL="57150" lvl="1" indent="-57150" algn="l" defTabSz="33337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75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57150" lvl="1" indent="-57150" algn="l" defTabSz="33337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5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Effect of federal funds rate on Gini coefficient </a:t>
          </a:r>
        </a:p>
        <a:p>
          <a:pPr marL="57150" lvl="1" indent="-57150" algn="l" defTabSz="33337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75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57150" lvl="1" indent="-57150" algn="l" defTabSz="33337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5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Contractionary monetary policy shock decreases income inequality</a:t>
          </a:r>
        </a:p>
        <a:p>
          <a:pPr marL="57150" lvl="1" indent="-57150" algn="l" defTabSz="33337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75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57150" lvl="1" indent="-57150" algn="l" defTabSz="33337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75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57150" lvl="1" indent="-57150" algn="l" defTabSz="33337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75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59111" y="543911"/>
        <a:ext cx="776197" cy="1946200"/>
      </dsp:txXfrm>
    </dsp:sp>
    <dsp:sp modelId="{7CE7F6B8-DFA3-41B3-994C-6E72841F5FC4}">
      <dsp:nvSpPr>
        <dsp:cNvPr id="0" name=""/>
        <dsp:cNvSpPr/>
      </dsp:nvSpPr>
      <dsp:spPr>
        <a:xfrm>
          <a:off x="3543977" y="72464"/>
          <a:ext cx="776197" cy="31078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3333B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96" tIns="32512" rIns="56896" bIns="32512" numCol="1" spcCol="1270" anchor="ctr" anchorCtr="0">
          <a:noAutofit/>
        </a:bodyPr>
        <a:lstStyle/>
        <a:p>
          <a:pPr marL="0" lvl="0" indent="0" algn="ctr" defTabSz="34226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7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Villarreal (2014)</a:t>
          </a:r>
        </a:p>
      </dsp:txBody>
      <dsp:txXfrm>
        <a:off x="3543977" y="72464"/>
        <a:ext cx="776197" cy="310782"/>
      </dsp:txXfrm>
    </dsp:sp>
    <dsp:sp modelId="{5946217E-9C82-4689-A428-64478B47188B}">
      <dsp:nvSpPr>
        <dsp:cNvPr id="0" name=""/>
        <dsp:cNvSpPr/>
      </dsp:nvSpPr>
      <dsp:spPr>
        <a:xfrm>
          <a:off x="3543977" y="543911"/>
          <a:ext cx="776197" cy="194620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3333B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338" tIns="37338" rIns="49784" bIns="56007" numCol="1" spcCol="1270" anchor="t" anchorCtr="0">
          <a:noAutofit/>
        </a:bodyPr>
        <a:lstStyle/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Local Projections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Mexico 1995-2012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Effect of overnight interbank lending rate on GINI coefficient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Contractionary monetary policy shock reduces income inequality</a:t>
          </a:r>
        </a:p>
      </dsp:txBody>
      <dsp:txXfrm>
        <a:off x="3543977" y="543911"/>
        <a:ext cx="776197" cy="19462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0DBDAC-E2DE-4259-A934-DD00AE8EF791}">
      <dsp:nvSpPr>
        <dsp:cNvPr id="0" name=""/>
        <dsp:cNvSpPr/>
      </dsp:nvSpPr>
      <dsp:spPr>
        <a:xfrm>
          <a:off x="0" y="809"/>
          <a:ext cx="1302759" cy="19394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3333B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Guerello (2018) </a:t>
          </a:r>
          <a:endParaRPr lang="en-US" sz="11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809"/>
        <a:ext cx="1302759" cy="193941"/>
      </dsp:txXfrm>
    </dsp:sp>
    <dsp:sp modelId="{64209384-5620-4506-AD17-CCC102399122}">
      <dsp:nvSpPr>
        <dsp:cNvPr id="0" name=""/>
        <dsp:cNvSpPr/>
      </dsp:nvSpPr>
      <dsp:spPr>
        <a:xfrm>
          <a:off x="0" y="250758"/>
          <a:ext cx="1302759" cy="223992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3333B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" tIns="42672" rIns="56896" bIns="64008" numCol="1" spcCol="1270" anchor="t" anchorCtr="0">
          <a:noAutofit/>
        </a:bodyPr>
        <a:lstStyle/>
        <a:p>
          <a:pPr marL="57150" lvl="1" indent="-57150" algn="just" defTabSz="33337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5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VAR model</a:t>
          </a:r>
        </a:p>
        <a:p>
          <a:pPr marL="57150" lvl="1" indent="-57150" algn="just" defTabSz="33337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5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17 Euro Area countries 2001-2015</a:t>
          </a:r>
        </a:p>
        <a:p>
          <a:pPr marL="57150" lvl="1" indent="-57150" algn="just" defTabSz="33337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75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57150" lvl="1" indent="-57150" algn="l" defTabSz="33337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5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Effect of short-term interest rate and ECB assets on Theil coefficient of income</a:t>
          </a:r>
        </a:p>
        <a:p>
          <a:pPr marL="57150" lvl="1" indent="-57150" algn="l" defTabSz="33337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75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57150" lvl="1" indent="-57150" algn="l" defTabSz="33337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5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Expansionary conventional shocks reduce income inequality</a:t>
          </a:r>
        </a:p>
        <a:p>
          <a:pPr marL="57150" lvl="1" indent="-57150" algn="l" defTabSz="33337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5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The effect of unconventional MP depends on the share of deposits on total financial assets</a:t>
          </a:r>
        </a:p>
        <a:p>
          <a:pPr marL="57150" lvl="1" indent="-57150" algn="l" defTabSz="33337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75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57150" lvl="1" indent="-57150" algn="l" defTabSz="33337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5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The higher the share, the more the reduction in inequality</a:t>
          </a:r>
          <a:r>
            <a:rPr lang="en-US" sz="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250758"/>
        <a:ext cx="1302759" cy="2239920"/>
      </dsp:txXfrm>
    </dsp:sp>
    <dsp:sp modelId="{BE87F508-84DC-4849-805B-AD734DAE9DE3}">
      <dsp:nvSpPr>
        <dsp:cNvPr id="0" name=""/>
        <dsp:cNvSpPr/>
      </dsp:nvSpPr>
      <dsp:spPr>
        <a:xfrm>
          <a:off x="1486482" y="0"/>
          <a:ext cx="1302759" cy="19394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3333B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Inui et al. (2017)</a:t>
          </a:r>
        </a:p>
      </dsp:txBody>
      <dsp:txXfrm>
        <a:off x="1486482" y="0"/>
        <a:ext cx="1302759" cy="193941"/>
      </dsp:txXfrm>
    </dsp:sp>
    <dsp:sp modelId="{538AE1A0-494E-492F-B2F6-0964B3F5D728}">
      <dsp:nvSpPr>
        <dsp:cNvPr id="0" name=""/>
        <dsp:cNvSpPr/>
      </dsp:nvSpPr>
      <dsp:spPr>
        <a:xfrm>
          <a:off x="1486482" y="250758"/>
          <a:ext cx="1302759" cy="223992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3333B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" tIns="42672" rIns="56896" bIns="64008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Local Projections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Japan 1981-1998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Effect of short-term interest rates on  log of Gini coefficient and 90/10 ratio for labor earnings, pre-tax income, disposable income, consumption, expenditure and financial positions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Expansionary shocks have negligible effect on the inequality measures 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486482" y="250758"/>
        <a:ext cx="1302759" cy="2239920"/>
      </dsp:txXfrm>
    </dsp:sp>
    <dsp:sp modelId="{7CE7F6B8-DFA3-41B3-994C-6E72841F5FC4}">
      <dsp:nvSpPr>
        <dsp:cNvPr id="0" name=""/>
        <dsp:cNvSpPr/>
      </dsp:nvSpPr>
      <dsp:spPr>
        <a:xfrm>
          <a:off x="2971628" y="7942"/>
          <a:ext cx="1302759" cy="19394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3333B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Hesary et al. (2019)</a:t>
          </a:r>
        </a:p>
      </dsp:txBody>
      <dsp:txXfrm>
        <a:off x="2971628" y="7942"/>
        <a:ext cx="1302759" cy="193941"/>
      </dsp:txXfrm>
    </dsp:sp>
    <dsp:sp modelId="{5946217E-9C82-4689-A428-64478B47188B}">
      <dsp:nvSpPr>
        <dsp:cNvPr id="0" name=""/>
        <dsp:cNvSpPr/>
      </dsp:nvSpPr>
      <dsp:spPr>
        <a:xfrm>
          <a:off x="2971628" y="250758"/>
          <a:ext cx="1302759" cy="223992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3333B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" tIns="42672" rIns="56896" bIns="64008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VECM model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Japan 2002-2017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Effect of short-term interest rates/ MB on  90/10 ratio 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Contractionary shocks increase income inequality</a:t>
          </a:r>
        </a:p>
      </dsp:txBody>
      <dsp:txXfrm>
        <a:off x="2971628" y="250758"/>
        <a:ext cx="1302759" cy="22399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A9A86F-BEDE-4E7B-BE56-17E210ACE2D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614740-7A5C-4F58-A7B4-D8E4F273B7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733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CMP is based on buying and selling of government bills by monetary authorities.</a:t>
            </a:r>
          </a:p>
          <a:p>
            <a:r>
              <a:rPr lang="en-US" dirty="0"/>
              <a:t>UMP consists of purchases of a broader array of assets, most of them being mainly held by the rich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14740-7A5C-4F58-A7B4-D8E4F273B74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534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2. </a:t>
            </a:r>
            <a:r>
              <a:rPr lang="en-US" sz="1200" dirty="0"/>
              <a:t>will it be any change in interest rates? Or only surprise shocks?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14740-7A5C-4F58-A7B4-D8E4F273B74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2171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 case of surprise shocks,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need to identify the shocks and find data to deal with the highest possible number of transmission channels.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14740-7A5C-4F58-A7B4-D8E4F273B74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2733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solidFill>
                  <a:schemeClr val="tx1"/>
                </a:solidFill>
              </a:rPr>
              <a:t>Most papers use various measures of surprise or unexpected shocks:</a:t>
            </a:r>
            <a:br>
              <a:rPr lang="en-US" sz="1200" dirty="0">
                <a:solidFill>
                  <a:schemeClr val="tx1"/>
                </a:solidFill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14740-7A5C-4F58-A7B4-D8E4F273B74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1002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14740-7A5C-4F58-A7B4-D8E4F273B74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9284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14740-7A5C-4F58-A7B4-D8E4F273B74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0261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14740-7A5C-4F58-A7B4-D8E4F273B74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5111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14740-7A5C-4F58-A7B4-D8E4F273B74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7239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10" dirty="0"/>
              <a:t>Adaptation</a:t>
            </a:r>
            <a:r>
              <a:rPr spc="20" dirty="0"/>
              <a:t> </a:t>
            </a:r>
            <a:r>
              <a:rPr spc="-25" dirty="0"/>
              <a:t>technology</a:t>
            </a:r>
            <a:r>
              <a:rPr spc="25" dirty="0"/>
              <a:t> </a:t>
            </a:r>
            <a:r>
              <a:rPr spc="-10" dirty="0"/>
              <a:t>and</a:t>
            </a:r>
            <a:r>
              <a:rPr spc="25" dirty="0"/>
              <a:t> </a:t>
            </a:r>
            <a:r>
              <a:rPr spc="-25" dirty="0"/>
              <a:t>free-</a:t>
            </a:r>
            <a:r>
              <a:rPr spc="-10" dirty="0"/>
              <a:t>riding</a:t>
            </a:r>
            <a:r>
              <a:rPr spc="25" dirty="0"/>
              <a:t> </a:t>
            </a:r>
            <a:r>
              <a:rPr spc="-30" dirty="0"/>
              <a:t>incentives</a:t>
            </a:r>
            <a:r>
              <a:rPr spc="25" dirty="0"/>
              <a:t> </a:t>
            </a:r>
            <a:r>
              <a:rPr dirty="0"/>
              <a:t>in</a:t>
            </a:r>
            <a:r>
              <a:rPr spc="25" dirty="0"/>
              <a:t> </a:t>
            </a:r>
            <a:r>
              <a:rPr spc="-20" dirty="0"/>
              <a:t>IEAs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0" dirty="0"/>
              <a:t>Benchekroun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46680" y="3245103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67063" y="324114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44865" y="324114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05694" y="3234791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42526" y="324114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06877" y="3247491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17976" y="324114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594177" y="323479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69640" y="3234791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793439" y="324114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69640" y="3272891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45090" y="323479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265271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69" y="3238776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234791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0" y="0"/>
            <a:ext cx="2304415" cy="548005"/>
          </a:xfrm>
          <a:custGeom>
            <a:avLst/>
            <a:gdLst/>
            <a:ahLst/>
            <a:cxnLst/>
            <a:rect l="l" t="t" r="r" b="b"/>
            <a:pathLst>
              <a:path w="2304415" h="548005">
                <a:moveTo>
                  <a:pt x="2303995" y="0"/>
                </a:moveTo>
                <a:lnTo>
                  <a:pt x="0" y="0"/>
                </a:lnTo>
                <a:lnTo>
                  <a:pt x="0" y="548004"/>
                </a:lnTo>
                <a:lnTo>
                  <a:pt x="2303995" y="548004"/>
                </a:lnTo>
                <a:lnTo>
                  <a:pt x="23039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2303995" y="0"/>
            <a:ext cx="2304415" cy="548005"/>
          </a:xfrm>
          <a:custGeom>
            <a:avLst/>
            <a:gdLst/>
            <a:ahLst/>
            <a:cxnLst/>
            <a:rect l="l" t="t" r="r" b="b"/>
            <a:pathLst>
              <a:path w="2304415" h="548005">
                <a:moveTo>
                  <a:pt x="2303995" y="0"/>
                </a:moveTo>
                <a:lnTo>
                  <a:pt x="0" y="0"/>
                </a:lnTo>
                <a:lnTo>
                  <a:pt x="0" y="548004"/>
                </a:lnTo>
                <a:lnTo>
                  <a:pt x="2303995" y="548004"/>
                </a:lnTo>
                <a:lnTo>
                  <a:pt x="230399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10" dirty="0"/>
              <a:t>Adaptation</a:t>
            </a:r>
            <a:r>
              <a:rPr spc="20" dirty="0"/>
              <a:t> </a:t>
            </a:r>
            <a:r>
              <a:rPr spc="-25" dirty="0"/>
              <a:t>technology</a:t>
            </a:r>
            <a:r>
              <a:rPr spc="25" dirty="0"/>
              <a:t> </a:t>
            </a:r>
            <a:r>
              <a:rPr spc="-10" dirty="0"/>
              <a:t>and</a:t>
            </a:r>
            <a:r>
              <a:rPr spc="25" dirty="0"/>
              <a:t> </a:t>
            </a:r>
            <a:r>
              <a:rPr spc="-25" dirty="0"/>
              <a:t>free-</a:t>
            </a:r>
            <a:r>
              <a:rPr spc="-10" dirty="0"/>
              <a:t>riding</a:t>
            </a:r>
            <a:r>
              <a:rPr spc="25" dirty="0"/>
              <a:t> </a:t>
            </a:r>
            <a:r>
              <a:rPr spc="-30" dirty="0"/>
              <a:t>incentives</a:t>
            </a:r>
            <a:r>
              <a:rPr spc="25" dirty="0"/>
              <a:t> </a:t>
            </a:r>
            <a:r>
              <a:rPr dirty="0"/>
              <a:t>in</a:t>
            </a:r>
            <a:r>
              <a:rPr spc="25" dirty="0"/>
              <a:t> </a:t>
            </a:r>
            <a:r>
              <a:rPr spc="-20" dirty="0"/>
              <a:t>IEAs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0" dirty="0"/>
              <a:t>Benchekroun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10" dirty="0"/>
              <a:t>Adaptation</a:t>
            </a:r>
            <a:r>
              <a:rPr spc="20" dirty="0"/>
              <a:t> </a:t>
            </a:r>
            <a:r>
              <a:rPr spc="-25" dirty="0"/>
              <a:t>technology</a:t>
            </a:r>
            <a:r>
              <a:rPr spc="25" dirty="0"/>
              <a:t> </a:t>
            </a:r>
            <a:r>
              <a:rPr spc="-10" dirty="0"/>
              <a:t>and</a:t>
            </a:r>
            <a:r>
              <a:rPr spc="25" dirty="0"/>
              <a:t> </a:t>
            </a:r>
            <a:r>
              <a:rPr spc="-25" dirty="0"/>
              <a:t>free-</a:t>
            </a:r>
            <a:r>
              <a:rPr spc="-10" dirty="0"/>
              <a:t>riding</a:t>
            </a:r>
            <a:r>
              <a:rPr spc="25" dirty="0"/>
              <a:t> </a:t>
            </a:r>
            <a:r>
              <a:rPr spc="-30" dirty="0"/>
              <a:t>incentives</a:t>
            </a:r>
            <a:r>
              <a:rPr spc="25" dirty="0"/>
              <a:t> </a:t>
            </a:r>
            <a:r>
              <a:rPr dirty="0"/>
              <a:t>in</a:t>
            </a:r>
            <a:r>
              <a:rPr spc="25" dirty="0"/>
              <a:t> </a:t>
            </a:r>
            <a:r>
              <a:rPr spc="-20" dirty="0"/>
              <a:t>IEAs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0" dirty="0"/>
              <a:t>Benchekroun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10" dirty="0"/>
              <a:t>Adaptation</a:t>
            </a:r>
            <a:r>
              <a:rPr spc="20" dirty="0"/>
              <a:t> </a:t>
            </a:r>
            <a:r>
              <a:rPr spc="-25" dirty="0"/>
              <a:t>technology</a:t>
            </a:r>
            <a:r>
              <a:rPr spc="25" dirty="0"/>
              <a:t> </a:t>
            </a:r>
            <a:r>
              <a:rPr spc="-10" dirty="0"/>
              <a:t>and</a:t>
            </a:r>
            <a:r>
              <a:rPr spc="25" dirty="0"/>
              <a:t> </a:t>
            </a:r>
            <a:r>
              <a:rPr spc="-25" dirty="0"/>
              <a:t>free-</a:t>
            </a:r>
            <a:r>
              <a:rPr spc="-10" dirty="0"/>
              <a:t>riding</a:t>
            </a:r>
            <a:r>
              <a:rPr spc="25" dirty="0"/>
              <a:t> </a:t>
            </a:r>
            <a:r>
              <a:rPr spc="-30" dirty="0"/>
              <a:t>incentives</a:t>
            </a:r>
            <a:r>
              <a:rPr spc="25" dirty="0"/>
              <a:t> </a:t>
            </a:r>
            <a:r>
              <a:rPr dirty="0"/>
              <a:t>in</a:t>
            </a:r>
            <a:r>
              <a:rPr spc="25" dirty="0"/>
              <a:t> </a:t>
            </a:r>
            <a:r>
              <a:rPr spc="-20" dirty="0"/>
              <a:t>IEAs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0" dirty="0"/>
              <a:t>Benchekroun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10" dirty="0"/>
              <a:t>Adaptation</a:t>
            </a:r>
            <a:r>
              <a:rPr spc="20" dirty="0"/>
              <a:t> </a:t>
            </a:r>
            <a:r>
              <a:rPr spc="-25" dirty="0"/>
              <a:t>technology</a:t>
            </a:r>
            <a:r>
              <a:rPr spc="25" dirty="0"/>
              <a:t> </a:t>
            </a:r>
            <a:r>
              <a:rPr spc="-10" dirty="0"/>
              <a:t>and</a:t>
            </a:r>
            <a:r>
              <a:rPr spc="25" dirty="0"/>
              <a:t> </a:t>
            </a:r>
            <a:r>
              <a:rPr spc="-25" dirty="0"/>
              <a:t>free-</a:t>
            </a:r>
            <a:r>
              <a:rPr spc="-10" dirty="0"/>
              <a:t>riding</a:t>
            </a:r>
            <a:r>
              <a:rPr spc="25" dirty="0"/>
              <a:t> </a:t>
            </a:r>
            <a:r>
              <a:rPr spc="-30" dirty="0"/>
              <a:t>incentives</a:t>
            </a:r>
            <a:r>
              <a:rPr spc="25" dirty="0"/>
              <a:t> </a:t>
            </a:r>
            <a:r>
              <a:rPr dirty="0"/>
              <a:t>in</a:t>
            </a:r>
            <a:r>
              <a:rPr spc="25" dirty="0"/>
              <a:t> </a:t>
            </a:r>
            <a:r>
              <a:rPr spc="-20" dirty="0"/>
              <a:t>IEAs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0" dirty="0"/>
              <a:t>Benchekroun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46680" y="3245103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67063" y="324114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44865" y="324114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05694" y="3234791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42526" y="324114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06877" y="3247491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17976" y="324114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594177" y="323479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69640" y="3234791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793439" y="324114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69640" y="3272891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45090" y="323479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265271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69" y="3238776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234791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0" y="0"/>
            <a:ext cx="2304415" cy="548005"/>
          </a:xfrm>
          <a:custGeom>
            <a:avLst/>
            <a:gdLst/>
            <a:ahLst/>
            <a:cxnLst/>
            <a:rect l="l" t="t" r="r" b="b"/>
            <a:pathLst>
              <a:path w="2304415" h="548005">
                <a:moveTo>
                  <a:pt x="2303995" y="0"/>
                </a:moveTo>
                <a:lnTo>
                  <a:pt x="0" y="0"/>
                </a:lnTo>
                <a:lnTo>
                  <a:pt x="0" y="548004"/>
                </a:lnTo>
                <a:lnTo>
                  <a:pt x="2303995" y="548004"/>
                </a:lnTo>
                <a:lnTo>
                  <a:pt x="23039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9994" y="1024750"/>
            <a:ext cx="3890111" cy="5924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0505" y="795972"/>
            <a:ext cx="4149090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399296" y="3344944"/>
            <a:ext cx="1993900" cy="1041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10" dirty="0"/>
              <a:t>Adaptation</a:t>
            </a:r>
            <a:r>
              <a:rPr spc="20" dirty="0"/>
              <a:t> </a:t>
            </a:r>
            <a:r>
              <a:rPr spc="-25" dirty="0"/>
              <a:t>technology</a:t>
            </a:r>
            <a:r>
              <a:rPr spc="25" dirty="0"/>
              <a:t> </a:t>
            </a:r>
            <a:r>
              <a:rPr spc="-10" dirty="0"/>
              <a:t>and</a:t>
            </a:r>
            <a:r>
              <a:rPr spc="25" dirty="0"/>
              <a:t> </a:t>
            </a:r>
            <a:r>
              <a:rPr spc="-25" dirty="0"/>
              <a:t>free-</a:t>
            </a:r>
            <a:r>
              <a:rPr spc="-10" dirty="0"/>
              <a:t>riding</a:t>
            </a:r>
            <a:r>
              <a:rPr spc="25" dirty="0"/>
              <a:t> </a:t>
            </a:r>
            <a:r>
              <a:rPr spc="-30" dirty="0"/>
              <a:t>incentives</a:t>
            </a:r>
            <a:r>
              <a:rPr spc="25" dirty="0"/>
              <a:t> </a:t>
            </a:r>
            <a:r>
              <a:rPr dirty="0"/>
              <a:t>in</a:t>
            </a:r>
            <a:r>
              <a:rPr spc="25" dirty="0"/>
              <a:t> </a:t>
            </a:r>
            <a:r>
              <a:rPr spc="-20" dirty="0"/>
              <a:t>IEAs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315" y="3344944"/>
            <a:ext cx="476884" cy="1041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0" dirty="0"/>
              <a:t>Benchekroun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50" y="1339837"/>
            <a:ext cx="4419600" cy="481478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35560" rIns="0" bIns="0" rtlCol="0">
            <a:spAutoFit/>
          </a:bodyPr>
          <a:lstStyle/>
          <a:p>
            <a:pPr marL="384175" marR="139065" indent="-238760" algn="ctr">
              <a:lnSpc>
                <a:spcPct val="106700"/>
              </a:lnSpc>
              <a:spcBef>
                <a:spcPts val="280"/>
              </a:spcBef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Monetary Policy and Personal Income Distribution: </a:t>
            </a:r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Survey of the Empirical Literature </a:t>
            </a:r>
            <a:endParaRPr spc="-1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62050" y="1882775"/>
            <a:ext cx="1982778" cy="33278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1200"/>
              </a:lnSpc>
              <a:spcBef>
                <a:spcPts val="95"/>
              </a:spcBef>
            </a:pPr>
            <a:endParaRPr lang="en-US" sz="1000" spc="-25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>
              <a:lnSpc>
                <a:spcPts val="1200"/>
              </a:lnSpc>
              <a:spcBef>
                <a:spcPts val="95"/>
              </a:spcBef>
            </a:pPr>
            <a:r>
              <a:rPr lang="en-US" sz="1100" spc="-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Presented by Rawan Al Gharib</a:t>
            </a:r>
            <a:endParaRPr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303995" y="0"/>
            <a:ext cx="2304415" cy="548005"/>
          </a:xfrm>
          <a:custGeom>
            <a:avLst/>
            <a:gdLst/>
            <a:ahLst/>
            <a:cxnLst/>
            <a:rect l="l" t="t" r="r" b="b"/>
            <a:pathLst>
              <a:path w="2304415" h="548005">
                <a:moveTo>
                  <a:pt x="2303995" y="0"/>
                </a:moveTo>
                <a:lnTo>
                  <a:pt x="0" y="0"/>
                </a:lnTo>
                <a:lnTo>
                  <a:pt x="0" y="548004"/>
                </a:lnTo>
                <a:lnTo>
                  <a:pt x="2303995" y="548004"/>
                </a:lnTo>
                <a:lnTo>
                  <a:pt x="230399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2900" y="602642"/>
            <a:ext cx="4267200" cy="2951449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86055" indent="-148590">
              <a:lnSpc>
                <a:spcPct val="100000"/>
              </a:lnSpc>
              <a:spcBef>
                <a:spcPts val="615"/>
              </a:spcBef>
              <a:buClr>
                <a:srgbClr val="3333B2"/>
              </a:buClr>
              <a:buSzPct val="72727"/>
              <a:buFont typeface="Lucida Sans Unicode"/>
              <a:buChar char="►"/>
              <a:tabLst>
                <a:tab pos="186690" algn="l"/>
              </a:tabLst>
            </a:pPr>
            <a:r>
              <a:rPr sz="8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Introduction</a:t>
            </a:r>
            <a:endParaRPr lang="en-US" sz="800" spc="-1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62915" lvl="1" indent="-137795">
              <a:lnSpc>
                <a:spcPct val="100000"/>
              </a:lnSpc>
              <a:spcBef>
                <a:spcPts val="175"/>
              </a:spcBef>
              <a:buClr>
                <a:srgbClr val="3333B2"/>
              </a:buClr>
              <a:buSzPct val="60000"/>
              <a:buFont typeface="Arial"/>
              <a:buChar char="►"/>
              <a:tabLst>
                <a:tab pos="463550" algn="l"/>
              </a:tabLst>
            </a:pPr>
            <a:r>
              <a:rPr lang="en-US" sz="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Motivation</a:t>
            </a:r>
            <a:endParaRPr lang="en-US" sz="800" spc="-1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62915" lvl="1" indent="-137795">
              <a:lnSpc>
                <a:spcPct val="100000"/>
              </a:lnSpc>
              <a:spcBef>
                <a:spcPts val="175"/>
              </a:spcBef>
              <a:buClr>
                <a:srgbClr val="3333B2"/>
              </a:buClr>
              <a:buSzPct val="60000"/>
              <a:buFont typeface="Arial"/>
              <a:buChar char="►"/>
              <a:tabLst>
                <a:tab pos="463550" algn="l"/>
              </a:tabLst>
            </a:pPr>
            <a:r>
              <a:rPr lang="en-US" sz="8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Objective</a:t>
            </a:r>
            <a:endParaRPr sz="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86055" indent="-148590">
              <a:lnSpc>
                <a:spcPct val="100000"/>
              </a:lnSpc>
              <a:spcBef>
                <a:spcPts val="390"/>
              </a:spcBef>
              <a:buClr>
                <a:srgbClr val="3333B2"/>
              </a:buClr>
              <a:buSzPct val="72727"/>
              <a:buFont typeface="Lucida Sans Unicode"/>
              <a:buChar char="►"/>
              <a:tabLst>
                <a:tab pos="186690" algn="l"/>
              </a:tabLst>
            </a:pPr>
            <a:r>
              <a:rPr lang="en-US" sz="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Transmission Channels</a:t>
            </a:r>
            <a:endParaRPr sz="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62915" lvl="1" indent="-137795">
              <a:lnSpc>
                <a:spcPct val="100000"/>
              </a:lnSpc>
              <a:spcBef>
                <a:spcPts val="175"/>
              </a:spcBef>
              <a:buClr>
                <a:srgbClr val="3333B2"/>
              </a:buClr>
              <a:buSzPct val="60000"/>
              <a:buFont typeface="Arial"/>
              <a:buChar char="►"/>
              <a:tabLst>
                <a:tab pos="463550" algn="l"/>
              </a:tabLst>
            </a:pPr>
            <a:r>
              <a:rPr lang="en-US" sz="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Direct channels: </a:t>
            </a:r>
            <a:r>
              <a:rPr lang="en-US" sz="8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Capital Income and Debt Burden</a:t>
            </a:r>
          </a:p>
          <a:p>
            <a:pPr marL="462915" lvl="1" indent="-137795">
              <a:lnSpc>
                <a:spcPct val="100000"/>
              </a:lnSpc>
              <a:spcBef>
                <a:spcPts val="175"/>
              </a:spcBef>
              <a:buClr>
                <a:srgbClr val="3333B2"/>
              </a:buClr>
              <a:buSzPct val="60000"/>
              <a:buFont typeface="Arial"/>
              <a:buChar char="►"/>
              <a:tabLst>
                <a:tab pos="463550" algn="l"/>
              </a:tabLst>
            </a:pPr>
            <a:r>
              <a:rPr lang="en-US" sz="8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Indirect channels: Earnings heterogeneity, Job Creation and Portfolio</a:t>
            </a:r>
            <a:endParaRPr lang="en-US" sz="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86055" indent="-148590">
              <a:lnSpc>
                <a:spcPct val="100000"/>
              </a:lnSpc>
              <a:spcBef>
                <a:spcPts val="390"/>
              </a:spcBef>
              <a:buClr>
                <a:srgbClr val="3333B2"/>
              </a:buClr>
              <a:buSzPct val="72727"/>
              <a:buFont typeface="Lucida Sans Unicode"/>
              <a:buChar char="►"/>
              <a:tabLst>
                <a:tab pos="186690" algn="l"/>
              </a:tabLst>
            </a:pPr>
            <a:r>
              <a:rPr lang="en-US" sz="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Empirical Strategies</a:t>
            </a:r>
          </a:p>
          <a:p>
            <a:pPr marL="462915" lvl="1" indent="-137795">
              <a:spcBef>
                <a:spcPts val="175"/>
              </a:spcBef>
              <a:buClr>
                <a:srgbClr val="3333B2"/>
              </a:buClr>
              <a:buSzPct val="60000"/>
              <a:buFont typeface="Arial"/>
              <a:buChar char="►"/>
              <a:tabLst>
                <a:tab pos="463550" algn="l"/>
              </a:tabLst>
            </a:pPr>
            <a:r>
              <a:rPr lang="en-US" sz="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Measures of variables</a:t>
            </a:r>
          </a:p>
          <a:p>
            <a:pPr marL="462915" lvl="1" indent="-137795">
              <a:spcBef>
                <a:spcPts val="175"/>
              </a:spcBef>
              <a:buClr>
                <a:srgbClr val="3333B2"/>
              </a:buClr>
              <a:buSzPct val="60000"/>
              <a:buFont typeface="Arial"/>
              <a:buChar char="►"/>
              <a:tabLst>
                <a:tab pos="463550" algn="l"/>
              </a:tabLst>
            </a:pPr>
            <a:r>
              <a:rPr lang="en-US" sz="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Types of monetary policy change</a:t>
            </a:r>
          </a:p>
          <a:p>
            <a:pPr marL="462915" lvl="1" indent="-137795">
              <a:spcBef>
                <a:spcPts val="175"/>
              </a:spcBef>
              <a:buClr>
                <a:srgbClr val="3333B2"/>
              </a:buClr>
              <a:buSzPct val="60000"/>
              <a:buFont typeface="Arial"/>
              <a:buChar char="►"/>
              <a:tabLst>
                <a:tab pos="463550" algn="l"/>
              </a:tabLst>
            </a:pPr>
            <a:r>
              <a:rPr lang="en-US" sz="8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Empirical strategies and econometric models</a:t>
            </a:r>
          </a:p>
          <a:p>
            <a:pPr marL="186055" indent="-148590">
              <a:lnSpc>
                <a:spcPct val="100000"/>
              </a:lnSpc>
              <a:spcBef>
                <a:spcPts val="355"/>
              </a:spcBef>
              <a:buClr>
                <a:srgbClr val="3333B2"/>
              </a:buClr>
              <a:buSzPct val="72727"/>
              <a:buFont typeface="Lucida Sans Unicode"/>
              <a:buChar char="►"/>
              <a:tabLst>
                <a:tab pos="186690" algn="l"/>
              </a:tabLst>
            </a:pPr>
            <a:r>
              <a:rPr lang="en-US" sz="800" spc="-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Survey of the Empirical Literature:</a:t>
            </a:r>
          </a:p>
          <a:p>
            <a:pPr marL="462915" marR="0" lvl="1" indent="-137795" defTabSz="914400" eaLnBrk="1" fontAlgn="auto" latinLnBrk="0" hangingPunct="1">
              <a:lnSpc>
                <a:spcPct val="100000"/>
              </a:lnSpc>
              <a:spcBef>
                <a:spcPts val="175"/>
              </a:spcBef>
              <a:spcAft>
                <a:spcPts val="0"/>
              </a:spcAft>
              <a:buClr>
                <a:srgbClr val="3333B2"/>
              </a:buClr>
              <a:buSzPct val="60000"/>
              <a:buFont typeface="Arial"/>
              <a:buChar char="►"/>
              <a:tabLst>
                <a:tab pos="463550" algn="l"/>
              </a:tabLst>
              <a:defRPr/>
            </a:pPr>
            <a:r>
              <a:rPr lang="en-US" sz="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Unconventional Monetary Policy</a:t>
            </a:r>
          </a:p>
          <a:p>
            <a:pPr marL="462915" marR="0" lvl="1" indent="-137795" defTabSz="914400" eaLnBrk="1" fontAlgn="auto" latinLnBrk="0" hangingPunct="1">
              <a:lnSpc>
                <a:spcPct val="100000"/>
              </a:lnSpc>
              <a:spcBef>
                <a:spcPts val="175"/>
              </a:spcBef>
              <a:spcAft>
                <a:spcPts val="0"/>
              </a:spcAft>
              <a:buClr>
                <a:srgbClr val="3333B2"/>
              </a:buClr>
              <a:buSzPct val="60000"/>
              <a:buFont typeface="Arial"/>
              <a:buChar char="►"/>
              <a:tabLst>
                <a:tab pos="463550" algn="l"/>
              </a:tabLst>
              <a:defRPr/>
            </a:pPr>
            <a:r>
              <a:rPr lang="en-US" sz="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Conventional Monetary Policy</a:t>
            </a:r>
            <a:endParaRPr lang="en-US" sz="800" spc="-1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86055" indent="-148590">
              <a:lnSpc>
                <a:spcPct val="100000"/>
              </a:lnSpc>
              <a:spcBef>
                <a:spcPts val="355"/>
              </a:spcBef>
              <a:buClr>
                <a:srgbClr val="3333B2"/>
              </a:buClr>
              <a:buSzPct val="72727"/>
              <a:buFont typeface="Lucida Sans Unicode"/>
              <a:buChar char="►"/>
              <a:tabLst>
                <a:tab pos="186690" algn="l"/>
              </a:tabLst>
            </a:pPr>
            <a:r>
              <a:rPr lang="en-US" sz="8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Discussion</a:t>
            </a:r>
          </a:p>
          <a:p>
            <a:pPr marL="186055" indent="-148590">
              <a:lnSpc>
                <a:spcPct val="100000"/>
              </a:lnSpc>
              <a:spcBef>
                <a:spcPts val="355"/>
              </a:spcBef>
              <a:buClr>
                <a:srgbClr val="3333B2"/>
              </a:buClr>
              <a:buSzPct val="72727"/>
              <a:buFont typeface="Lucida Sans Unicode"/>
              <a:buChar char="►"/>
              <a:tabLst>
                <a:tab pos="186690" algn="l"/>
              </a:tabLst>
            </a:pPr>
            <a:r>
              <a:rPr lang="en-US" sz="8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Conclusion</a:t>
            </a:r>
          </a:p>
          <a:p>
            <a:pPr marL="462915" lvl="1" indent="-137795">
              <a:lnSpc>
                <a:spcPct val="100000"/>
              </a:lnSpc>
              <a:spcBef>
                <a:spcPts val="175"/>
              </a:spcBef>
              <a:buClr>
                <a:srgbClr val="3333B2"/>
              </a:buClr>
              <a:buSzPct val="60000"/>
              <a:buFont typeface="Arial"/>
              <a:buChar char="►"/>
              <a:tabLst>
                <a:tab pos="463550" algn="l"/>
              </a:tabLst>
            </a:pPr>
            <a:r>
              <a:rPr lang="en-US" sz="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Concluding remarks</a:t>
            </a:r>
          </a:p>
          <a:p>
            <a:pPr marL="462915" lvl="1" indent="-137795">
              <a:lnSpc>
                <a:spcPct val="100000"/>
              </a:lnSpc>
              <a:spcBef>
                <a:spcPts val="175"/>
              </a:spcBef>
              <a:buClr>
                <a:srgbClr val="3333B2"/>
              </a:buClr>
              <a:buSzPct val="60000"/>
              <a:buFont typeface="Arial"/>
              <a:buChar char="►"/>
              <a:tabLst>
                <a:tab pos="463550" algn="l"/>
              </a:tabLst>
            </a:pPr>
            <a:r>
              <a:rPr lang="en-US" sz="8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Recommendations</a:t>
            </a:r>
          </a:p>
          <a:p>
            <a:pPr marL="325120" lvl="1" algn="r">
              <a:lnSpc>
                <a:spcPct val="100000"/>
              </a:lnSpc>
              <a:spcBef>
                <a:spcPts val="175"/>
              </a:spcBef>
              <a:buClr>
                <a:srgbClr val="3333B2"/>
              </a:buClr>
              <a:buSzPct val="60000"/>
              <a:tabLst>
                <a:tab pos="463550" algn="l"/>
              </a:tabLst>
            </a:pPr>
            <a:endParaRPr lang="en-US" sz="800" spc="-1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object 2">
            <a:extLst>
              <a:ext uri="{FF2B5EF4-FFF2-40B4-BE49-F238E27FC236}">
                <a16:creationId xmlns:a16="http://schemas.microsoft.com/office/drawing/2014/main" id="{07B15A16-0FDE-4E56-B5FA-E8EF29CB9EEE}"/>
              </a:ext>
            </a:extLst>
          </p:cNvPr>
          <p:cNvSpPr txBox="1"/>
          <p:nvPr/>
        </p:nvSpPr>
        <p:spPr>
          <a:xfrm>
            <a:off x="-396247" y="-20794"/>
            <a:ext cx="2700242" cy="666721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464945" marR="5715" indent="173355" algn="r">
              <a:lnSpc>
                <a:spcPts val="670"/>
              </a:lnSpc>
              <a:spcBef>
                <a:spcPts val="160"/>
              </a:spcBef>
            </a:pPr>
            <a:r>
              <a:rPr lang="en-US" sz="500" b="1" spc="-20" dirty="0">
                <a:solidFill>
                  <a:srgbClr val="7F7F7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Introduction</a:t>
            </a:r>
          </a:p>
          <a:p>
            <a:pPr marL="1464945" marR="5715" indent="173355" algn="r">
              <a:lnSpc>
                <a:spcPts val="670"/>
              </a:lnSpc>
              <a:spcBef>
                <a:spcPts val="160"/>
              </a:spcBef>
            </a:pPr>
            <a:r>
              <a:rPr lang="en-US" sz="500" b="1" dirty="0">
                <a:solidFill>
                  <a:srgbClr val="7F7F7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Transmission Channels</a:t>
            </a:r>
            <a:endParaRPr sz="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Empirical Strategies</a:t>
            </a: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Survey of the Empirical Literature</a:t>
            </a: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Discussion</a:t>
            </a: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Conclusion</a:t>
            </a:r>
            <a:endParaRPr lang="en-US" sz="500" b="1" spc="-10" dirty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R="6350" algn="r">
              <a:lnSpc>
                <a:spcPts val="695"/>
              </a:lnSpc>
            </a:pPr>
            <a:endParaRPr sz="500" dirty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DBBB6C68-D5EE-4E04-9522-32DBA90BAA1D}"/>
              </a:ext>
            </a:extLst>
          </p:cNvPr>
          <p:cNvSpPr txBox="1"/>
          <p:nvPr/>
        </p:nvSpPr>
        <p:spPr>
          <a:xfrm>
            <a:off x="-396247" y="-33091"/>
            <a:ext cx="2700242" cy="666721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464945" marR="5715" indent="173355" algn="r">
              <a:lnSpc>
                <a:spcPts val="670"/>
              </a:lnSpc>
              <a:spcBef>
                <a:spcPts val="160"/>
              </a:spcBef>
            </a:pPr>
            <a:r>
              <a:rPr lang="en-US" sz="500" b="1" spc="-2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Introduction</a:t>
            </a:r>
          </a:p>
          <a:p>
            <a:pPr marL="1464945" marR="5715" indent="173355" algn="r">
              <a:lnSpc>
                <a:spcPts val="670"/>
              </a:lnSpc>
              <a:spcBef>
                <a:spcPts val="160"/>
              </a:spcBef>
            </a:pPr>
            <a:r>
              <a:rPr lang="en-US" sz="5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Transmission Channels</a:t>
            </a:r>
            <a:endParaRPr sz="500" dirty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Empirical Strategies</a:t>
            </a: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Survey of the Empirical Literature</a:t>
            </a: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Discussion</a:t>
            </a: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Conclusion</a:t>
            </a:r>
            <a:endParaRPr lang="en-US" sz="500" b="1" spc="-10" dirty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R="6350" algn="r">
              <a:lnSpc>
                <a:spcPts val="695"/>
              </a:lnSpc>
            </a:pPr>
            <a:endParaRPr sz="500" dirty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02F603C4-2618-428E-8CDB-4152682B7013}"/>
              </a:ext>
            </a:extLst>
          </p:cNvPr>
          <p:cNvSpPr/>
          <p:nvPr/>
        </p:nvSpPr>
        <p:spPr>
          <a:xfrm>
            <a:off x="2303995" y="0"/>
            <a:ext cx="2304415" cy="548005"/>
          </a:xfrm>
          <a:custGeom>
            <a:avLst/>
            <a:gdLst/>
            <a:ahLst/>
            <a:cxnLst/>
            <a:rect l="l" t="t" r="r" b="b"/>
            <a:pathLst>
              <a:path w="2304415" h="548005">
                <a:moveTo>
                  <a:pt x="2303995" y="0"/>
                </a:moveTo>
                <a:lnTo>
                  <a:pt x="0" y="0"/>
                </a:lnTo>
                <a:lnTo>
                  <a:pt x="0" y="548004"/>
                </a:lnTo>
                <a:lnTo>
                  <a:pt x="2303995" y="548004"/>
                </a:lnTo>
                <a:lnTo>
                  <a:pt x="230399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pPr marL="107950" marR="1579245" lvl="0" indent="0" defTabSz="914400" eaLnBrk="1" fontAlgn="auto" latinLnBrk="0" hangingPunct="1">
              <a:lnSpc>
                <a:spcPts val="6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600" b="1" spc="-10" dirty="0">
              <a:solidFill>
                <a:srgbClr val="9898D8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07950" marR="1579245" lvl="0" indent="0" defTabSz="914400" eaLnBrk="1" fontAlgn="auto" latinLnBrk="0" hangingPunct="1">
              <a:lnSpc>
                <a:spcPts val="6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600" b="1" spc="-10" dirty="0">
              <a:solidFill>
                <a:srgbClr val="9898D8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07950" marR="1579245" lvl="0" indent="0" defTabSz="914400" eaLnBrk="1" fontAlgn="auto" latinLnBrk="0" hangingPunct="1">
              <a:lnSpc>
                <a:spcPts val="6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00" b="1" spc="-1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Motivation</a:t>
            </a:r>
            <a:r>
              <a:rPr lang="en-US" sz="500" b="1" spc="50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00" b="1" spc="-1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Objective</a:t>
            </a:r>
            <a:endParaRPr lang="en-US" sz="500" dirty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B22D9AAF-A1E6-4382-B65E-2EF3D2E7717A}"/>
              </a:ext>
            </a:extLst>
          </p:cNvPr>
          <p:cNvSpPr txBox="1"/>
          <p:nvPr/>
        </p:nvSpPr>
        <p:spPr>
          <a:xfrm>
            <a:off x="0" y="548005"/>
            <a:ext cx="4608195" cy="293029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 algn="l">
              <a:lnSpc>
                <a:spcPct val="100000"/>
              </a:lnSpc>
              <a:spcBef>
                <a:spcPts val="605"/>
              </a:spcBef>
            </a:pPr>
            <a:r>
              <a:rPr lang="en-US" sz="140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Motivation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41F1F38-6D02-4CFA-BE68-6F7CE282A82D}"/>
              </a:ext>
            </a:extLst>
          </p:cNvPr>
          <p:cNvGrpSpPr/>
          <p:nvPr/>
        </p:nvGrpSpPr>
        <p:grpSpPr>
          <a:xfrm>
            <a:off x="122549" y="1068851"/>
            <a:ext cx="1835143" cy="935152"/>
            <a:chOff x="339893" y="860593"/>
            <a:chExt cx="1530226" cy="759669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E37FA783-6F64-43A1-8C04-091DB7D3412F}"/>
                </a:ext>
              </a:extLst>
            </p:cNvPr>
            <p:cNvSpPr/>
            <p:nvPr/>
          </p:nvSpPr>
          <p:spPr>
            <a:xfrm>
              <a:off x="350781" y="860593"/>
              <a:ext cx="1519338" cy="759669"/>
            </a:xfrm>
            <a:prstGeom prst="roundRect">
              <a:avLst>
                <a:gd name="adj" fmla="val 10000"/>
              </a:avLst>
            </a:prstGeom>
            <a:ln>
              <a:solidFill>
                <a:srgbClr val="3333B2"/>
              </a:solidFill>
            </a:ln>
          </p:spPr>
          <p:style>
            <a:lnRef idx="3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: Rounded Corners 4">
              <a:extLst>
                <a:ext uri="{FF2B5EF4-FFF2-40B4-BE49-F238E27FC236}">
                  <a16:creationId xmlns:a16="http://schemas.microsoft.com/office/drawing/2014/main" id="{32EEA873-DA87-4598-A80B-504D1F79E7A2}"/>
                </a:ext>
              </a:extLst>
            </p:cNvPr>
            <p:cNvSpPr txBox="1"/>
            <p:nvPr/>
          </p:nvSpPr>
          <p:spPr>
            <a:xfrm>
              <a:off x="339893" y="891529"/>
              <a:ext cx="1474838" cy="71516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The topic of growing inequality has gained attention from policymakers due to its adverse economic effects.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66348A2-1D9F-471E-A291-94841AB43F92}"/>
              </a:ext>
            </a:extLst>
          </p:cNvPr>
          <p:cNvGrpSpPr/>
          <p:nvPr/>
        </p:nvGrpSpPr>
        <p:grpSpPr>
          <a:xfrm>
            <a:off x="135607" y="2308403"/>
            <a:ext cx="1876706" cy="935152"/>
            <a:chOff x="339613" y="877608"/>
            <a:chExt cx="1519338" cy="759669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51FF9A0D-23A5-4DCE-B8DC-8295DDCCE361}"/>
                </a:ext>
              </a:extLst>
            </p:cNvPr>
            <p:cNvSpPr/>
            <p:nvPr/>
          </p:nvSpPr>
          <p:spPr>
            <a:xfrm>
              <a:off x="339613" y="877608"/>
              <a:ext cx="1519338" cy="759669"/>
            </a:xfrm>
            <a:prstGeom prst="roundRect">
              <a:avLst>
                <a:gd name="adj" fmla="val 10000"/>
              </a:avLst>
            </a:prstGeom>
            <a:ln>
              <a:solidFill>
                <a:srgbClr val="3333B2"/>
              </a:solidFill>
            </a:ln>
          </p:spPr>
          <p:style>
            <a:lnRef idx="3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: Rounded Corners 4">
              <a:extLst>
                <a:ext uri="{FF2B5EF4-FFF2-40B4-BE49-F238E27FC236}">
                  <a16:creationId xmlns:a16="http://schemas.microsoft.com/office/drawing/2014/main" id="{EB5E89F9-6DB8-4F67-BA01-309047D7177A}"/>
                </a:ext>
              </a:extLst>
            </p:cNvPr>
            <p:cNvSpPr txBox="1"/>
            <p:nvPr/>
          </p:nvSpPr>
          <p:spPr>
            <a:xfrm>
              <a:off x="361863" y="891351"/>
              <a:ext cx="1474838" cy="71516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95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Another critical topic is the continuous use of unconventional MPs –involves purchases of assets mainly being held by the rich - during the COVID-19 outbreak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226E850-306B-4E4F-85F9-0A8D8BCAE758}"/>
              </a:ext>
            </a:extLst>
          </p:cNvPr>
          <p:cNvGrpSpPr/>
          <p:nvPr/>
        </p:nvGrpSpPr>
        <p:grpSpPr>
          <a:xfrm>
            <a:off x="2457450" y="2275188"/>
            <a:ext cx="1897312" cy="947422"/>
            <a:chOff x="339893" y="860593"/>
            <a:chExt cx="1530226" cy="759669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81A4AAED-417F-41D7-A8B2-959B83E4CB16}"/>
                </a:ext>
              </a:extLst>
            </p:cNvPr>
            <p:cNvSpPr/>
            <p:nvPr/>
          </p:nvSpPr>
          <p:spPr>
            <a:xfrm>
              <a:off x="350781" y="860593"/>
              <a:ext cx="1519338" cy="759669"/>
            </a:xfrm>
            <a:prstGeom prst="roundRect">
              <a:avLst>
                <a:gd name="adj" fmla="val 10000"/>
              </a:avLst>
            </a:prstGeom>
            <a:ln>
              <a:solidFill>
                <a:srgbClr val="3333B2"/>
              </a:solidFill>
            </a:ln>
          </p:spPr>
          <p:style>
            <a:lnRef idx="3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: Rounded Corners 4">
              <a:extLst>
                <a:ext uri="{FF2B5EF4-FFF2-40B4-BE49-F238E27FC236}">
                  <a16:creationId xmlns:a16="http://schemas.microsoft.com/office/drawing/2014/main" id="{7BA2598D-A2B7-479E-88E8-27B42C668A4E}"/>
                </a:ext>
              </a:extLst>
            </p:cNvPr>
            <p:cNvSpPr txBox="1"/>
            <p:nvPr/>
          </p:nvSpPr>
          <p:spPr>
            <a:xfrm>
              <a:off x="339893" y="891529"/>
              <a:ext cx="1474838" cy="71516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The continuous use of UMPs raised concerns about distributional effects of these policies ,resulting in a growing body literature (IMF, Central Banks)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DEB26B9-B5FF-43EB-929D-15EAE6010440}"/>
              </a:ext>
            </a:extLst>
          </p:cNvPr>
          <p:cNvGrpSpPr/>
          <p:nvPr/>
        </p:nvGrpSpPr>
        <p:grpSpPr>
          <a:xfrm>
            <a:off x="2457450" y="1049838"/>
            <a:ext cx="1897312" cy="959692"/>
            <a:chOff x="339893" y="860593"/>
            <a:chExt cx="1530226" cy="759669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E66AA74F-0370-42CD-AEB2-791A0E721767}"/>
                </a:ext>
              </a:extLst>
            </p:cNvPr>
            <p:cNvSpPr/>
            <p:nvPr/>
          </p:nvSpPr>
          <p:spPr>
            <a:xfrm>
              <a:off x="350781" y="860593"/>
              <a:ext cx="1519338" cy="759669"/>
            </a:xfrm>
            <a:prstGeom prst="roundRect">
              <a:avLst>
                <a:gd name="adj" fmla="val 10000"/>
              </a:avLst>
            </a:prstGeom>
            <a:ln>
              <a:solidFill>
                <a:srgbClr val="3333B2"/>
              </a:solidFill>
            </a:ln>
          </p:spPr>
          <p:style>
            <a:lnRef idx="3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: Rounded Corners 4">
              <a:extLst>
                <a:ext uri="{FF2B5EF4-FFF2-40B4-BE49-F238E27FC236}">
                  <a16:creationId xmlns:a16="http://schemas.microsoft.com/office/drawing/2014/main" id="{A7957236-2B63-449E-89E5-8BEC0190BF28}"/>
                </a:ext>
              </a:extLst>
            </p:cNvPr>
            <p:cNvSpPr txBox="1"/>
            <p:nvPr/>
          </p:nvSpPr>
          <p:spPr>
            <a:xfrm>
              <a:off x="339893" y="891529"/>
              <a:ext cx="1474838" cy="71516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Academic research suggests that inequality is linked to hindered growth and increased risk of financial crises. (Ostry, et al. 2014; Bordo and Meissner 2012; Rajan 2010)</a:t>
              </a:r>
            </a:p>
          </p:txBody>
        </p:sp>
      </p:grp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9652A281-0735-4A61-B04C-9B3FD9475D77}"/>
              </a:ext>
            </a:extLst>
          </p:cNvPr>
          <p:cNvSpPr txBox="1"/>
          <p:nvPr/>
        </p:nvSpPr>
        <p:spPr>
          <a:xfrm>
            <a:off x="-396247" y="-33091"/>
            <a:ext cx="2700242" cy="666721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464945" marR="5715" indent="173355" algn="r">
              <a:lnSpc>
                <a:spcPts val="670"/>
              </a:lnSpc>
              <a:spcBef>
                <a:spcPts val="160"/>
              </a:spcBef>
            </a:pPr>
            <a:r>
              <a:rPr lang="en-US" sz="500" b="1" spc="-2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Introduction</a:t>
            </a:r>
          </a:p>
          <a:p>
            <a:pPr marL="1464945" marR="5715" indent="173355" algn="r">
              <a:lnSpc>
                <a:spcPts val="670"/>
              </a:lnSpc>
              <a:spcBef>
                <a:spcPts val="160"/>
              </a:spcBef>
            </a:pPr>
            <a:r>
              <a:rPr lang="en-US" sz="500" b="1" dirty="0">
                <a:solidFill>
                  <a:srgbClr val="7F7F7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Transmission Channels</a:t>
            </a:r>
            <a:endParaRPr sz="5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Empirical Strategies</a:t>
            </a: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Survey of the Empirical Literature</a:t>
            </a: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Discussion</a:t>
            </a: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Conclusion</a:t>
            </a:r>
            <a:endParaRPr lang="en-US" sz="500" b="1" spc="-10" dirty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R="6350" algn="r">
              <a:lnSpc>
                <a:spcPts val="695"/>
              </a:lnSpc>
            </a:pPr>
            <a:endParaRPr sz="500" b="1" dirty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6FC4D291-1950-4CA9-BC8F-721F6A8B3AFD}"/>
              </a:ext>
            </a:extLst>
          </p:cNvPr>
          <p:cNvSpPr/>
          <p:nvPr/>
        </p:nvSpPr>
        <p:spPr>
          <a:xfrm>
            <a:off x="2303995" y="0"/>
            <a:ext cx="2304415" cy="548005"/>
          </a:xfrm>
          <a:custGeom>
            <a:avLst/>
            <a:gdLst/>
            <a:ahLst/>
            <a:cxnLst/>
            <a:rect l="l" t="t" r="r" b="b"/>
            <a:pathLst>
              <a:path w="2304415" h="548005">
                <a:moveTo>
                  <a:pt x="2303995" y="0"/>
                </a:moveTo>
                <a:lnTo>
                  <a:pt x="0" y="0"/>
                </a:lnTo>
                <a:lnTo>
                  <a:pt x="0" y="548004"/>
                </a:lnTo>
                <a:lnTo>
                  <a:pt x="2303995" y="548004"/>
                </a:lnTo>
                <a:lnTo>
                  <a:pt x="230399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pPr marL="107950" marR="1579245" lvl="0" indent="0" defTabSz="914400" eaLnBrk="1" fontAlgn="auto" latinLnBrk="0" hangingPunct="1">
              <a:lnSpc>
                <a:spcPts val="6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600" b="1" spc="-10" dirty="0">
              <a:solidFill>
                <a:srgbClr val="9898D8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07950" marR="1579245" lvl="0" indent="0" defTabSz="914400" eaLnBrk="1" fontAlgn="auto" latinLnBrk="0" hangingPunct="1">
              <a:lnSpc>
                <a:spcPts val="6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600" spc="-10" dirty="0">
              <a:solidFill>
                <a:srgbClr val="9898D8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07950" marR="1579245" lvl="0" indent="0" defTabSz="914400" eaLnBrk="1" fontAlgn="auto" latinLnBrk="0" hangingPunct="1">
              <a:lnSpc>
                <a:spcPts val="6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00" spc="-1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Motivation</a:t>
            </a:r>
            <a:r>
              <a:rPr lang="en-US" sz="500" spc="50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 marL="107950" marR="1579245" lvl="0" indent="0" defTabSz="914400" eaLnBrk="1" fontAlgn="auto" latinLnBrk="0" hangingPunct="1">
              <a:lnSpc>
                <a:spcPts val="6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00" spc="-1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Objective</a:t>
            </a:r>
            <a:endParaRPr lang="en-US" sz="5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AAC44AB-290C-4BA7-B8C9-3F3E68AD0543}"/>
              </a:ext>
            </a:extLst>
          </p:cNvPr>
          <p:cNvGrpSpPr/>
          <p:nvPr/>
        </p:nvGrpSpPr>
        <p:grpSpPr>
          <a:xfrm>
            <a:off x="857250" y="1196975"/>
            <a:ext cx="2807083" cy="1367406"/>
            <a:chOff x="339893" y="860593"/>
            <a:chExt cx="1530226" cy="759669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3304D68D-DEB4-4224-B4E8-671FDFDC2335}"/>
                </a:ext>
              </a:extLst>
            </p:cNvPr>
            <p:cNvSpPr/>
            <p:nvPr/>
          </p:nvSpPr>
          <p:spPr>
            <a:xfrm>
              <a:off x="350781" y="860593"/>
              <a:ext cx="1519338" cy="759669"/>
            </a:xfrm>
            <a:prstGeom prst="roundRect">
              <a:avLst>
                <a:gd name="adj" fmla="val 10000"/>
              </a:avLst>
            </a:prstGeom>
            <a:ln>
              <a:solidFill>
                <a:srgbClr val="3333B2"/>
              </a:solidFill>
            </a:ln>
          </p:spPr>
          <p:style>
            <a:lnRef idx="3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Rectangle: Rounded Corners 4">
              <a:extLst>
                <a:ext uri="{FF2B5EF4-FFF2-40B4-BE49-F238E27FC236}">
                  <a16:creationId xmlns:a16="http://schemas.microsoft.com/office/drawing/2014/main" id="{E389B37B-1B54-47C5-8B09-968DD9CBF761}"/>
                </a:ext>
              </a:extLst>
            </p:cNvPr>
            <p:cNvSpPr txBox="1"/>
            <p:nvPr/>
          </p:nvSpPr>
          <p:spPr>
            <a:xfrm>
              <a:off x="339893" y="891529"/>
              <a:ext cx="1474838" cy="71516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50165" algn="ctr">
                <a:lnSpc>
                  <a:spcPct val="100000"/>
                </a:lnSpc>
                <a:spcBef>
                  <a:spcPts val="775"/>
                </a:spcBef>
                <a:buClr>
                  <a:srgbClr val="3333B2"/>
                </a:buClr>
                <a:buSzPct val="72727"/>
                <a:tabLst>
                  <a:tab pos="199390" algn="l"/>
                </a:tabLst>
              </a:pPr>
              <a:r>
                <a:rPr lang="en-U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The </a:t>
              </a:r>
              <a:r>
                <a:rPr lang="en-US" sz="1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objective</a:t>
              </a:r>
              <a:r>
                <a:rPr lang="en-U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of this paper is to conduct a survey of the recent literature that evaluates, empirically, the distributional impacts of monetary policy.</a:t>
              </a:r>
            </a:p>
          </p:txBody>
        </p:sp>
      </p:grp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303995" y="0"/>
            <a:ext cx="2304415" cy="548005"/>
          </a:xfrm>
          <a:custGeom>
            <a:avLst/>
            <a:gdLst/>
            <a:ahLst/>
            <a:cxnLst/>
            <a:rect l="l" t="t" r="r" b="b"/>
            <a:pathLst>
              <a:path w="2304415" h="548005">
                <a:moveTo>
                  <a:pt x="2303995" y="0"/>
                </a:moveTo>
                <a:lnTo>
                  <a:pt x="0" y="0"/>
                </a:lnTo>
                <a:lnTo>
                  <a:pt x="0" y="548004"/>
                </a:lnTo>
                <a:lnTo>
                  <a:pt x="2303995" y="548004"/>
                </a:lnTo>
                <a:lnTo>
                  <a:pt x="230399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81250" y="128539"/>
            <a:ext cx="1188454" cy="3584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n-US" sz="5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Net financial income definition</a:t>
            </a:r>
          </a:p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n-US" sz="500" dirty="0">
                <a:solidFill>
                  <a:srgbClr val="7F7F7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Direct channel</a:t>
            </a:r>
          </a:p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n-US" sz="500" dirty="0">
                <a:solidFill>
                  <a:srgbClr val="7F7F7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Indirect channels</a:t>
            </a:r>
            <a:endParaRPr lang="en-US" sz="500" dirty="0">
              <a:solidFill>
                <a:srgbClr val="FFFF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0" y="2263775"/>
            <a:ext cx="4368887" cy="142943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50165" marR="17780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SzPct val="72727"/>
              <a:tabLst>
                <a:tab pos="199390" algn="l"/>
              </a:tabLst>
            </a:pPr>
            <a:endParaRPr lang="en-US"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0165" marR="17780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SzPct val="72727"/>
              <a:tabLst>
                <a:tab pos="199390" algn="l"/>
              </a:tabLst>
            </a:pPr>
            <a:endParaRPr lang="en-US"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0165" marR="17780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SzPct val="72727"/>
              <a:tabLst>
                <a:tab pos="199390" algn="l"/>
              </a:tabLst>
            </a:pPr>
            <a:endParaRPr lang="en-US"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0165" marR="17780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SzPct val="72727"/>
              <a:tabLst>
                <a:tab pos="199390" algn="l"/>
              </a:tabLst>
            </a:pP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98755" marR="17780" indent="-148590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SzPct val="72727"/>
              <a:buFont typeface="Lucida Sans Unicode"/>
              <a:buChar char="►"/>
              <a:tabLst>
                <a:tab pos="199390" algn="l"/>
              </a:tabLst>
            </a:pP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98755" marR="17780" indent="-148590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SzPct val="72727"/>
              <a:buFont typeface="Lucida Sans Unicode"/>
              <a:buChar char="►"/>
              <a:tabLst>
                <a:tab pos="199390" algn="l"/>
              </a:tabLst>
            </a:pP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98755" marR="17780" indent="-148590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SzPct val="72727"/>
              <a:buFont typeface="Lucida Sans Unicode"/>
              <a:buChar char="►"/>
              <a:tabLst>
                <a:tab pos="199390" algn="l"/>
              </a:tabLst>
            </a:pP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98755" marR="17780" indent="-148590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SzPct val="72727"/>
              <a:buFont typeface="Lucida Sans Unicode"/>
              <a:buChar char="►"/>
              <a:tabLst>
                <a:tab pos="199390" algn="l"/>
              </a:tabLst>
            </a:pPr>
            <a:endParaRPr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4AFF9AC7-DA2A-4CEF-8AF3-0E5FCE796892}"/>
              </a:ext>
            </a:extLst>
          </p:cNvPr>
          <p:cNvSpPr txBox="1"/>
          <p:nvPr/>
        </p:nvSpPr>
        <p:spPr>
          <a:xfrm>
            <a:off x="-396247" y="-33091"/>
            <a:ext cx="2700242" cy="666721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464945" marR="5715" indent="173355" algn="r">
              <a:lnSpc>
                <a:spcPts val="670"/>
              </a:lnSpc>
              <a:spcBef>
                <a:spcPts val="160"/>
              </a:spcBef>
            </a:pPr>
            <a:r>
              <a:rPr lang="en-US" sz="500" b="1" spc="-20" dirty="0">
                <a:solidFill>
                  <a:srgbClr val="7F7F7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Introduction</a:t>
            </a:r>
          </a:p>
          <a:p>
            <a:pPr marL="1464945" marR="5715" indent="173355" algn="r">
              <a:lnSpc>
                <a:spcPts val="670"/>
              </a:lnSpc>
              <a:spcBef>
                <a:spcPts val="160"/>
              </a:spcBef>
            </a:pPr>
            <a:r>
              <a:rPr lang="en-US" sz="5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Transmission Channels</a:t>
            </a:r>
            <a:endParaRPr sz="5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Empirical Strategies</a:t>
            </a: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Survey of the Empirical Literature</a:t>
            </a: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Discussion</a:t>
            </a: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Conclusion</a:t>
            </a:r>
            <a:endParaRPr lang="en-US" sz="500" b="1" spc="-10" dirty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R="6350" algn="r">
              <a:lnSpc>
                <a:spcPts val="695"/>
              </a:lnSpc>
            </a:pPr>
            <a:endParaRPr sz="500" dirty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E6219C8-0692-4C04-AF30-490EBB78CE02}"/>
              </a:ext>
            </a:extLst>
          </p:cNvPr>
          <p:cNvGrpSpPr/>
          <p:nvPr/>
        </p:nvGrpSpPr>
        <p:grpSpPr>
          <a:xfrm>
            <a:off x="1190916" y="683554"/>
            <a:ext cx="2047701" cy="610431"/>
            <a:chOff x="339893" y="860593"/>
            <a:chExt cx="1530226" cy="759669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425ED957-4767-42E4-A74B-F10C1C942132}"/>
                </a:ext>
              </a:extLst>
            </p:cNvPr>
            <p:cNvSpPr/>
            <p:nvPr/>
          </p:nvSpPr>
          <p:spPr>
            <a:xfrm>
              <a:off x="350781" y="860593"/>
              <a:ext cx="1519338" cy="759669"/>
            </a:xfrm>
            <a:prstGeom prst="roundRect">
              <a:avLst>
                <a:gd name="adj" fmla="val 10000"/>
              </a:avLst>
            </a:prstGeom>
            <a:ln>
              <a:solidFill>
                <a:srgbClr val="3333B2"/>
              </a:solidFill>
            </a:ln>
          </p:spPr>
          <p:style>
            <a:lnRef idx="3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: Rounded Corners 4">
              <a:extLst>
                <a:ext uri="{FF2B5EF4-FFF2-40B4-BE49-F238E27FC236}">
                  <a16:creationId xmlns:a16="http://schemas.microsoft.com/office/drawing/2014/main" id="{5C94FE40-16E7-4490-9718-DD30FA7B26CA}"/>
                </a:ext>
              </a:extLst>
            </p:cNvPr>
            <p:cNvSpPr txBox="1"/>
            <p:nvPr/>
          </p:nvSpPr>
          <p:spPr>
            <a:xfrm>
              <a:off x="339893" y="891529"/>
              <a:ext cx="1474838" cy="71516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There are many channels through which monetary policy can affect income distribution</a:t>
              </a:r>
              <a:endParaRPr lang="en-US" sz="10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F266E2B-4A89-4EFA-BDE8-D94DE00A332B}"/>
              </a:ext>
            </a:extLst>
          </p:cNvPr>
          <p:cNvGrpSpPr/>
          <p:nvPr/>
        </p:nvGrpSpPr>
        <p:grpSpPr>
          <a:xfrm>
            <a:off x="1249733" y="1487716"/>
            <a:ext cx="1944636" cy="558279"/>
            <a:chOff x="350781" y="860593"/>
            <a:chExt cx="1519338" cy="839774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C712EDD6-DC6B-4972-98A4-00E597A81741}"/>
                </a:ext>
              </a:extLst>
            </p:cNvPr>
            <p:cNvSpPr/>
            <p:nvPr/>
          </p:nvSpPr>
          <p:spPr>
            <a:xfrm>
              <a:off x="350781" y="860593"/>
              <a:ext cx="1519338" cy="759669"/>
            </a:xfrm>
            <a:prstGeom prst="roundRect">
              <a:avLst>
                <a:gd name="adj" fmla="val 10000"/>
              </a:avLst>
            </a:prstGeom>
            <a:ln>
              <a:solidFill>
                <a:srgbClr val="3333B2"/>
              </a:solidFill>
            </a:ln>
          </p:spPr>
          <p:style>
            <a:lnRef idx="3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: Rounded Corners 4">
              <a:extLst>
                <a:ext uri="{FF2B5EF4-FFF2-40B4-BE49-F238E27FC236}">
                  <a16:creationId xmlns:a16="http://schemas.microsoft.com/office/drawing/2014/main" id="{580796BE-646E-4D31-8ABE-DD67A8D58B71}"/>
                </a:ext>
              </a:extLst>
            </p:cNvPr>
            <p:cNvSpPr txBox="1"/>
            <p:nvPr/>
          </p:nvSpPr>
          <p:spPr>
            <a:xfrm>
              <a:off x="378475" y="985198"/>
              <a:ext cx="1474838" cy="71516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Start by the basic definition of</a:t>
              </a:r>
              <a:r>
                <a:rPr lang="en-US" sz="10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Net Financial Income:</a:t>
              </a:r>
            </a:p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53E06EF-1D45-407A-B84E-D64450F8EE14}"/>
              </a:ext>
            </a:extLst>
          </p:cNvPr>
          <p:cNvGrpSpPr/>
          <p:nvPr/>
        </p:nvGrpSpPr>
        <p:grpSpPr>
          <a:xfrm>
            <a:off x="294692" y="2210521"/>
            <a:ext cx="4018603" cy="816163"/>
            <a:chOff x="319276" y="860593"/>
            <a:chExt cx="1581215" cy="840108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0158CEBF-5F2C-4AA3-96AB-09436E314CB0}"/>
                </a:ext>
              </a:extLst>
            </p:cNvPr>
            <p:cNvSpPr/>
            <p:nvPr/>
          </p:nvSpPr>
          <p:spPr>
            <a:xfrm>
              <a:off x="350781" y="860593"/>
              <a:ext cx="1519338" cy="759669"/>
            </a:xfrm>
            <a:prstGeom prst="roundRect">
              <a:avLst>
                <a:gd name="adj" fmla="val 10000"/>
              </a:avLst>
            </a:prstGeom>
            <a:ln>
              <a:solidFill>
                <a:srgbClr val="3333B2"/>
              </a:solidFill>
            </a:ln>
          </p:spPr>
          <p:style>
            <a:lnRef idx="3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: Rounded Corners 4">
                  <a:extLst>
                    <a:ext uri="{FF2B5EF4-FFF2-40B4-BE49-F238E27FC236}">
                      <a16:creationId xmlns:a16="http://schemas.microsoft.com/office/drawing/2014/main" id="{F4C435D7-9A48-4167-B072-BA10269CC9CF}"/>
                    </a:ext>
                  </a:extLst>
                </p:cNvPr>
                <p:cNvSpPr txBox="1"/>
                <p:nvPr/>
              </p:nvSpPr>
              <p:spPr>
                <a:xfrm>
                  <a:off x="319276" y="941031"/>
                  <a:ext cx="1581215" cy="759670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6985" tIns="6985" rIns="6985" bIns="6985" numCol="1" spcCol="1270" anchor="ctr" anchorCtr="0">
                  <a:noAutofit/>
                </a:bodyPr>
                <a:lstStyle/>
                <a:p>
                  <a:pPr marL="50165" marR="17780" algn="ctr">
                    <a:lnSpc>
                      <a:spcPct val="102600"/>
                    </a:lnSpc>
                    <a:spcBef>
                      <a:spcPts val="55"/>
                    </a:spcBef>
                    <a:buClr>
                      <a:srgbClr val="3333B2"/>
                    </a:buClr>
                    <a:buSzPct val="72727"/>
                    <a:tabLst>
                      <a:tab pos="199390" algn="l"/>
                    </a:tabLs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b="1" i="1" smtClean="0">
                            <a:latin typeface="Cambria Math" panose="02040503050406030204" pitchFamily="18" charset="0"/>
                            <a:cs typeface="Tahoma"/>
                          </a:rPr>
                          <m:t>𝑵𝒆𝒕</m:t>
                        </m:r>
                        <m:r>
                          <a:rPr lang="en-US" sz="1000" b="1" i="1" smtClean="0">
                            <a:latin typeface="Cambria Math" panose="02040503050406030204" pitchFamily="18" charset="0"/>
                            <a:cs typeface="Tahoma"/>
                          </a:rPr>
                          <m:t> </m:t>
                        </m:r>
                        <m:r>
                          <a:rPr lang="en-US" sz="1000" b="1" i="1" smtClean="0">
                            <a:latin typeface="Cambria Math" panose="02040503050406030204" pitchFamily="18" charset="0"/>
                            <a:cs typeface="Tahoma"/>
                          </a:rPr>
                          <m:t>𝑭𝒊𝒏𝒂𝒏𝒄𝒊𝒂𝒍</m:t>
                        </m:r>
                        <m:r>
                          <a:rPr lang="en-US" sz="1000" b="1" i="1" smtClean="0">
                            <a:latin typeface="Cambria Math" panose="02040503050406030204" pitchFamily="18" charset="0"/>
                            <a:cs typeface="Tahoma"/>
                          </a:rPr>
                          <m:t> </m:t>
                        </m:r>
                        <m:r>
                          <a:rPr lang="en-US" sz="1000" b="1" i="1" smtClean="0">
                            <a:latin typeface="Cambria Math" panose="02040503050406030204" pitchFamily="18" charset="0"/>
                            <a:cs typeface="Tahoma"/>
                          </a:rPr>
                          <m:t>𝑰𝒏𝒄𝒐𝒎𝒆</m:t>
                        </m:r>
                        <m:r>
                          <a:rPr lang="en-US" sz="1000" b="1" i="1" smtClean="0">
                            <a:latin typeface="Cambria Math" panose="02040503050406030204" pitchFamily="18" charset="0"/>
                            <a:cs typeface="Tahoma"/>
                          </a:rPr>
                          <m:t>=</m:t>
                        </m:r>
                        <m:r>
                          <a:rPr lang="en-US" sz="1000" b="1" i="1" smtClean="0">
                            <a:latin typeface="Cambria Math" panose="02040503050406030204" pitchFamily="18" charset="0"/>
                            <a:cs typeface="Tahoma"/>
                          </a:rPr>
                          <m:t>𝑾𝒂𝒈𝒆𝒔</m:t>
                        </m:r>
                        <m:r>
                          <a:rPr lang="en-US" sz="1000" b="1" i="1" smtClean="0">
                            <a:latin typeface="Cambria Math" panose="02040503050406030204" pitchFamily="18" charset="0"/>
                            <a:cs typeface="Tahoma"/>
                          </a:rPr>
                          <m:t>+</m:t>
                        </m:r>
                        <m:r>
                          <a:rPr lang="en-US" sz="1000" b="1" i="1">
                            <a:latin typeface="Cambria Math" panose="02040503050406030204" pitchFamily="18" charset="0"/>
                            <a:cs typeface="Tahoma"/>
                          </a:rPr>
                          <m:t>𝑰𝒏𝒕𝒆𝒓𝒆𝒔𝒕</m:t>
                        </m:r>
                        <m:r>
                          <a:rPr lang="en-US" sz="1000" b="1" i="1">
                            <a:latin typeface="Cambria Math" panose="02040503050406030204" pitchFamily="18" charset="0"/>
                            <a:cs typeface="Tahoma"/>
                          </a:rPr>
                          <m:t> </m:t>
                        </m:r>
                        <m:r>
                          <a:rPr lang="en-US" sz="1000" b="1" i="1">
                            <a:latin typeface="Cambria Math" panose="02040503050406030204" pitchFamily="18" charset="0"/>
                            <a:cs typeface="Tahoma"/>
                          </a:rPr>
                          <m:t>𝒓𝒆𝒄𝒆𝒊𝒑𝒕𝒔</m:t>
                        </m:r>
                        <m:r>
                          <a:rPr lang="en-US" sz="1000" b="1" i="1">
                            <a:latin typeface="Cambria Math" panose="02040503050406030204" pitchFamily="18" charset="0"/>
                            <a:cs typeface="Tahoma"/>
                          </a:rPr>
                          <m:t> </m:t>
                        </m:r>
                      </m:oMath>
                    </m:oMathPara>
                  </a14:m>
                  <a:endParaRPr lang="en-US" sz="1000" b="1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 marL="50165" marR="17780">
                    <a:lnSpc>
                      <a:spcPct val="102600"/>
                    </a:lnSpc>
                    <a:spcBef>
                      <a:spcPts val="55"/>
                    </a:spcBef>
                    <a:buClr>
                      <a:srgbClr val="3333B2"/>
                    </a:buClr>
                    <a:buSzPct val="72727"/>
                    <a:tabLst>
                      <a:tab pos="199390" algn="l"/>
                    </a:tabLst>
                  </a:pPr>
                  <a:r>
                    <a:rPr lang="en-US" sz="1000" b="1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                                        </a:t>
                  </a:r>
                  <a14:m>
                    <m:oMath xmlns:m="http://schemas.openxmlformats.org/officeDocument/2006/math">
                      <m:r>
                        <a:rPr lang="en-US" sz="1000" b="1" i="0" smtClean="0">
                          <a:latin typeface="Cambria Math" panose="02040503050406030204" pitchFamily="18" charset="0"/>
                          <a:cs typeface="Tahoma"/>
                        </a:rPr>
                        <m:t>    </m:t>
                      </m:r>
                      <m:r>
                        <a:rPr lang="en-US" sz="1000" b="1" i="1" smtClean="0">
                          <a:latin typeface="Cambria Math" panose="02040503050406030204" pitchFamily="18" charset="0"/>
                          <a:cs typeface="Tahoma"/>
                        </a:rPr>
                        <m:t>+ </m:t>
                      </m:r>
                      <m:r>
                        <a:rPr lang="en-US" sz="1000" b="1" i="1">
                          <a:latin typeface="Cambria Math" panose="02040503050406030204" pitchFamily="18" charset="0"/>
                          <a:cs typeface="Tahoma"/>
                        </a:rPr>
                        <m:t>𝑩𝒖𝒔𝒊𝒏𝒆𝒔𝒔</m:t>
                      </m:r>
                      <m:r>
                        <a:rPr lang="en-US" sz="1000" b="1" i="1">
                          <a:latin typeface="Cambria Math" panose="02040503050406030204" pitchFamily="18" charset="0"/>
                          <a:cs typeface="Tahoma"/>
                        </a:rPr>
                        <m:t> </m:t>
                      </m:r>
                      <m:r>
                        <a:rPr lang="en-US" sz="1000" b="1" i="1">
                          <a:latin typeface="Cambria Math" panose="02040503050406030204" pitchFamily="18" charset="0"/>
                          <a:cs typeface="Tahoma"/>
                        </a:rPr>
                        <m:t>𝒑𝒓𝒐𝒇𝒊𝒕𝒔</m:t>
                      </m:r>
                      <m:r>
                        <a:rPr lang="en-US" sz="1000" b="1" i="1" smtClean="0">
                          <a:latin typeface="Cambria Math" panose="02040503050406030204" pitchFamily="18" charset="0"/>
                          <a:cs typeface="Tahoma"/>
                        </a:rPr>
                        <m:t>+ </m:t>
                      </m:r>
                      <m:r>
                        <a:rPr lang="en-US" sz="1000" b="1" i="1">
                          <a:latin typeface="Cambria Math" panose="02040503050406030204" pitchFamily="18" charset="0"/>
                          <a:cs typeface="Tahoma"/>
                        </a:rPr>
                        <m:t>𝑻𝒓𝒂𝒏𝒔𝒇𝒆𝒓</m:t>
                      </m:r>
                      <m:r>
                        <a:rPr lang="en-US" sz="1000" b="1" i="1" smtClean="0">
                          <a:latin typeface="Cambria Math" panose="02040503050406030204" pitchFamily="18" charset="0"/>
                          <a:cs typeface="Tahoma"/>
                        </a:rPr>
                        <m:t>𝒔</m:t>
                      </m:r>
                    </m:oMath>
                  </a14:m>
                  <a:r>
                    <a:rPr lang="en-US" sz="1000" b="1" dirty="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  </a:t>
                  </a:r>
                  <a14:m>
                    <m:oMath xmlns:m="http://schemas.openxmlformats.org/officeDocument/2006/math">
                      <m:r>
                        <a:rPr lang="en-US" sz="1000" b="1" i="0" smtClean="0">
                          <a:latin typeface="Cambria Math" panose="02040503050406030204" pitchFamily="18" charset="0"/>
                          <a:cs typeface="Tahoma"/>
                        </a:rPr>
                        <m:t>                                                        </m:t>
                      </m:r>
                      <m:r>
                        <a:rPr lang="en-US" sz="1000" b="1" i="1">
                          <a:latin typeface="Cambria Math" panose="02040503050406030204" pitchFamily="18" charset="0"/>
                          <a:cs typeface="Tahoma"/>
                        </a:rPr>
                        <m:t>+</m:t>
                      </m:r>
                      <m:r>
                        <a:rPr lang="en-US" sz="1000" b="1" i="1" smtClean="0">
                          <a:latin typeface="Cambria Math" panose="02040503050406030204" pitchFamily="18" charset="0"/>
                          <a:cs typeface="Tahoma"/>
                        </a:rPr>
                        <m:t> </m:t>
                      </m:r>
                      <m:r>
                        <a:rPr lang="en-US" sz="1000" b="1" i="1">
                          <a:latin typeface="Cambria Math" panose="02040503050406030204" pitchFamily="18" charset="0"/>
                          <a:cs typeface="Tahoma"/>
                        </a:rPr>
                        <m:t>𝑪𝒂𝒑𝒊𝒕𝒂𝒍</m:t>
                      </m:r>
                      <m:r>
                        <a:rPr lang="en-US" sz="1000" b="1" i="1">
                          <a:latin typeface="Cambria Math" panose="02040503050406030204" pitchFamily="18" charset="0"/>
                          <a:cs typeface="Tahoma"/>
                        </a:rPr>
                        <m:t> </m:t>
                      </m:r>
                      <m:r>
                        <a:rPr lang="en-US" sz="1000" b="1" i="1">
                          <a:latin typeface="Cambria Math" panose="02040503050406030204" pitchFamily="18" charset="0"/>
                          <a:cs typeface="Tahoma"/>
                        </a:rPr>
                        <m:t>𝑮𝒂𝒊𝒏𝒔</m:t>
                      </m:r>
                      <m:r>
                        <a:rPr lang="en-US" sz="1000" b="1" i="1">
                          <a:latin typeface="Cambria Math" panose="02040503050406030204" pitchFamily="18" charset="0"/>
                          <a:cs typeface="Tahoma"/>
                        </a:rPr>
                        <m:t> − </m:t>
                      </m:r>
                      <m:r>
                        <a:rPr lang="en-US" sz="1000" b="1" i="1">
                          <a:latin typeface="Cambria Math" panose="02040503050406030204" pitchFamily="18" charset="0"/>
                          <a:cs typeface="Tahoma"/>
                        </a:rPr>
                        <m:t>𝑫𝒆𝒃𝒕</m:t>
                      </m:r>
                      <m:r>
                        <a:rPr lang="en-US" sz="1000" b="1" i="1">
                          <a:latin typeface="Cambria Math" panose="02040503050406030204" pitchFamily="18" charset="0"/>
                          <a:cs typeface="Tahoma"/>
                        </a:rPr>
                        <m:t> </m:t>
                      </m:r>
                      <m:r>
                        <a:rPr lang="en-US" sz="1000" b="1" i="1">
                          <a:latin typeface="Cambria Math" panose="02040503050406030204" pitchFamily="18" charset="0"/>
                          <a:cs typeface="Tahoma"/>
                        </a:rPr>
                        <m:t>𝒑𝒂𝒚𝒎𝒆𝒏𝒕𝒔</m:t>
                      </m:r>
                    </m:oMath>
                  </a14:m>
                  <a:endParaRPr lang="en-US" sz="10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 marL="0" lvl="0" indent="0" algn="ctr" defTabSz="4889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US" sz="1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23" name="Rectangle: Rounded Corners 4">
                  <a:extLst>
                    <a:ext uri="{FF2B5EF4-FFF2-40B4-BE49-F238E27FC236}">
                      <a16:creationId xmlns:a16="http://schemas.microsoft.com/office/drawing/2014/main" id="{F4C435D7-9A48-4167-B072-BA10269CC9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9276" y="941031"/>
                  <a:ext cx="1581215" cy="75967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65EA78E-2D0C-4D5C-B598-04048E51F0D5}"/>
              </a:ext>
            </a:extLst>
          </p:cNvPr>
          <p:cNvCxnSpPr>
            <a:stCxn id="13" idx="2"/>
            <a:endCxn id="19" idx="0"/>
          </p:cNvCxnSpPr>
          <p:nvPr/>
        </p:nvCxnSpPr>
        <p:spPr>
          <a:xfrm flipH="1">
            <a:off x="2222051" y="1293985"/>
            <a:ext cx="1" cy="193731"/>
          </a:xfrm>
          <a:prstGeom prst="straightConnector1">
            <a:avLst/>
          </a:prstGeom>
          <a:ln w="28575">
            <a:solidFill>
              <a:srgbClr val="3333B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84F894E-7A11-4D6E-8808-8A3FC43DCE37}"/>
              </a:ext>
            </a:extLst>
          </p:cNvPr>
          <p:cNvCxnSpPr/>
          <p:nvPr/>
        </p:nvCxnSpPr>
        <p:spPr>
          <a:xfrm flipH="1">
            <a:off x="2229018" y="2005891"/>
            <a:ext cx="1" cy="193731"/>
          </a:xfrm>
          <a:prstGeom prst="straightConnector1">
            <a:avLst/>
          </a:prstGeom>
          <a:ln w="28575">
            <a:solidFill>
              <a:srgbClr val="3333B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303995" y="0"/>
            <a:ext cx="2304415" cy="548005"/>
          </a:xfrm>
          <a:custGeom>
            <a:avLst/>
            <a:gdLst/>
            <a:ahLst/>
            <a:cxnLst/>
            <a:rect l="l" t="t" r="r" b="b"/>
            <a:pathLst>
              <a:path w="2304415" h="548005">
                <a:moveTo>
                  <a:pt x="2303995" y="0"/>
                </a:moveTo>
                <a:lnTo>
                  <a:pt x="0" y="0"/>
                </a:lnTo>
                <a:lnTo>
                  <a:pt x="0" y="548004"/>
                </a:lnTo>
                <a:lnTo>
                  <a:pt x="2303995" y="548004"/>
                </a:lnTo>
                <a:lnTo>
                  <a:pt x="230399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 b="1" dirty="0"/>
          </a:p>
        </p:txBody>
      </p:sp>
      <p:sp>
        <p:nvSpPr>
          <p:cNvPr id="4" name="object 4"/>
          <p:cNvSpPr txBox="1"/>
          <p:nvPr/>
        </p:nvSpPr>
        <p:spPr>
          <a:xfrm>
            <a:off x="2381250" y="128539"/>
            <a:ext cx="1188454" cy="3584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n-US" sz="5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Net financial income definition</a:t>
            </a:r>
          </a:p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n-US" sz="500" dirty="0">
                <a:solidFill>
                  <a:srgbClr val="7F7F7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Direct channel</a:t>
            </a:r>
          </a:p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n-US" sz="500" dirty="0">
                <a:solidFill>
                  <a:srgbClr val="7F7F7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Indirect channels</a:t>
            </a:r>
            <a:endParaRPr lang="en-US" sz="500" dirty="0">
              <a:solidFill>
                <a:srgbClr val="FFFF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763" y="2263775"/>
            <a:ext cx="4368887" cy="142943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50165" marR="17780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SzPct val="72727"/>
              <a:tabLst>
                <a:tab pos="199390" algn="l"/>
              </a:tabLst>
            </a:pPr>
            <a:endParaRPr lang="en-US" sz="1000" b="1" dirty="0">
              <a:latin typeface="Tahoma"/>
              <a:cs typeface="Tahoma"/>
            </a:endParaRPr>
          </a:p>
          <a:p>
            <a:pPr marL="50165" marR="17780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SzPct val="72727"/>
              <a:tabLst>
                <a:tab pos="199390" algn="l"/>
              </a:tabLst>
            </a:pPr>
            <a:endParaRPr lang="en-US" sz="1000" b="1" dirty="0">
              <a:latin typeface="Tahoma"/>
              <a:cs typeface="Tahoma"/>
            </a:endParaRPr>
          </a:p>
          <a:p>
            <a:pPr marL="50165" marR="17780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SzPct val="72727"/>
              <a:tabLst>
                <a:tab pos="199390" algn="l"/>
              </a:tabLst>
            </a:pPr>
            <a:endParaRPr lang="en-US" sz="1000" b="1" dirty="0">
              <a:latin typeface="Tahoma"/>
              <a:cs typeface="Tahoma"/>
            </a:endParaRPr>
          </a:p>
          <a:p>
            <a:pPr marL="50165" marR="17780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SzPct val="72727"/>
              <a:tabLst>
                <a:tab pos="199390" algn="l"/>
              </a:tabLst>
            </a:pPr>
            <a:endParaRPr lang="en-US" sz="1100" b="1" dirty="0">
              <a:latin typeface="Tahoma"/>
              <a:cs typeface="Tahoma"/>
            </a:endParaRPr>
          </a:p>
          <a:p>
            <a:pPr marL="198755" marR="17780" indent="-148590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SzPct val="72727"/>
              <a:buFont typeface="Lucida Sans Unicode"/>
              <a:buChar char="►"/>
              <a:tabLst>
                <a:tab pos="199390" algn="l"/>
              </a:tabLst>
            </a:pPr>
            <a:endParaRPr lang="en-US" sz="1100" b="1" dirty="0">
              <a:latin typeface="Tahoma"/>
              <a:cs typeface="Tahoma"/>
            </a:endParaRPr>
          </a:p>
          <a:p>
            <a:pPr marL="198755" marR="17780" indent="-148590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SzPct val="72727"/>
              <a:buFont typeface="Lucida Sans Unicode"/>
              <a:buChar char="►"/>
              <a:tabLst>
                <a:tab pos="199390" algn="l"/>
              </a:tabLst>
            </a:pPr>
            <a:endParaRPr lang="en-US" sz="1100" b="1" dirty="0">
              <a:latin typeface="Tahoma"/>
              <a:cs typeface="Tahoma"/>
            </a:endParaRPr>
          </a:p>
          <a:p>
            <a:pPr marL="198755" marR="17780" indent="-148590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SzPct val="72727"/>
              <a:buFont typeface="Lucida Sans Unicode"/>
              <a:buChar char="►"/>
              <a:tabLst>
                <a:tab pos="199390" algn="l"/>
              </a:tabLst>
            </a:pPr>
            <a:endParaRPr lang="en-US" sz="1100" b="1" dirty="0">
              <a:latin typeface="Tahoma"/>
              <a:cs typeface="Tahoma"/>
            </a:endParaRPr>
          </a:p>
          <a:p>
            <a:pPr marL="198755" marR="17780" indent="-148590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SzPct val="72727"/>
              <a:buFont typeface="Lucida Sans Unicode"/>
              <a:buChar char="►"/>
              <a:tabLst>
                <a:tab pos="199390" algn="l"/>
              </a:tabLst>
            </a:pPr>
            <a:endParaRPr sz="1100" b="1" dirty="0">
              <a:latin typeface="Tahoma"/>
              <a:cs typeface="Tahoma"/>
            </a:endParaRP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4AFF9AC7-DA2A-4CEF-8AF3-0E5FCE796892}"/>
              </a:ext>
            </a:extLst>
          </p:cNvPr>
          <p:cNvSpPr txBox="1"/>
          <p:nvPr/>
        </p:nvSpPr>
        <p:spPr>
          <a:xfrm>
            <a:off x="-396247" y="-33091"/>
            <a:ext cx="2700242" cy="666721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464945" marR="5715" indent="173355" algn="r">
              <a:lnSpc>
                <a:spcPts val="670"/>
              </a:lnSpc>
              <a:spcBef>
                <a:spcPts val="160"/>
              </a:spcBef>
            </a:pPr>
            <a:r>
              <a:rPr lang="en-US" sz="500" b="1" spc="-20" dirty="0">
                <a:solidFill>
                  <a:srgbClr val="7F7F7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Introduction</a:t>
            </a:r>
          </a:p>
          <a:p>
            <a:pPr marL="1464945" marR="5715" indent="173355" algn="r">
              <a:lnSpc>
                <a:spcPts val="670"/>
              </a:lnSpc>
              <a:spcBef>
                <a:spcPts val="160"/>
              </a:spcBef>
            </a:pPr>
            <a:r>
              <a:rPr lang="en-US" sz="5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Transmission Channels</a:t>
            </a:r>
            <a:endParaRPr sz="5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Empirical Strategies</a:t>
            </a: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Survey of the Empirical Literature</a:t>
            </a: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Discussion</a:t>
            </a: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Conclusion</a:t>
            </a:r>
            <a:endParaRPr lang="en-US" sz="500" b="1" spc="-10" dirty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R="6350" algn="r">
              <a:lnSpc>
                <a:spcPts val="695"/>
              </a:lnSpc>
            </a:pPr>
            <a:endParaRPr sz="500" b="1" dirty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E6219C8-0692-4C04-AF30-490EBB78CE02}"/>
              </a:ext>
            </a:extLst>
          </p:cNvPr>
          <p:cNvGrpSpPr/>
          <p:nvPr/>
        </p:nvGrpSpPr>
        <p:grpSpPr>
          <a:xfrm>
            <a:off x="269205" y="1699731"/>
            <a:ext cx="1073237" cy="508641"/>
            <a:chOff x="339893" y="860593"/>
            <a:chExt cx="1530226" cy="759669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425ED957-4767-42E4-A74B-F10C1C942132}"/>
                </a:ext>
              </a:extLst>
            </p:cNvPr>
            <p:cNvSpPr/>
            <p:nvPr/>
          </p:nvSpPr>
          <p:spPr>
            <a:xfrm>
              <a:off x="350781" y="860593"/>
              <a:ext cx="1519338" cy="759669"/>
            </a:xfrm>
            <a:prstGeom prst="roundRect">
              <a:avLst>
                <a:gd name="adj" fmla="val 10000"/>
              </a:avLst>
            </a:prstGeom>
            <a:ln>
              <a:solidFill>
                <a:srgbClr val="3333B2"/>
              </a:solidFill>
            </a:ln>
          </p:spPr>
          <p:style>
            <a:lnRef idx="3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: Rounded Corners 4">
              <a:extLst>
                <a:ext uri="{FF2B5EF4-FFF2-40B4-BE49-F238E27FC236}">
                  <a16:creationId xmlns:a16="http://schemas.microsoft.com/office/drawing/2014/main" id="{5C94FE40-16E7-4490-9718-DD30FA7B26CA}"/>
                </a:ext>
              </a:extLst>
            </p:cNvPr>
            <p:cNvSpPr txBox="1"/>
            <p:nvPr/>
          </p:nvSpPr>
          <p:spPr>
            <a:xfrm>
              <a:off x="339893" y="891529"/>
              <a:ext cx="1474838" cy="71516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100" b="1" dirty="0">
                  <a:latin typeface="Tahoma"/>
                  <a:cs typeface="Tahoma"/>
                </a:rPr>
                <a:t>Transmission Channels</a:t>
              </a:r>
              <a:endParaRPr lang="en-US" sz="1100" b="1" kern="1200" dirty="0">
                <a:latin typeface="Calisto MT" panose="02040603050505030304" pitchFamily="18" charset="0"/>
                <a:ea typeface="+mn-ea"/>
                <a:cs typeface="+mn-cs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35D6DF8-EFE1-4443-8D2E-A94BB66F37B8}"/>
              </a:ext>
            </a:extLst>
          </p:cNvPr>
          <p:cNvGrpSpPr/>
          <p:nvPr/>
        </p:nvGrpSpPr>
        <p:grpSpPr>
          <a:xfrm>
            <a:off x="1543049" y="1005297"/>
            <a:ext cx="1230115" cy="593482"/>
            <a:chOff x="339893" y="860593"/>
            <a:chExt cx="1530226" cy="759669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BD31E18E-1DB0-4C66-B806-467F3A9608AB}"/>
                </a:ext>
              </a:extLst>
            </p:cNvPr>
            <p:cNvSpPr/>
            <p:nvPr/>
          </p:nvSpPr>
          <p:spPr>
            <a:xfrm>
              <a:off x="350781" y="860593"/>
              <a:ext cx="1519338" cy="759669"/>
            </a:xfrm>
            <a:prstGeom prst="roundRect">
              <a:avLst>
                <a:gd name="adj" fmla="val 10000"/>
              </a:avLst>
            </a:prstGeom>
            <a:ln>
              <a:solidFill>
                <a:srgbClr val="3333B2"/>
              </a:solidFill>
            </a:ln>
          </p:spPr>
          <p:style>
            <a:lnRef idx="3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: Rounded Corners 4">
              <a:extLst>
                <a:ext uri="{FF2B5EF4-FFF2-40B4-BE49-F238E27FC236}">
                  <a16:creationId xmlns:a16="http://schemas.microsoft.com/office/drawing/2014/main" id="{4D88A4F0-C689-46AE-A3B4-DF10BF5C180F}"/>
                </a:ext>
              </a:extLst>
            </p:cNvPr>
            <p:cNvSpPr txBox="1"/>
            <p:nvPr/>
          </p:nvSpPr>
          <p:spPr>
            <a:xfrm>
              <a:off x="339893" y="891529"/>
              <a:ext cx="1474838" cy="71516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100" b="1" dirty="0">
                  <a:latin typeface="Tahoma"/>
                  <a:cs typeface="Tahoma"/>
                </a:rPr>
                <a:t>Direct Channel</a:t>
              </a:r>
              <a:endParaRPr lang="en-US" sz="900" b="1" kern="1200" dirty="0">
                <a:latin typeface="Calisto MT" panose="02040603050505030304" pitchFamily="18" charset="0"/>
                <a:ea typeface="+mn-ea"/>
                <a:cs typeface="+mn-cs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C0F5AF7-4592-4F0C-B9FC-EAD6D553494E}"/>
              </a:ext>
            </a:extLst>
          </p:cNvPr>
          <p:cNvGrpSpPr/>
          <p:nvPr/>
        </p:nvGrpSpPr>
        <p:grpSpPr>
          <a:xfrm>
            <a:off x="1536521" y="2178151"/>
            <a:ext cx="1236643" cy="558718"/>
            <a:chOff x="339893" y="860593"/>
            <a:chExt cx="1569334" cy="759669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DA708F18-B104-4108-B1BD-63077B11D2FD}"/>
                </a:ext>
              </a:extLst>
            </p:cNvPr>
            <p:cNvSpPr/>
            <p:nvPr/>
          </p:nvSpPr>
          <p:spPr>
            <a:xfrm>
              <a:off x="350781" y="860593"/>
              <a:ext cx="1519338" cy="759669"/>
            </a:xfrm>
            <a:prstGeom prst="roundRect">
              <a:avLst>
                <a:gd name="adj" fmla="val 10000"/>
              </a:avLst>
            </a:prstGeom>
            <a:ln>
              <a:solidFill>
                <a:srgbClr val="3333B2"/>
              </a:solidFill>
            </a:ln>
          </p:spPr>
          <p:style>
            <a:lnRef idx="3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: Rounded Corners 4">
              <a:extLst>
                <a:ext uri="{FF2B5EF4-FFF2-40B4-BE49-F238E27FC236}">
                  <a16:creationId xmlns:a16="http://schemas.microsoft.com/office/drawing/2014/main" id="{4EF062C0-3F32-47DF-809C-56CDA95DA1B6}"/>
                </a:ext>
              </a:extLst>
            </p:cNvPr>
            <p:cNvSpPr txBox="1"/>
            <p:nvPr/>
          </p:nvSpPr>
          <p:spPr>
            <a:xfrm>
              <a:off x="339893" y="891528"/>
              <a:ext cx="1569334" cy="72873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100" b="1" dirty="0">
                  <a:latin typeface="Tahoma"/>
                  <a:cs typeface="Tahoma"/>
                </a:rPr>
                <a:t>Indirect Channels</a:t>
              </a:r>
              <a:endParaRPr lang="en-US" sz="1100" b="1" kern="1200" dirty="0">
                <a:latin typeface="Calisto MT" panose="02040603050505030304" pitchFamily="18" charset="0"/>
                <a:ea typeface="+mn-ea"/>
                <a:cs typeface="+mn-cs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5D820F2-1814-4977-B3FD-D7959649E866}"/>
              </a:ext>
            </a:extLst>
          </p:cNvPr>
          <p:cNvGrpSpPr/>
          <p:nvPr/>
        </p:nvGrpSpPr>
        <p:grpSpPr>
          <a:xfrm>
            <a:off x="3062199" y="948472"/>
            <a:ext cx="1331814" cy="670849"/>
            <a:chOff x="339893" y="860593"/>
            <a:chExt cx="1530226" cy="759669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54D3B15B-389F-486B-94C2-126E2990CEB4}"/>
                </a:ext>
              </a:extLst>
            </p:cNvPr>
            <p:cNvSpPr/>
            <p:nvPr/>
          </p:nvSpPr>
          <p:spPr>
            <a:xfrm>
              <a:off x="350781" y="860593"/>
              <a:ext cx="1519338" cy="759669"/>
            </a:xfrm>
            <a:prstGeom prst="roundRect">
              <a:avLst>
                <a:gd name="adj" fmla="val 10000"/>
              </a:avLst>
            </a:prstGeom>
            <a:ln>
              <a:solidFill>
                <a:srgbClr val="3333B2"/>
              </a:solidFill>
            </a:ln>
          </p:spPr>
          <p:style>
            <a:lnRef idx="3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Rectangle: Rounded Corners 4">
              <a:extLst>
                <a:ext uri="{FF2B5EF4-FFF2-40B4-BE49-F238E27FC236}">
                  <a16:creationId xmlns:a16="http://schemas.microsoft.com/office/drawing/2014/main" id="{D449F7DD-E6D3-4405-B6ED-6BDBA94EB3E5}"/>
                </a:ext>
              </a:extLst>
            </p:cNvPr>
            <p:cNvSpPr txBox="1"/>
            <p:nvPr/>
          </p:nvSpPr>
          <p:spPr>
            <a:xfrm>
              <a:off x="339893" y="891529"/>
              <a:ext cx="1474838" cy="71516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000" b="1" dirty="0">
                  <a:latin typeface="Tahoma"/>
                  <a:cs typeface="Tahoma"/>
                </a:rPr>
                <a:t>Capital Income &amp; Debt Burden Channel</a:t>
              </a:r>
              <a:endParaRPr lang="en-US" sz="1000" b="1" kern="1200" dirty="0">
                <a:latin typeface="Calisto MT" panose="02040603050505030304" pitchFamily="18" charset="0"/>
                <a:ea typeface="+mn-ea"/>
                <a:cs typeface="+mn-cs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14719FF-901B-4EAF-95F0-B500CB2DC499}"/>
              </a:ext>
            </a:extLst>
          </p:cNvPr>
          <p:cNvGrpSpPr/>
          <p:nvPr/>
        </p:nvGrpSpPr>
        <p:grpSpPr>
          <a:xfrm>
            <a:off x="3062199" y="2638052"/>
            <a:ext cx="1366366" cy="548899"/>
            <a:chOff x="339893" y="860593"/>
            <a:chExt cx="1530226" cy="759669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1907111F-D928-4E88-821B-98D2B9693967}"/>
                </a:ext>
              </a:extLst>
            </p:cNvPr>
            <p:cNvSpPr/>
            <p:nvPr/>
          </p:nvSpPr>
          <p:spPr>
            <a:xfrm>
              <a:off x="350781" y="860593"/>
              <a:ext cx="1519338" cy="759669"/>
            </a:xfrm>
            <a:prstGeom prst="roundRect">
              <a:avLst>
                <a:gd name="adj" fmla="val 10000"/>
              </a:avLst>
            </a:prstGeom>
            <a:ln>
              <a:solidFill>
                <a:srgbClr val="3333B2"/>
              </a:solidFill>
            </a:ln>
          </p:spPr>
          <p:style>
            <a:lnRef idx="3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8" name="Rectangle: Rounded Corners 4">
              <a:extLst>
                <a:ext uri="{FF2B5EF4-FFF2-40B4-BE49-F238E27FC236}">
                  <a16:creationId xmlns:a16="http://schemas.microsoft.com/office/drawing/2014/main" id="{40650CA3-453C-4F78-8819-C935E29E9D9B}"/>
                </a:ext>
              </a:extLst>
            </p:cNvPr>
            <p:cNvSpPr txBox="1"/>
            <p:nvPr/>
          </p:nvSpPr>
          <p:spPr>
            <a:xfrm>
              <a:off x="339893" y="891529"/>
              <a:ext cx="1474838" cy="71516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000" b="1" dirty="0">
                  <a:latin typeface="Tahoma"/>
                  <a:cs typeface="Tahoma"/>
                </a:rPr>
                <a:t>Portfolio Channel</a:t>
              </a:r>
              <a:endParaRPr lang="en-US" sz="1000" b="1" kern="1200" dirty="0">
                <a:latin typeface="Calisto MT" panose="02040603050505030304" pitchFamily="18" charset="0"/>
                <a:ea typeface="+mn-ea"/>
                <a:cs typeface="+mn-cs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4D18D32-2D99-4F19-A775-05085659FD6B}"/>
              </a:ext>
            </a:extLst>
          </p:cNvPr>
          <p:cNvGrpSpPr/>
          <p:nvPr/>
        </p:nvGrpSpPr>
        <p:grpSpPr>
          <a:xfrm>
            <a:off x="3087207" y="1900518"/>
            <a:ext cx="1341358" cy="611763"/>
            <a:chOff x="339893" y="860593"/>
            <a:chExt cx="1530226" cy="759669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A9B31360-E73F-44DC-9E12-37F3A699F4E5}"/>
                </a:ext>
              </a:extLst>
            </p:cNvPr>
            <p:cNvSpPr/>
            <p:nvPr/>
          </p:nvSpPr>
          <p:spPr>
            <a:xfrm>
              <a:off x="350781" y="860593"/>
              <a:ext cx="1519338" cy="759669"/>
            </a:xfrm>
            <a:prstGeom prst="roundRect">
              <a:avLst>
                <a:gd name="adj" fmla="val 10000"/>
              </a:avLst>
            </a:prstGeom>
            <a:ln>
              <a:solidFill>
                <a:srgbClr val="3333B2"/>
              </a:solidFill>
            </a:ln>
          </p:spPr>
          <p:style>
            <a:lnRef idx="3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1" name="Rectangle: Rounded Corners 4">
              <a:extLst>
                <a:ext uri="{FF2B5EF4-FFF2-40B4-BE49-F238E27FC236}">
                  <a16:creationId xmlns:a16="http://schemas.microsoft.com/office/drawing/2014/main" id="{F7C980DD-DA9A-4D8C-AB54-08D7937D1721}"/>
                </a:ext>
              </a:extLst>
            </p:cNvPr>
            <p:cNvSpPr txBox="1"/>
            <p:nvPr/>
          </p:nvSpPr>
          <p:spPr>
            <a:xfrm>
              <a:off x="339893" y="891529"/>
              <a:ext cx="1474838" cy="71516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900" b="1" dirty="0">
                  <a:latin typeface="Tahoma"/>
                  <a:cs typeface="Tahoma"/>
                </a:rPr>
                <a:t>Earnings Heterogeneity &amp; Job Creation Channel</a:t>
              </a:r>
            </a:p>
          </p:txBody>
        </p:sp>
      </p:grp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E6EFC05-E5DE-48F2-9EED-688872022B05}"/>
              </a:ext>
            </a:extLst>
          </p:cNvPr>
          <p:cNvCxnSpPr>
            <a:cxnSpLocks/>
          </p:cNvCxnSpPr>
          <p:nvPr/>
        </p:nvCxnSpPr>
        <p:spPr>
          <a:xfrm flipV="1">
            <a:off x="1146027" y="1430935"/>
            <a:ext cx="397023" cy="256592"/>
          </a:xfrm>
          <a:prstGeom prst="straightConnector1">
            <a:avLst/>
          </a:prstGeom>
          <a:ln w="28575">
            <a:solidFill>
              <a:srgbClr val="3333B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89303FD-1921-4EAC-99F6-14CC6883811A}"/>
              </a:ext>
            </a:extLst>
          </p:cNvPr>
          <p:cNvCxnSpPr>
            <a:cxnSpLocks/>
          </p:cNvCxnSpPr>
          <p:nvPr/>
        </p:nvCxnSpPr>
        <p:spPr>
          <a:xfrm>
            <a:off x="1162358" y="2229085"/>
            <a:ext cx="388328" cy="205714"/>
          </a:xfrm>
          <a:prstGeom prst="straightConnector1">
            <a:avLst/>
          </a:prstGeom>
          <a:ln w="28575">
            <a:solidFill>
              <a:srgbClr val="3333B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9108D15-BAFC-4779-8B39-401237CCBEA6}"/>
              </a:ext>
            </a:extLst>
          </p:cNvPr>
          <p:cNvCxnSpPr>
            <a:cxnSpLocks/>
          </p:cNvCxnSpPr>
          <p:nvPr/>
        </p:nvCxnSpPr>
        <p:spPr>
          <a:xfrm>
            <a:off x="2740516" y="1273175"/>
            <a:ext cx="327300" cy="0"/>
          </a:xfrm>
          <a:prstGeom prst="straightConnector1">
            <a:avLst/>
          </a:prstGeom>
          <a:ln w="28575">
            <a:solidFill>
              <a:srgbClr val="3333B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7B99C0B-10B4-4A07-9DEE-08C4DB094FAA}"/>
              </a:ext>
            </a:extLst>
          </p:cNvPr>
          <p:cNvCxnSpPr>
            <a:cxnSpLocks/>
          </p:cNvCxnSpPr>
          <p:nvPr/>
        </p:nvCxnSpPr>
        <p:spPr>
          <a:xfrm>
            <a:off x="2736782" y="2604145"/>
            <a:ext cx="335216" cy="310603"/>
          </a:xfrm>
          <a:prstGeom prst="straightConnector1">
            <a:avLst/>
          </a:prstGeom>
          <a:ln w="28575">
            <a:solidFill>
              <a:srgbClr val="3333B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9F2E984-3658-4808-A54C-D03432861C4A}"/>
              </a:ext>
            </a:extLst>
          </p:cNvPr>
          <p:cNvCxnSpPr>
            <a:cxnSpLocks/>
          </p:cNvCxnSpPr>
          <p:nvPr/>
        </p:nvCxnSpPr>
        <p:spPr>
          <a:xfrm flipV="1">
            <a:off x="2764187" y="2160186"/>
            <a:ext cx="314395" cy="171756"/>
          </a:xfrm>
          <a:prstGeom prst="straightConnector1">
            <a:avLst/>
          </a:prstGeom>
          <a:ln w="28575">
            <a:solidFill>
              <a:srgbClr val="3333B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5024932"/>
      </p:ext>
    </p:extLst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303995" y="0"/>
            <a:ext cx="2304415" cy="548005"/>
          </a:xfrm>
          <a:custGeom>
            <a:avLst/>
            <a:gdLst/>
            <a:ahLst/>
            <a:cxnLst/>
            <a:rect l="l" t="t" r="r" b="b"/>
            <a:pathLst>
              <a:path w="2304415" h="548005">
                <a:moveTo>
                  <a:pt x="2303995" y="0"/>
                </a:moveTo>
                <a:lnTo>
                  <a:pt x="0" y="0"/>
                </a:lnTo>
                <a:lnTo>
                  <a:pt x="0" y="548004"/>
                </a:lnTo>
                <a:lnTo>
                  <a:pt x="2303995" y="548004"/>
                </a:lnTo>
                <a:lnTo>
                  <a:pt x="230399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2366870" y="110448"/>
            <a:ext cx="1188454" cy="3584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n-US" sz="5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Net financial income definition</a:t>
            </a:r>
          </a:p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n-US" sz="500" b="1" dirty="0">
                <a:solidFill>
                  <a:schemeClr val="bg1"/>
                </a:solidFill>
                <a:latin typeface="Arial"/>
                <a:cs typeface="Arial"/>
              </a:rPr>
              <a:t>Direct channel</a:t>
            </a:r>
          </a:p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n-US" sz="500" b="1" dirty="0">
                <a:solidFill>
                  <a:srgbClr val="7F7F7F"/>
                </a:solidFill>
                <a:latin typeface="Arial"/>
                <a:cs typeface="Arial"/>
              </a:rPr>
              <a:t>Indirect channels</a:t>
            </a:r>
            <a:endParaRPr lang="en-US" sz="500" b="1" dirty="0">
              <a:solidFill>
                <a:srgbClr val="FFFFFF"/>
              </a:solidFill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500" dirty="0">
              <a:latin typeface="Arial"/>
              <a:cs typeface="Arial"/>
            </a:endParaRP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4AFF9AC7-DA2A-4CEF-8AF3-0E5FCE796892}"/>
              </a:ext>
            </a:extLst>
          </p:cNvPr>
          <p:cNvSpPr txBox="1"/>
          <p:nvPr/>
        </p:nvSpPr>
        <p:spPr>
          <a:xfrm>
            <a:off x="-396247" y="-33091"/>
            <a:ext cx="2700242" cy="666721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464945" marR="5715" indent="173355" algn="r">
              <a:lnSpc>
                <a:spcPts val="670"/>
              </a:lnSpc>
              <a:spcBef>
                <a:spcPts val="160"/>
              </a:spcBef>
            </a:pPr>
            <a:r>
              <a:rPr lang="en-US" sz="500" b="1" spc="-20" dirty="0">
                <a:solidFill>
                  <a:srgbClr val="7F7F7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Introduction</a:t>
            </a:r>
          </a:p>
          <a:p>
            <a:pPr marL="1464945" marR="5715" indent="173355" algn="r">
              <a:lnSpc>
                <a:spcPts val="670"/>
              </a:lnSpc>
              <a:spcBef>
                <a:spcPts val="160"/>
              </a:spcBef>
            </a:pPr>
            <a:r>
              <a:rPr lang="en-US" sz="5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Transmission Channels</a:t>
            </a:r>
            <a:endParaRPr sz="5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Empirical Strategies</a:t>
            </a: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Survey of the Empirical Literature</a:t>
            </a: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Discussion</a:t>
            </a: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Conclusion</a:t>
            </a:r>
            <a:endParaRPr lang="en-US" sz="500" b="1" spc="-10" dirty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R="6350" algn="r">
              <a:lnSpc>
                <a:spcPts val="695"/>
              </a:lnSpc>
            </a:pPr>
            <a:endParaRPr sz="500" dirty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D633453-4C23-4261-8C8C-9B9CD002805C}"/>
              </a:ext>
            </a:extLst>
          </p:cNvPr>
          <p:cNvGrpSpPr/>
          <p:nvPr/>
        </p:nvGrpSpPr>
        <p:grpSpPr>
          <a:xfrm>
            <a:off x="1242354" y="638390"/>
            <a:ext cx="1905000" cy="508641"/>
            <a:chOff x="339893" y="860593"/>
            <a:chExt cx="1530226" cy="759669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1A883D10-DE91-4E7D-A6FE-EAF1BB1F7DEA}"/>
                </a:ext>
              </a:extLst>
            </p:cNvPr>
            <p:cNvSpPr/>
            <p:nvPr/>
          </p:nvSpPr>
          <p:spPr>
            <a:xfrm>
              <a:off x="350781" y="860593"/>
              <a:ext cx="1519338" cy="759669"/>
            </a:xfrm>
            <a:prstGeom prst="roundRect">
              <a:avLst>
                <a:gd name="adj" fmla="val 10000"/>
              </a:avLst>
            </a:prstGeom>
            <a:ln>
              <a:solidFill>
                <a:srgbClr val="3333B2"/>
              </a:solidFill>
            </a:ln>
          </p:spPr>
          <p:style>
            <a:lnRef idx="3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: Rounded Corners 4">
              <a:extLst>
                <a:ext uri="{FF2B5EF4-FFF2-40B4-BE49-F238E27FC236}">
                  <a16:creationId xmlns:a16="http://schemas.microsoft.com/office/drawing/2014/main" id="{B11CE000-FA0C-432C-A2D2-85F01B363355}"/>
                </a:ext>
              </a:extLst>
            </p:cNvPr>
            <p:cNvSpPr txBox="1"/>
            <p:nvPr/>
          </p:nvSpPr>
          <p:spPr>
            <a:xfrm>
              <a:off x="339893" y="891529"/>
              <a:ext cx="1474838" cy="71516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100" b="1" dirty="0">
                  <a:latin typeface="Tahoma"/>
                  <a:cs typeface="Tahoma"/>
                </a:rPr>
                <a:t>Capital Income and Debt Burden Channel</a:t>
              </a:r>
              <a:endParaRPr lang="en-US" sz="1100" b="1" kern="1200" dirty="0">
                <a:latin typeface="Calisto MT" panose="02040603050505030304" pitchFamily="18" charset="0"/>
                <a:ea typeface="+mn-ea"/>
                <a:cs typeface="+mn-cs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20B6974-A159-4006-8D08-F6C4CA319733}"/>
              </a:ext>
            </a:extLst>
          </p:cNvPr>
          <p:cNvGrpSpPr/>
          <p:nvPr/>
        </p:nvGrpSpPr>
        <p:grpSpPr>
          <a:xfrm>
            <a:off x="144599" y="2154055"/>
            <a:ext cx="1905000" cy="508641"/>
            <a:chOff x="339893" y="860593"/>
            <a:chExt cx="1530226" cy="759669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CC3DE052-D5CE-4646-9EBA-C56F071470CB}"/>
                </a:ext>
              </a:extLst>
            </p:cNvPr>
            <p:cNvSpPr/>
            <p:nvPr/>
          </p:nvSpPr>
          <p:spPr>
            <a:xfrm>
              <a:off x="350781" y="860593"/>
              <a:ext cx="1519338" cy="759669"/>
            </a:xfrm>
            <a:prstGeom prst="roundRect">
              <a:avLst>
                <a:gd name="adj" fmla="val 10000"/>
              </a:avLst>
            </a:prstGeom>
            <a:ln>
              <a:solidFill>
                <a:srgbClr val="3333B2"/>
              </a:solidFill>
            </a:ln>
          </p:spPr>
          <p:style>
            <a:lnRef idx="3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: Rounded Corners 4">
              <a:extLst>
                <a:ext uri="{FF2B5EF4-FFF2-40B4-BE49-F238E27FC236}">
                  <a16:creationId xmlns:a16="http://schemas.microsoft.com/office/drawing/2014/main" id="{ED6C2AFD-79C9-4326-A196-DB042473F9CC}"/>
                </a:ext>
              </a:extLst>
            </p:cNvPr>
            <p:cNvSpPr txBox="1"/>
            <p:nvPr/>
          </p:nvSpPr>
          <p:spPr>
            <a:xfrm>
              <a:off x="339893" y="891529"/>
              <a:ext cx="1474838" cy="71516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900" dirty="0">
                  <a:latin typeface="Tahoma"/>
                  <a:cs typeface="Tahoma"/>
                </a:rPr>
                <a:t>The overall impact depends on </a:t>
              </a:r>
              <a:r>
                <a:rPr lang="en-US" sz="900" b="1" dirty="0">
                  <a:latin typeface="Tahoma"/>
                  <a:cs typeface="Tahoma"/>
                </a:rPr>
                <a:t>individual’s net wealth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A2D832D-A551-4C24-9FEE-2AADF9688701}"/>
              </a:ext>
            </a:extLst>
          </p:cNvPr>
          <p:cNvGrpSpPr/>
          <p:nvPr/>
        </p:nvGrpSpPr>
        <p:grpSpPr>
          <a:xfrm>
            <a:off x="194808" y="1421293"/>
            <a:ext cx="1905000" cy="508641"/>
            <a:chOff x="339893" y="860593"/>
            <a:chExt cx="1530226" cy="759669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23EF4D17-7AFA-4986-9F8C-9A02AC6156A0}"/>
                </a:ext>
              </a:extLst>
            </p:cNvPr>
            <p:cNvSpPr/>
            <p:nvPr/>
          </p:nvSpPr>
          <p:spPr>
            <a:xfrm>
              <a:off x="350781" y="860593"/>
              <a:ext cx="1519338" cy="759669"/>
            </a:xfrm>
            <a:prstGeom prst="roundRect">
              <a:avLst>
                <a:gd name="adj" fmla="val 10000"/>
              </a:avLst>
            </a:prstGeom>
            <a:ln>
              <a:solidFill>
                <a:srgbClr val="3333B2"/>
              </a:solidFill>
            </a:ln>
          </p:spPr>
          <p:style>
            <a:lnRef idx="3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: Rounded Corners 4">
              <a:extLst>
                <a:ext uri="{FF2B5EF4-FFF2-40B4-BE49-F238E27FC236}">
                  <a16:creationId xmlns:a16="http://schemas.microsoft.com/office/drawing/2014/main" id="{25C3D800-DA22-4F7E-A41E-8A0C82ECADAB}"/>
                </a:ext>
              </a:extLst>
            </p:cNvPr>
            <p:cNvSpPr txBox="1"/>
            <p:nvPr/>
          </p:nvSpPr>
          <p:spPr>
            <a:xfrm>
              <a:off x="339893" y="891529"/>
              <a:ext cx="1474838" cy="71516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900" dirty="0">
                  <a:latin typeface="Tahoma"/>
                  <a:cs typeface="Tahoma"/>
                </a:rPr>
                <a:t>A decrease in the interest rate =&gt; a decrease in capital income and debt payments</a:t>
              </a:r>
              <a:endParaRPr lang="en-US" sz="900" kern="1200" dirty="0">
                <a:latin typeface="Calisto MT" panose="02040603050505030304" pitchFamily="18" charset="0"/>
                <a:ea typeface="+mn-ea"/>
                <a:cs typeface="+mn-cs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A242DA4-5099-4E26-8CBB-A4FDAEF547DE}"/>
              </a:ext>
            </a:extLst>
          </p:cNvPr>
          <p:cNvGrpSpPr/>
          <p:nvPr/>
        </p:nvGrpSpPr>
        <p:grpSpPr>
          <a:xfrm>
            <a:off x="2370701" y="1531616"/>
            <a:ext cx="2111049" cy="572873"/>
            <a:chOff x="330410" y="860593"/>
            <a:chExt cx="1539709" cy="759669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CCA93B13-209C-4A7F-A4B6-E17BDBE082BB}"/>
                </a:ext>
              </a:extLst>
            </p:cNvPr>
            <p:cNvSpPr/>
            <p:nvPr/>
          </p:nvSpPr>
          <p:spPr>
            <a:xfrm>
              <a:off x="350781" y="860593"/>
              <a:ext cx="1519338" cy="759669"/>
            </a:xfrm>
            <a:prstGeom prst="roundRect">
              <a:avLst>
                <a:gd name="adj" fmla="val 10000"/>
              </a:avLst>
            </a:prstGeom>
            <a:ln>
              <a:solidFill>
                <a:srgbClr val="3333B2"/>
              </a:solidFill>
            </a:ln>
          </p:spPr>
          <p:style>
            <a:lnRef idx="3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: Rounded Corners 4">
              <a:extLst>
                <a:ext uri="{FF2B5EF4-FFF2-40B4-BE49-F238E27FC236}">
                  <a16:creationId xmlns:a16="http://schemas.microsoft.com/office/drawing/2014/main" id="{33F6E689-BBCB-40EE-BA3E-DE01E8C192CE}"/>
                </a:ext>
              </a:extLst>
            </p:cNvPr>
            <p:cNvSpPr txBox="1"/>
            <p:nvPr/>
          </p:nvSpPr>
          <p:spPr>
            <a:xfrm>
              <a:off x="330410" y="891580"/>
              <a:ext cx="1474838" cy="71516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900" dirty="0">
                  <a:latin typeface="Tahoma"/>
                  <a:cs typeface="Tahoma"/>
                </a:rPr>
                <a:t>A lower-class household with a mortgage-financed house will benefit (lower payments &amp; no financial wealth upon which interest is received)</a:t>
              </a:r>
              <a:endParaRPr lang="en-US" sz="900" b="1" dirty="0">
                <a:latin typeface="Tahoma"/>
                <a:cs typeface="Tahoma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757B5F1-4476-47F9-8A80-A4BBDAB867F7}"/>
              </a:ext>
            </a:extLst>
          </p:cNvPr>
          <p:cNvGrpSpPr/>
          <p:nvPr/>
        </p:nvGrpSpPr>
        <p:grpSpPr>
          <a:xfrm>
            <a:off x="2382033" y="2174768"/>
            <a:ext cx="2115965" cy="539315"/>
            <a:chOff x="350781" y="860593"/>
            <a:chExt cx="1519338" cy="776439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B5042490-6466-472F-8831-53AF089660E5}"/>
                </a:ext>
              </a:extLst>
            </p:cNvPr>
            <p:cNvSpPr/>
            <p:nvPr/>
          </p:nvSpPr>
          <p:spPr>
            <a:xfrm>
              <a:off x="350781" y="860593"/>
              <a:ext cx="1519338" cy="759669"/>
            </a:xfrm>
            <a:prstGeom prst="roundRect">
              <a:avLst>
                <a:gd name="adj" fmla="val 10000"/>
              </a:avLst>
            </a:prstGeom>
            <a:ln>
              <a:solidFill>
                <a:srgbClr val="3333B2"/>
              </a:solidFill>
            </a:ln>
          </p:spPr>
          <p:style>
            <a:lnRef idx="3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Rectangle: Rounded Corners 4">
              <a:extLst>
                <a:ext uri="{FF2B5EF4-FFF2-40B4-BE49-F238E27FC236}">
                  <a16:creationId xmlns:a16="http://schemas.microsoft.com/office/drawing/2014/main" id="{F4BC0099-CD7E-417B-A6BD-A25A38524D3D}"/>
                </a:ext>
              </a:extLst>
            </p:cNvPr>
            <p:cNvSpPr txBox="1"/>
            <p:nvPr/>
          </p:nvSpPr>
          <p:spPr>
            <a:xfrm>
              <a:off x="367587" y="921863"/>
              <a:ext cx="1474838" cy="71516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900" dirty="0">
                  <a:latin typeface="Tahoma"/>
                  <a:cs typeface="Tahoma"/>
                </a:rPr>
                <a:t>A rich individual is probably worse-off since she/he is likely to hold bonds and has little debt.</a:t>
              </a:r>
              <a:endParaRPr lang="en-US" sz="900" b="1" dirty="0">
                <a:latin typeface="Tahoma"/>
                <a:cs typeface="Tahoma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0A9A711-43A5-4958-9200-2901932A807F}"/>
              </a:ext>
            </a:extLst>
          </p:cNvPr>
          <p:cNvGrpSpPr/>
          <p:nvPr/>
        </p:nvGrpSpPr>
        <p:grpSpPr>
          <a:xfrm>
            <a:off x="2369580" y="2793436"/>
            <a:ext cx="2131129" cy="508641"/>
            <a:chOff x="339893" y="860593"/>
            <a:chExt cx="1530226" cy="759669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57D52D2E-1796-489D-8EC1-8D976859F919}"/>
                </a:ext>
              </a:extLst>
            </p:cNvPr>
            <p:cNvSpPr/>
            <p:nvPr/>
          </p:nvSpPr>
          <p:spPr>
            <a:xfrm>
              <a:off x="350781" y="860593"/>
              <a:ext cx="1519338" cy="759669"/>
            </a:xfrm>
            <a:prstGeom prst="roundRect">
              <a:avLst>
                <a:gd name="adj" fmla="val 10000"/>
              </a:avLst>
            </a:prstGeom>
            <a:ln>
              <a:solidFill>
                <a:srgbClr val="3333B2"/>
              </a:solidFill>
            </a:ln>
          </p:spPr>
          <p:style>
            <a:lnRef idx="3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Rectangle: Rounded Corners 4">
              <a:extLst>
                <a:ext uri="{FF2B5EF4-FFF2-40B4-BE49-F238E27FC236}">
                  <a16:creationId xmlns:a16="http://schemas.microsoft.com/office/drawing/2014/main" id="{47C87F8A-3B4A-4CA5-924F-5E4DCDBE12F0}"/>
                </a:ext>
              </a:extLst>
            </p:cNvPr>
            <p:cNvSpPr txBox="1"/>
            <p:nvPr/>
          </p:nvSpPr>
          <p:spPr>
            <a:xfrm>
              <a:off x="339893" y="891529"/>
              <a:ext cx="1474838" cy="71516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900" dirty="0">
                  <a:latin typeface="Tahoma"/>
                  <a:cs typeface="Tahoma"/>
                </a:rPr>
                <a:t>The overall impact of income distribution of an expansionary policy is to reduce income inequality.</a:t>
              </a:r>
              <a:endParaRPr lang="en-US" sz="900" b="1" dirty="0">
                <a:latin typeface="Tahoma"/>
                <a:cs typeface="Tahoma"/>
              </a:endParaRPr>
            </a:p>
          </p:txBody>
        </p:sp>
      </p:grp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62581B2-FFAC-4C21-B53D-01C62E03AFBC}"/>
              </a:ext>
            </a:extLst>
          </p:cNvPr>
          <p:cNvCxnSpPr>
            <a:stCxn id="13" idx="2"/>
          </p:cNvCxnSpPr>
          <p:nvPr/>
        </p:nvCxnSpPr>
        <p:spPr>
          <a:xfrm flipH="1">
            <a:off x="1416273" y="1147031"/>
            <a:ext cx="785359" cy="257274"/>
          </a:xfrm>
          <a:prstGeom prst="straightConnector1">
            <a:avLst/>
          </a:prstGeom>
          <a:ln w="28575">
            <a:solidFill>
              <a:srgbClr val="3333B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1691D52-BF23-4710-BCE3-17868EC90DE9}"/>
              </a:ext>
            </a:extLst>
          </p:cNvPr>
          <p:cNvCxnSpPr>
            <a:cxnSpLocks/>
          </p:cNvCxnSpPr>
          <p:nvPr/>
        </p:nvCxnSpPr>
        <p:spPr>
          <a:xfrm flipH="1">
            <a:off x="1037735" y="1928213"/>
            <a:ext cx="553429" cy="210718"/>
          </a:xfrm>
          <a:prstGeom prst="straightConnector1">
            <a:avLst/>
          </a:prstGeom>
          <a:ln w="28575">
            <a:solidFill>
              <a:srgbClr val="3333B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DA96EC2-5574-47AA-AE94-4A71E5EC3017}"/>
              </a:ext>
            </a:extLst>
          </p:cNvPr>
          <p:cNvCxnSpPr>
            <a:cxnSpLocks/>
          </p:cNvCxnSpPr>
          <p:nvPr/>
        </p:nvCxnSpPr>
        <p:spPr>
          <a:xfrm flipV="1">
            <a:off x="2020129" y="1957733"/>
            <a:ext cx="349451" cy="205406"/>
          </a:xfrm>
          <a:prstGeom prst="straightConnector1">
            <a:avLst/>
          </a:prstGeom>
          <a:ln w="28575">
            <a:solidFill>
              <a:srgbClr val="3333B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F49AD23-5C40-49D8-8621-F7998A46722A}"/>
              </a:ext>
            </a:extLst>
          </p:cNvPr>
          <p:cNvCxnSpPr>
            <a:cxnSpLocks/>
          </p:cNvCxnSpPr>
          <p:nvPr/>
        </p:nvCxnSpPr>
        <p:spPr>
          <a:xfrm>
            <a:off x="2046438" y="2651597"/>
            <a:ext cx="320432" cy="230710"/>
          </a:xfrm>
          <a:prstGeom prst="straightConnector1">
            <a:avLst/>
          </a:prstGeom>
          <a:ln w="28575">
            <a:solidFill>
              <a:srgbClr val="3333B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DDB486B-A0E3-4B75-88A8-57C3C5686C51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2055600" y="2400442"/>
            <a:ext cx="326433" cy="38160"/>
          </a:xfrm>
          <a:prstGeom prst="straightConnector1">
            <a:avLst/>
          </a:prstGeom>
          <a:ln w="28575">
            <a:solidFill>
              <a:srgbClr val="3333B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835348"/>
      </p:ext>
    </p:extLst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303995" y="0"/>
            <a:ext cx="2304415" cy="548005"/>
          </a:xfrm>
          <a:custGeom>
            <a:avLst/>
            <a:gdLst/>
            <a:ahLst/>
            <a:cxnLst/>
            <a:rect l="l" t="t" r="r" b="b"/>
            <a:pathLst>
              <a:path w="2304415" h="548005">
                <a:moveTo>
                  <a:pt x="2303995" y="0"/>
                </a:moveTo>
                <a:lnTo>
                  <a:pt x="0" y="0"/>
                </a:lnTo>
                <a:lnTo>
                  <a:pt x="0" y="548004"/>
                </a:lnTo>
                <a:lnTo>
                  <a:pt x="2303995" y="548004"/>
                </a:lnTo>
                <a:lnTo>
                  <a:pt x="230399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2346171" y="113214"/>
            <a:ext cx="1188454" cy="3584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n-US" sz="5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Net financial income definition</a:t>
            </a:r>
          </a:p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n-US" sz="5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Direct channel</a:t>
            </a:r>
          </a:p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n-US" sz="500" b="1" dirty="0">
                <a:solidFill>
                  <a:schemeClr val="bg1"/>
                </a:solidFill>
                <a:latin typeface="Arial"/>
                <a:cs typeface="Arial"/>
              </a:rPr>
              <a:t>Indirect channels</a:t>
            </a: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500" dirty="0">
              <a:latin typeface="Arial"/>
              <a:cs typeface="Arial"/>
            </a:endParaRP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4AFF9AC7-DA2A-4CEF-8AF3-0E5FCE796892}"/>
              </a:ext>
            </a:extLst>
          </p:cNvPr>
          <p:cNvSpPr txBox="1"/>
          <p:nvPr/>
        </p:nvSpPr>
        <p:spPr>
          <a:xfrm>
            <a:off x="-396247" y="-33091"/>
            <a:ext cx="2700242" cy="666721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464945" marR="5715" indent="173355" algn="r">
              <a:lnSpc>
                <a:spcPts val="670"/>
              </a:lnSpc>
              <a:spcBef>
                <a:spcPts val="160"/>
              </a:spcBef>
            </a:pPr>
            <a:r>
              <a:rPr lang="en-US" sz="500" b="1" spc="-20" dirty="0">
                <a:solidFill>
                  <a:srgbClr val="7F7F7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Introduction</a:t>
            </a:r>
          </a:p>
          <a:p>
            <a:pPr marL="1464945" marR="5715" indent="173355" algn="r">
              <a:lnSpc>
                <a:spcPts val="670"/>
              </a:lnSpc>
              <a:spcBef>
                <a:spcPts val="160"/>
              </a:spcBef>
            </a:pPr>
            <a:r>
              <a:rPr lang="en-US" sz="5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Transmission Channels</a:t>
            </a:r>
            <a:endParaRPr sz="5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Empirical Strategies</a:t>
            </a: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Survey of the Empirical Literature</a:t>
            </a: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Discussion</a:t>
            </a: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Conclusion</a:t>
            </a:r>
            <a:endParaRPr lang="en-US" sz="500" b="1" spc="-10" dirty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R="6350" algn="r">
              <a:lnSpc>
                <a:spcPts val="695"/>
              </a:lnSpc>
            </a:pPr>
            <a:endParaRPr sz="500" dirty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D633453-4C23-4261-8C8C-9B9CD002805C}"/>
              </a:ext>
            </a:extLst>
          </p:cNvPr>
          <p:cNvGrpSpPr/>
          <p:nvPr/>
        </p:nvGrpSpPr>
        <p:grpSpPr>
          <a:xfrm>
            <a:off x="1076177" y="631402"/>
            <a:ext cx="1891445" cy="508641"/>
            <a:chOff x="350781" y="860593"/>
            <a:chExt cx="1519338" cy="759669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1A883D10-DE91-4E7D-A6FE-EAF1BB1F7DEA}"/>
                </a:ext>
              </a:extLst>
            </p:cNvPr>
            <p:cNvSpPr/>
            <p:nvPr/>
          </p:nvSpPr>
          <p:spPr>
            <a:xfrm>
              <a:off x="350781" y="860593"/>
              <a:ext cx="1519338" cy="759669"/>
            </a:xfrm>
            <a:prstGeom prst="roundRect">
              <a:avLst>
                <a:gd name="adj" fmla="val 10000"/>
              </a:avLst>
            </a:prstGeom>
            <a:ln>
              <a:solidFill>
                <a:srgbClr val="3333B2"/>
              </a:solidFill>
            </a:ln>
          </p:spPr>
          <p:style>
            <a:lnRef idx="3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: Rounded Corners 4">
              <a:extLst>
                <a:ext uri="{FF2B5EF4-FFF2-40B4-BE49-F238E27FC236}">
                  <a16:creationId xmlns:a16="http://schemas.microsoft.com/office/drawing/2014/main" id="{B11CE000-FA0C-432C-A2D2-85F01B363355}"/>
                </a:ext>
              </a:extLst>
            </p:cNvPr>
            <p:cNvSpPr txBox="1"/>
            <p:nvPr/>
          </p:nvSpPr>
          <p:spPr>
            <a:xfrm>
              <a:off x="373030" y="882842"/>
              <a:ext cx="1474838" cy="71516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100" b="1" dirty="0">
                  <a:latin typeface="Tahoma"/>
                  <a:cs typeface="Tahoma"/>
                </a:rPr>
                <a:t>Earnings Heterogeneity &amp; Job Creation Channel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20B6974-A159-4006-8D08-F6C4CA319733}"/>
              </a:ext>
            </a:extLst>
          </p:cNvPr>
          <p:cNvGrpSpPr/>
          <p:nvPr/>
        </p:nvGrpSpPr>
        <p:grpSpPr>
          <a:xfrm>
            <a:off x="100727" y="2099184"/>
            <a:ext cx="1993763" cy="660396"/>
            <a:chOff x="350781" y="860593"/>
            <a:chExt cx="1519338" cy="759669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CC3DE052-D5CE-4646-9EBA-C56F071470CB}"/>
                </a:ext>
              </a:extLst>
            </p:cNvPr>
            <p:cNvSpPr/>
            <p:nvPr/>
          </p:nvSpPr>
          <p:spPr>
            <a:xfrm>
              <a:off x="350781" y="860593"/>
              <a:ext cx="1519338" cy="759669"/>
            </a:xfrm>
            <a:prstGeom prst="roundRect">
              <a:avLst>
                <a:gd name="adj" fmla="val 10000"/>
              </a:avLst>
            </a:prstGeom>
            <a:ln>
              <a:solidFill>
                <a:srgbClr val="3333B2"/>
              </a:solidFill>
            </a:ln>
          </p:spPr>
          <p:style>
            <a:lnRef idx="3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: Rounded Corners 4">
              <a:extLst>
                <a:ext uri="{FF2B5EF4-FFF2-40B4-BE49-F238E27FC236}">
                  <a16:creationId xmlns:a16="http://schemas.microsoft.com/office/drawing/2014/main" id="{ED6C2AFD-79C9-4326-A196-DB042473F9CC}"/>
                </a:ext>
              </a:extLst>
            </p:cNvPr>
            <p:cNvSpPr txBox="1"/>
            <p:nvPr/>
          </p:nvSpPr>
          <p:spPr>
            <a:xfrm>
              <a:off x="373031" y="882843"/>
              <a:ext cx="1474838" cy="71516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900" dirty="0">
                  <a:latin typeface="Tahoma"/>
                  <a:cs typeface="Tahoma"/>
                </a:rPr>
                <a:t>The overall effect depends on the </a:t>
              </a:r>
              <a:r>
                <a:rPr lang="en-US" sz="900" b="1" dirty="0">
                  <a:latin typeface="Tahoma"/>
                  <a:cs typeface="Tahoma"/>
                </a:rPr>
                <a:t>response of low-skilled and high-skilled workers to the change in the unemployment rate</a:t>
              </a:r>
              <a:r>
                <a:rPr lang="en-US" sz="900" dirty="0">
                  <a:latin typeface="Tahoma"/>
                  <a:cs typeface="Tahoma"/>
                </a:rPr>
                <a:t>.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A2D832D-A551-4C24-9FEE-2AADF9688701}"/>
              </a:ext>
            </a:extLst>
          </p:cNvPr>
          <p:cNvGrpSpPr/>
          <p:nvPr/>
        </p:nvGrpSpPr>
        <p:grpSpPr>
          <a:xfrm>
            <a:off x="133793" y="1364464"/>
            <a:ext cx="1979577" cy="508640"/>
            <a:chOff x="306963" y="940056"/>
            <a:chExt cx="1519338" cy="759669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23EF4D17-7AFA-4986-9F8C-9A02AC6156A0}"/>
                </a:ext>
              </a:extLst>
            </p:cNvPr>
            <p:cNvSpPr/>
            <p:nvPr/>
          </p:nvSpPr>
          <p:spPr>
            <a:xfrm>
              <a:off x="306963" y="940056"/>
              <a:ext cx="1519338" cy="759669"/>
            </a:xfrm>
            <a:prstGeom prst="roundRect">
              <a:avLst>
                <a:gd name="adj" fmla="val 10000"/>
              </a:avLst>
            </a:prstGeom>
            <a:ln>
              <a:solidFill>
                <a:srgbClr val="3333B2"/>
              </a:solidFill>
            </a:ln>
          </p:spPr>
          <p:style>
            <a:lnRef idx="3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: Rounded Corners 4">
              <a:extLst>
                <a:ext uri="{FF2B5EF4-FFF2-40B4-BE49-F238E27FC236}">
                  <a16:creationId xmlns:a16="http://schemas.microsoft.com/office/drawing/2014/main" id="{25C3D800-DA22-4F7E-A41E-8A0C82ECADAB}"/>
                </a:ext>
              </a:extLst>
            </p:cNvPr>
            <p:cNvSpPr txBox="1"/>
            <p:nvPr/>
          </p:nvSpPr>
          <p:spPr>
            <a:xfrm>
              <a:off x="329212" y="941438"/>
              <a:ext cx="1474838" cy="71516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900" dirty="0">
                  <a:latin typeface="Tahoma"/>
                  <a:cs typeface="Tahoma"/>
                </a:rPr>
                <a:t>An expansionary monetary policy increases output and reduces unemployment.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A242DA4-5099-4E26-8CBB-A4FDAEF547DE}"/>
              </a:ext>
            </a:extLst>
          </p:cNvPr>
          <p:cNvGrpSpPr/>
          <p:nvPr/>
        </p:nvGrpSpPr>
        <p:grpSpPr>
          <a:xfrm>
            <a:off x="2346171" y="1800916"/>
            <a:ext cx="2182357" cy="596536"/>
            <a:chOff x="350781" y="860593"/>
            <a:chExt cx="1519338" cy="759669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CCA93B13-209C-4A7F-A4B6-E17BDBE082BB}"/>
                </a:ext>
              </a:extLst>
            </p:cNvPr>
            <p:cNvSpPr/>
            <p:nvPr/>
          </p:nvSpPr>
          <p:spPr>
            <a:xfrm>
              <a:off x="350781" y="860593"/>
              <a:ext cx="1519338" cy="759669"/>
            </a:xfrm>
            <a:prstGeom prst="roundRect">
              <a:avLst>
                <a:gd name="adj" fmla="val 10000"/>
              </a:avLst>
            </a:prstGeom>
            <a:ln>
              <a:solidFill>
                <a:srgbClr val="3333B2"/>
              </a:solidFill>
            </a:ln>
          </p:spPr>
          <p:style>
            <a:lnRef idx="3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: Rounded Corners 4">
              <a:extLst>
                <a:ext uri="{FF2B5EF4-FFF2-40B4-BE49-F238E27FC236}">
                  <a16:creationId xmlns:a16="http://schemas.microsoft.com/office/drawing/2014/main" id="{33F6E689-BBCB-40EE-BA3E-DE01E8C192CE}"/>
                </a:ext>
              </a:extLst>
            </p:cNvPr>
            <p:cNvSpPr txBox="1"/>
            <p:nvPr/>
          </p:nvSpPr>
          <p:spPr>
            <a:xfrm>
              <a:off x="370604" y="934589"/>
              <a:ext cx="1474838" cy="64493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800" dirty="0">
                  <a:latin typeface="Tahoma"/>
                  <a:cs typeface="Tahoma"/>
                </a:rPr>
                <a:t>In countries where high-skilled workers grow relatively more than low-skilled countries, an expansionary policy increases the inequality</a:t>
              </a:r>
              <a:endParaRPr lang="en-US" sz="800" b="1" dirty="0">
                <a:latin typeface="Tahoma"/>
                <a:cs typeface="Tahoma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757B5F1-4476-47F9-8A80-A4BBDAB867F7}"/>
              </a:ext>
            </a:extLst>
          </p:cNvPr>
          <p:cNvGrpSpPr/>
          <p:nvPr/>
        </p:nvGrpSpPr>
        <p:grpSpPr>
          <a:xfrm>
            <a:off x="2328827" y="2529784"/>
            <a:ext cx="2209852" cy="599127"/>
            <a:chOff x="350781" y="860593"/>
            <a:chExt cx="1519338" cy="759669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B5042490-6466-472F-8831-53AF089660E5}"/>
                </a:ext>
              </a:extLst>
            </p:cNvPr>
            <p:cNvSpPr/>
            <p:nvPr/>
          </p:nvSpPr>
          <p:spPr>
            <a:xfrm>
              <a:off x="350781" y="860593"/>
              <a:ext cx="1519338" cy="759669"/>
            </a:xfrm>
            <a:prstGeom prst="roundRect">
              <a:avLst>
                <a:gd name="adj" fmla="val 10000"/>
              </a:avLst>
            </a:prstGeom>
            <a:ln>
              <a:solidFill>
                <a:srgbClr val="3333B2"/>
              </a:solidFill>
            </a:ln>
          </p:spPr>
          <p:style>
            <a:lnRef idx="3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Rectangle: Rounded Corners 4">
              <a:extLst>
                <a:ext uri="{FF2B5EF4-FFF2-40B4-BE49-F238E27FC236}">
                  <a16:creationId xmlns:a16="http://schemas.microsoft.com/office/drawing/2014/main" id="{F4BC0099-CD7E-417B-A6BD-A25A38524D3D}"/>
                </a:ext>
              </a:extLst>
            </p:cNvPr>
            <p:cNvSpPr txBox="1"/>
            <p:nvPr/>
          </p:nvSpPr>
          <p:spPr>
            <a:xfrm>
              <a:off x="373031" y="898807"/>
              <a:ext cx="1474838" cy="71516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800" dirty="0">
                  <a:latin typeface="Tahoma"/>
                  <a:cs typeface="Tahoma"/>
                </a:rPr>
                <a:t>In countries where low-skilled workers are the first to be unemployed in a slump and the first to be hired on the recovery, an expansionary policy reduces the inequality.</a:t>
              </a:r>
            </a:p>
          </p:txBody>
        </p:sp>
      </p:grp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8CB1655-DBB7-4682-A04A-B2B828F00431}"/>
              </a:ext>
            </a:extLst>
          </p:cNvPr>
          <p:cNvCxnSpPr>
            <a:stCxn id="13" idx="2"/>
          </p:cNvCxnSpPr>
          <p:nvPr/>
        </p:nvCxnSpPr>
        <p:spPr>
          <a:xfrm flipH="1">
            <a:off x="1230542" y="1140043"/>
            <a:ext cx="791358" cy="221523"/>
          </a:xfrm>
          <a:prstGeom prst="straightConnector1">
            <a:avLst/>
          </a:prstGeom>
          <a:ln w="28575">
            <a:solidFill>
              <a:srgbClr val="3333B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2307297-6B5D-4AE5-B79B-2B32E27CD3A6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1097609" y="1891107"/>
            <a:ext cx="528612" cy="208077"/>
          </a:xfrm>
          <a:prstGeom prst="straightConnector1">
            <a:avLst/>
          </a:prstGeom>
          <a:ln w="28575">
            <a:solidFill>
              <a:srgbClr val="3333B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1A2EB7E-0C65-4700-B004-55694D8A84B6}"/>
              </a:ext>
            </a:extLst>
          </p:cNvPr>
          <p:cNvCxnSpPr>
            <a:cxnSpLocks/>
          </p:cNvCxnSpPr>
          <p:nvPr/>
        </p:nvCxnSpPr>
        <p:spPr>
          <a:xfrm>
            <a:off x="2084379" y="2538057"/>
            <a:ext cx="245835" cy="221523"/>
          </a:xfrm>
          <a:prstGeom prst="straightConnector1">
            <a:avLst/>
          </a:prstGeom>
          <a:ln w="28575">
            <a:solidFill>
              <a:srgbClr val="3333B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A43A36B-FEC4-40D9-BD21-26D630871633}"/>
              </a:ext>
            </a:extLst>
          </p:cNvPr>
          <p:cNvCxnSpPr>
            <a:cxnSpLocks/>
          </p:cNvCxnSpPr>
          <p:nvPr/>
        </p:nvCxnSpPr>
        <p:spPr>
          <a:xfrm flipV="1">
            <a:off x="2072522" y="2197553"/>
            <a:ext cx="287885" cy="138873"/>
          </a:xfrm>
          <a:prstGeom prst="straightConnector1">
            <a:avLst/>
          </a:prstGeom>
          <a:ln w="28575">
            <a:solidFill>
              <a:srgbClr val="3333B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8979795"/>
      </p:ext>
    </p:extLst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303995" y="0"/>
            <a:ext cx="2304415" cy="548005"/>
          </a:xfrm>
          <a:custGeom>
            <a:avLst/>
            <a:gdLst/>
            <a:ahLst/>
            <a:cxnLst/>
            <a:rect l="l" t="t" r="r" b="b"/>
            <a:pathLst>
              <a:path w="2304415" h="548005">
                <a:moveTo>
                  <a:pt x="2303995" y="0"/>
                </a:moveTo>
                <a:lnTo>
                  <a:pt x="0" y="0"/>
                </a:lnTo>
                <a:lnTo>
                  <a:pt x="0" y="548004"/>
                </a:lnTo>
                <a:lnTo>
                  <a:pt x="2303995" y="548004"/>
                </a:lnTo>
                <a:lnTo>
                  <a:pt x="230399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2337667" y="117512"/>
            <a:ext cx="1188454" cy="3584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n-US" sz="50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Net financial income definition</a:t>
            </a:r>
          </a:p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n-US" sz="50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Direct channel</a:t>
            </a:r>
          </a:p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n-US" sz="5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Indirect channels</a:t>
            </a: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4AFF9AC7-DA2A-4CEF-8AF3-0E5FCE796892}"/>
              </a:ext>
            </a:extLst>
          </p:cNvPr>
          <p:cNvSpPr txBox="1"/>
          <p:nvPr/>
        </p:nvSpPr>
        <p:spPr>
          <a:xfrm>
            <a:off x="-396247" y="-33091"/>
            <a:ext cx="2700242" cy="666721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464945" marR="5715" indent="173355" algn="r">
              <a:lnSpc>
                <a:spcPts val="670"/>
              </a:lnSpc>
              <a:spcBef>
                <a:spcPts val="160"/>
              </a:spcBef>
            </a:pPr>
            <a:r>
              <a:rPr lang="en-US" sz="500" b="1" spc="-20" dirty="0">
                <a:solidFill>
                  <a:srgbClr val="7F7F7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Introduction</a:t>
            </a:r>
          </a:p>
          <a:p>
            <a:pPr marL="1464945" marR="5715" indent="173355" algn="r">
              <a:lnSpc>
                <a:spcPts val="670"/>
              </a:lnSpc>
              <a:spcBef>
                <a:spcPts val="160"/>
              </a:spcBef>
            </a:pPr>
            <a:r>
              <a:rPr lang="en-US" sz="5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Transmission Channels</a:t>
            </a:r>
            <a:endParaRPr sz="5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Empirical Strategies</a:t>
            </a: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Survey of the a Literature</a:t>
            </a: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Discussion</a:t>
            </a: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Conclusion</a:t>
            </a:r>
            <a:endParaRPr lang="en-US" sz="500" b="1" spc="-10" dirty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R="6350" algn="r">
              <a:lnSpc>
                <a:spcPts val="695"/>
              </a:lnSpc>
            </a:pPr>
            <a:endParaRPr sz="500" dirty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D633453-4C23-4261-8C8C-9B9CD002805C}"/>
              </a:ext>
            </a:extLst>
          </p:cNvPr>
          <p:cNvGrpSpPr/>
          <p:nvPr/>
        </p:nvGrpSpPr>
        <p:grpSpPr>
          <a:xfrm>
            <a:off x="1054721" y="616828"/>
            <a:ext cx="1752600" cy="436472"/>
            <a:chOff x="339893" y="860593"/>
            <a:chExt cx="1530226" cy="759669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1A883D10-DE91-4E7D-A6FE-EAF1BB1F7DEA}"/>
                </a:ext>
              </a:extLst>
            </p:cNvPr>
            <p:cNvSpPr/>
            <p:nvPr/>
          </p:nvSpPr>
          <p:spPr>
            <a:xfrm>
              <a:off x="350781" y="860593"/>
              <a:ext cx="1519338" cy="759669"/>
            </a:xfrm>
            <a:prstGeom prst="roundRect">
              <a:avLst>
                <a:gd name="adj" fmla="val 10000"/>
              </a:avLst>
            </a:prstGeom>
            <a:ln>
              <a:solidFill>
                <a:srgbClr val="3333B2"/>
              </a:solidFill>
            </a:ln>
          </p:spPr>
          <p:style>
            <a:lnRef idx="3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: Rounded Corners 4">
              <a:extLst>
                <a:ext uri="{FF2B5EF4-FFF2-40B4-BE49-F238E27FC236}">
                  <a16:creationId xmlns:a16="http://schemas.microsoft.com/office/drawing/2014/main" id="{B11CE000-FA0C-432C-A2D2-85F01B363355}"/>
                </a:ext>
              </a:extLst>
            </p:cNvPr>
            <p:cNvSpPr txBox="1"/>
            <p:nvPr/>
          </p:nvSpPr>
          <p:spPr>
            <a:xfrm>
              <a:off x="339893" y="891529"/>
              <a:ext cx="1474838" cy="71516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100" b="1" dirty="0">
                  <a:latin typeface="Tahoma"/>
                  <a:cs typeface="Tahoma"/>
                </a:rPr>
                <a:t>Portfolio Channel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20B6974-A159-4006-8D08-F6C4CA319733}"/>
              </a:ext>
            </a:extLst>
          </p:cNvPr>
          <p:cNvGrpSpPr/>
          <p:nvPr/>
        </p:nvGrpSpPr>
        <p:grpSpPr>
          <a:xfrm>
            <a:off x="188031" y="2049759"/>
            <a:ext cx="1948432" cy="620811"/>
            <a:chOff x="339893" y="860593"/>
            <a:chExt cx="1530226" cy="759669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CC3DE052-D5CE-4646-9EBA-C56F071470CB}"/>
                </a:ext>
              </a:extLst>
            </p:cNvPr>
            <p:cNvSpPr/>
            <p:nvPr/>
          </p:nvSpPr>
          <p:spPr>
            <a:xfrm>
              <a:off x="350781" y="860593"/>
              <a:ext cx="1519338" cy="759669"/>
            </a:xfrm>
            <a:prstGeom prst="roundRect">
              <a:avLst>
                <a:gd name="adj" fmla="val 10000"/>
              </a:avLst>
            </a:prstGeom>
            <a:ln>
              <a:solidFill>
                <a:srgbClr val="3333B2"/>
              </a:solidFill>
            </a:ln>
          </p:spPr>
          <p:style>
            <a:lnRef idx="3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: Rounded Corners 4">
              <a:extLst>
                <a:ext uri="{FF2B5EF4-FFF2-40B4-BE49-F238E27FC236}">
                  <a16:creationId xmlns:a16="http://schemas.microsoft.com/office/drawing/2014/main" id="{ED6C2AFD-79C9-4326-A196-DB042473F9CC}"/>
                </a:ext>
              </a:extLst>
            </p:cNvPr>
            <p:cNvSpPr txBox="1"/>
            <p:nvPr/>
          </p:nvSpPr>
          <p:spPr>
            <a:xfrm>
              <a:off x="339893" y="891529"/>
              <a:ext cx="1474838" cy="71516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800" dirty="0">
                  <a:latin typeface="Tahoma"/>
                  <a:cs typeface="Tahoma"/>
                </a:rPr>
                <a:t>The overall effect depends on the </a:t>
              </a:r>
              <a:r>
                <a:rPr lang="en-US" sz="800" b="1" dirty="0">
                  <a:latin typeface="Tahoma"/>
                  <a:cs typeface="Tahoma"/>
                </a:rPr>
                <a:t>distribution of assets among income percentiles</a:t>
              </a:r>
              <a:r>
                <a:rPr lang="en-US" sz="800" dirty="0">
                  <a:latin typeface="Tahoma"/>
                  <a:cs typeface="Tahoma"/>
                </a:rPr>
                <a:t> and on the </a:t>
              </a:r>
              <a:r>
                <a:rPr lang="en-US" sz="800" b="1" dirty="0">
                  <a:latin typeface="Tahoma"/>
                  <a:cs typeface="Tahoma"/>
                </a:rPr>
                <a:t>degree by which each asset class responds to changes in interest rates.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A2D832D-A551-4C24-9FEE-2AADF9688701}"/>
              </a:ext>
            </a:extLst>
          </p:cNvPr>
          <p:cNvGrpSpPr/>
          <p:nvPr/>
        </p:nvGrpSpPr>
        <p:grpSpPr>
          <a:xfrm>
            <a:off x="201586" y="1276044"/>
            <a:ext cx="1891445" cy="521176"/>
            <a:chOff x="350781" y="860593"/>
            <a:chExt cx="1519338" cy="778390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23EF4D17-7AFA-4986-9F8C-9A02AC6156A0}"/>
                </a:ext>
              </a:extLst>
            </p:cNvPr>
            <p:cNvSpPr/>
            <p:nvPr/>
          </p:nvSpPr>
          <p:spPr>
            <a:xfrm>
              <a:off x="350781" y="860593"/>
              <a:ext cx="1519338" cy="759669"/>
            </a:xfrm>
            <a:prstGeom prst="roundRect">
              <a:avLst>
                <a:gd name="adj" fmla="val 10000"/>
              </a:avLst>
            </a:prstGeom>
            <a:ln>
              <a:solidFill>
                <a:srgbClr val="3333B2"/>
              </a:solidFill>
            </a:ln>
          </p:spPr>
          <p:style>
            <a:lnRef idx="3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: Rounded Corners 4">
              <a:extLst>
                <a:ext uri="{FF2B5EF4-FFF2-40B4-BE49-F238E27FC236}">
                  <a16:creationId xmlns:a16="http://schemas.microsoft.com/office/drawing/2014/main" id="{25C3D800-DA22-4F7E-A41E-8A0C82ECADAB}"/>
                </a:ext>
              </a:extLst>
            </p:cNvPr>
            <p:cNvSpPr txBox="1"/>
            <p:nvPr/>
          </p:nvSpPr>
          <p:spPr>
            <a:xfrm>
              <a:off x="356705" y="923814"/>
              <a:ext cx="1474838" cy="71516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900" dirty="0">
                  <a:latin typeface="Tahoma"/>
                  <a:cs typeface="Tahoma"/>
                </a:rPr>
                <a:t>A monetary policy changes asset prices, leading to capital gains/losses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A242DA4-5099-4E26-8CBB-A4FDAEF547DE}"/>
              </a:ext>
            </a:extLst>
          </p:cNvPr>
          <p:cNvGrpSpPr/>
          <p:nvPr/>
        </p:nvGrpSpPr>
        <p:grpSpPr>
          <a:xfrm>
            <a:off x="2426147" y="1846120"/>
            <a:ext cx="2060109" cy="457840"/>
            <a:chOff x="339893" y="860593"/>
            <a:chExt cx="1530226" cy="759669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CCA93B13-209C-4A7F-A4B6-E17BDBE082BB}"/>
                </a:ext>
              </a:extLst>
            </p:cNvPr>
            <p:cNvSpPr/>
            <p:nvPr/>
          </p:nvSpPr>
          <p:spPr>
            <a:xfrm>
              <a:off x="350781" y="860593"/>
              <a:ext cx="1519338" cy="759669"/>
            </a:xfrm>
            <a:prstGeom prst="roundRect">
              <a:avLst>
                <a:gd name="adj" fmla="val 10000"/>
              </a:avLst>
            </a:prstGeom>
            <a:ln>
              <a:solidFill>
                <a:srgbClr val="3333B2"/>
              </a:solidFill>
            </a:ln>
          </p:spPr>
          <p:style>
            <a:lnRef idx="3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: Rounded Corners 4">
              <a:extLst>
                <a:ext uri="{FF2B5EF4-FFF2-40B4-BE49-F238E27FC236}">
                  <a16:creationId xmlns:a16="http://schemas.microsoft.com/office/drawing/2014/main" id="{33F6E689-BBCB-40EE-BA3E-DE01E8C192CE}"/>
                </a:ext>
              </a:extLst>
            </p:cNvPr>
            <p:cNvSpPr txBox="1"/>
            <p:nvPr/>
          </p:nvSpPr>
          <p:spPr>
            <a:xfrm>
              <a:off x="339893" y="891530"/>
              <a:ext cx="1474838" cy="71517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800" dirty="0">
                  <a:latin typeface="Tahoma"/>
                  <a:cs typeface="Tahoma"/>
                </a:rPr>
                <a:t>If equity prices rise more than housing prices after a given interest rate cut,  inequality increases.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757B5F1-4476-47F9-8A80-A4BBDAB867F7}"/>
              </a:ext>
            </a:extLst>
          </p:cNvPr>
          <p:cNvGrpSpPr/>
          <p:nvPr/>
        </p:nvGrpSpPr>
        <p:grpSpPr>
          <a:xfrm>
            <a:off x="2440011" y="2416249"/>
            <a:ext cx="2046245" cy="508642"/>
            <a:chOff x="350781" y="860593"/>
            <a:chExt cx="1519338" cy="776439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B5042490-6466-472F-8831-53AF089660E5}"/>
                </a:ext>
              </a:extLst>
            </p:cNvPr>
            <p:cNvSpPr/>
            <p:nvPr/>
          </p:nvSpPr>
          <p:spPr>
            <a:xfrm>
              <a:off x="350781" y="860593"/>
              <a:ext cx="1519338" cy="759669"/>
            </a:xfrm>
            <a:prstGeom prst="roundRect">
              <a:avLst>
                <a:gd name="adj" fmla="val 10000"/>
              </a:avLst>
            </a:prstGeom>
            <a:ln>
              <a:solidFill>
                <a:srgbClr val="3333B2"/>
              </a:solidFill>
            </a:ln>
          </p:spPr>
          <p:style>
            <a:lnRef idx="3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Rectangle: Rounded Corners 4">
              <a:extLst>
                <a:ext uri="{FF2B5EF4-FFF2-40B4-BE49-F238E27FC236}">
                  <a16:creationId xmlns:a16="http://schemas.microsoft.com/office/drawing/2014/main" id="{F4BC0099-CD7E-417B-A6BD-A25A38524D3D}"/>
                </a:ext>
              </a:extLst>
            </p:cNvPr>
            <p:cNvSpPr txBox="1"/>
            <p:nvPr/>
          </p:nvSpPr>
          <p:spPr>
            <a:xfrm>
              <a:off x="367587" y="921863"/>
              <a:ext cx="1474838" cy="71516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800" dirty="0">
                  <a:latin typeface="Tahoma"/>
                  <a:cs typeface="Tahoma"/>
                </a:rPr>
                <a:t>If equities are more unevenly distributed amongst households, an expansionary monetary policy would increase inequality.</a:t>
              </a:r>
            </a:p>
          </p:txBody>
        </p:sp>
      </p:grp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9AC5B5E-68CF-49CC-A221-30B71D87CDFC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1361050" y="1053300"/>
            <a:ext cx="576206" cy="204582"/>
          </a:xfrm>
          <a:prstGeom prst="straightConnector1">
            <a:avLst/>
          </a:prstGeom>
          <a:ln w="28575">
            <a:solidFill>
              <a:srgbClr val="3333B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68EAE3E-A821-4C2B-9D05-EE82491115EA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1169179" y="1803239"/>
            <a:ext cx="479974" cy="246520"/>
          </a:xfrm>
          <a:prstGeom prst="straightConnector1">
            <a:avLst/>
          </a:prstGeom>
          <a:ln w="28575">
            <a:solidFill>
              <a:srgbClr val="3333B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212FC4C-5C01-4C20-8F86-A0C16072B722}"/>
              </a:ext>
            </a:extLst>
          </p:cNvPr>
          <p:cNvCxnSpPr>
            <a:cxnSpLocks/>
          </p:cNvCxnSpPr>
          <p:nvPr/>
        </p:nvCxnSpPr>
        <p:spPr>
          <a:xfrm flipV="1">
            <a:off x="2158821" y="2106305"/>
            <a:ext cx="281190" cy="168606"/>
          </a:xfrm>
          <a:prstGeom prst="straightConnector1">
            <a:avLst/>
          </a:prstGeom>
          <a:ln w="28575">
            <a:solidFill>
              <a:srgbClr val="3333B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D105C12-397E-40A5-B6E8-2A460B5A5992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2139591" y="2469116"/>
            <a:ext cx="300420" cy="195961"/>
          </a:xfrm>
          <a:prstGeom prst="straightConnector1">
            <a:avLst/>
          </a:prstGeom>
          <a:ln w="28575">
            <a:solidFill>
              <a:srgbClr val="3333B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3406762"/>
      </p:ext>
    </p:extLst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303995" y="0"/>
            <a:ext cx="2304415" cy="548005"/>
          </a:xfrm>
          <a:custGeom>
            <a:avLst/>
            <a:gdLst/>
            <a:ahLst/>
            <a:cxnLst/>
            <a:rect l="l" t="t" r="r" b="b"/>
            <a:pathLst>
              <a:path w="2304415" h="548005">
                <a:moveTo>
                  <a:pt x="2303995" y="0"/>
                </a:moveTo>
                <a:lnTo>
                  <a:pt x="0" y="0"/>
                </a:lnTo>
                <a:lnTo>
                  <a:pt x="0" y="548004"/>
                </a:lnTo>
                <a:lnTo>
                  <a:pt x="2303995" y="548004"/>
                </a:lnTo>
                <a:lnTo>
                  <a:pt x="230399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247650" y="958031"/>
            <a:ext cx="4145545" cy="1615186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595"/>
              </a:spcBef>
              <a:buClr>
                <a:srgbClr val="3333B2"/>
              </a:buClr>
              <a:buSzPct val="80000"/>
              <a:tabLst>
                <a:tab pos="186690" algn="l"/>
              </a:tabLst>
            </a:pPr>
            <a:endParaRPr lang="en-US" sz="1000" b="1" dirty="0">
              <a:latin typeface="Tahoma"/>
              <a:cs typeface="Tahoma"/>
            </a:endParaRPr>
          </a:p>
          <a:p>
            <a:pPr marL="37465">
              <a:lnSpc>
                <a:spcPct val="100000"/>
              </a:lnSpc>
              <a:spcBef>
                <a:spcPts val="595"/>
              </a:spcBef>
              <a:buClr>
                <a:srgbClr val="3333B2"/>
              </a:buClr>
              <a:buSzPct val="80000"/>
              <a:tabLst>
                <a:tab pos="186690" algn="l"/>
              </a:tabLst>
            </a:pPr>
            <a:endParaRPr lang="en-US" sz="1000" b="1" dirty="0">
              <a:latin typeface="Tahoma"/>
              <a:cs typeface="Tahoma"/>
            </a:endParaRPr>
          </a:p>
          <a:p>
            <a:pPr marL="37465">
              <a:lnSpc>
                <a:spcPct val="100000"/>
              </a:lnSpc>
              <a:spcBef>
                <a:spcPts val="595"/>
              </a:spcBef>
              <a:buClr>
                <a:srgbClr val="3333B2"/>
              </a:buClr>
              <a:buSzPct val="80000"/>
              <a:tabLst>
                <a:tab pos="186690" algn="l"/>
              </a:tabLst>
            </a:pPr>
            <a:endParaRPr lang="en-US" sz="1000" b="1" dirty="0">
              <a:latin typeface="Tahoma"/>
              <a:cs typeface="Tahoma"/>
            </a:endParaRPr>
          </a:p>
          <a:p>
            <a:pPr marL="37465">
              <a:lnSpc>
                <a:spcPct val="100000"/>
              </a:lnSpc>
              <a:spcBef>
                <a:spcPts val="595"/>
              </a:spcBef>
              <a:buClr>
                <a:srgbClr val="3333B2"/>
              </a:buClr>
              <a:buSzPct val="80000"/>
              <a:tabLst>
                <a:tab pos="186690" algn="l"/>
              </a:tabLst>
            </a:pPr>
            <a:endParaRPr lang="en-US" sz="1000" b="1" dirty="0">
              <a:latin typeface="Tahoma"/>
              <a:cs typeface="Tahoma"/>
            </a:endParaRPr>
          </a:p>
          <a:p>
            <a:pPr marL="37465">
              <a:lnSpc>
                <a:spcPct val="100000"/>
              </a:lnSpc>
              <a:spcBef>
                <a:spcPts val="595"/>
              </a:spcBef>
              <a:buClr>
                <a:srgbClr val="3333B2"/>
              </a:buClr>
              <a:buSzPct val="80000"/>
              <a:tabLst>
                <a:tab pos="186690" algn="l"/>
              </a:tabLst>
            </a:pPr>
            <a:endParaRPr lang="en-US" sz="1000" b="1" dirty="0">
              <a:latin typeface="Tahoma"/>
              <a:cs typeface="Tahoma"/>
            </a:endParaRPr>
          </a:p>
          <a:p>
            <a:pPr marL="37465">
              <a:lnSpc>
                <a:spcPct val="100000"/>
              </a:lnSpc>
              <a:spcBef>
                <a:spcPts val="595"/>
              </a:spcBef>
              <a:buClr>
                <a:srgbClr val="3333B2"/>
              </a:buClr>
              <a:buSzPct val="80000"/>
              <a:tabLst>
                <a:tab pos="186690" algn="l"/>
              </a:tabLst>
            </a:pPr>
            <a:endParaRPr lang="en-US" sz="1000" b="1" dirty="0">
              <a:latin typeface="Tahoma"/>
              <a:cs typeface="Tahoma"/>
            </a:endParaRPr>
          </a:p>
          <a:p>
            <a:pPr marL="37465">
              <a:lnSpc>
                <a:spcPct val="100000"/>
              </a:lnSpc>
              <a:spcBef>
                <a:spcPts val="595"/>
              </a:spcBef>
              <a:buClr>
                <a:srgbClr val="3333B2"/>
              </a:buClr>
              <a:buSzPct val="80000"/>
              <a:tabLst>
                <a:tab pos="186690" algn="l"/>
              </a:tabLst>
            </a:pPr>
            <a:endParaRPr sz="1000" b="1" dirty="0">
              <a:latin typeface="Tahoma"/>
              <a:cs typeface="Tahom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2214B93-D295-4C08-823D-17E6D28468E2}"/>
              </a:ext>
            </a:extLst>
          </p:cNvPr>
          <p:cNvSpPr txBox="1"/>
          <p:nvPr/>
        </p:nvSpPr>
        <p:spPr>
          <a:xfrm>
            <a:off x="95250" y="1045062"/>
            <a:ext cx="41455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l">
              <a:buClr>
                <a:schemeClr val="accent1"/>
              </a:buClr>
              <a:buAutoNum type="arabicPeriod"/>
            </a:pPr>
            <a:endParaRPr lang="en-US" sz="1200" dirty="0"/>
          </a:p>
          <a:p>
            <a:pPr algn="l">
              <a:buClr>
                <a:schemeClr val="accent1"/>
              </a:buClr>
            </a:pPr>
            <a:endParaRPr lang="en-US" sz="1200" dirty="0"/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F9B9DE57-E7C5-41D8-92B1-F9C2A6858D26}"/>
              </a:ext>
            </a:extLst>
          </p:cNvPr>
          <p:cNvSpPr txBox="1"/>
          <p:nvPr/>
        </p:nvSpPr>
        <p:spPr>
          <a:xfrm>
            <a:off x="-396247" y="-33091"/>
            <a:ext cx="2700242" cy="666721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464945" marR="5715" indent="173355" algn="r">
              <a:lnSpc>
                <a:spcPts val="670"/>
              </a:lnSpc>
              <a:spcBef>
                <a:spcPts val="160"/>
              </a:spcBef>
            </a:pPr>
            <a:r>
              <a:rPr lang="en-US" sz="500" b="1" spc="-20" dirty="0">
                <a:solidFill>
                  <a:srgbClr val="7F7F7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Introduction</a:t>
            </a:r>
          </a:p>
          <a:p>
            <a:pPr marL="1464945" marR="5715" indent="173355" algn="r">
              <a:lnSpc>
                <a:spcPts val="670"/>
              </a:lnSpc>
              <a:spcBef>
                <a:spcPts val="160"/>
              </a:spcBef>
            </a:pPr>
            <a:r>
              <a:rPr lang="en-US" sz="500" b="1" dirty="0">
                <a:solidFill>
                  <a:srgbClr val="7F7F7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Transmission Channels</a:t>
            </a:r>
            <a:endParaRPr sz="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Empirical Strategies</a:t>
            </a: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Survey of the Empirical Literature</a:t>
            </a: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Discussion</a:t>
            </a: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Conclusion</a:t>
            </a:r>
            <a:endParaRPr lang="en-US" sz="500" b="1" spc="-10" dirty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R="6350" algn="r">
              <a:lnSpc>
                <a:spcPts val="695"/>
              </a:lnSpc>
            </a:pPr>
            <a:endParaRPr sz="500" dirty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object 4">
            <a:extLst>
              <a:ext uri="{FF2B5EF4-FFF2-40B4-BE49-F238E27FC236}">
                <a16:creationId xmlns:a16="http://schemas.microsoft.com/office/drawing/2014/main" id="{3A267835-B0FB-4EDC-95C7-FF0D7B53FA91}"/>
              </a:ext>
            </a:extLst>
          </p:cNvPr>
          <p:cNvSpPr txBox="1"/>
          <p:nvPr/>
        </p:nvSpPr>
        <p:spPr>
          <a:xfrm>
            <a:off x="2360505" y="160512"/>
            <a:ext cx="1721854" cy="448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n-US" sz="50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Measures of the variables</a:t>
            </a:r>
          </a:p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n-US" sz="50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Type of Monetary Policy Change</a:t>
            </a:r>
          </a:p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n-US" sz="50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Empirical Strategies and Econometric Models</a:t>
            </a: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lang="en-US" sz="500" dirty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500" dirty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object 5">
            <a:extLst>
              <a:ext uri="{FF2B5EF4-FFF2-40B4-BE49-F238E27FC236}">
                <a16:creationId xmlns:a16="http://schemas.microsoft.com/office/drawing/2014/main" id="{51C9411E-4AFB-4BA6-B45C-3048C01B6A8B}"/>
              </a:ext>
            </a:extLst>
          </p:cNvPr>
          <p:cNvSpPr txBox="1"/>
          <p:nvPr/>
        </p:nvSpPr>
        <p:spPr>
          <a:xfrm>
            <a:off x="0" y="548005"/>
            <a:ext cx="4608195" cy="293029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lang="en-US" sz="1400" dirty="0">
                <a:solidFill>
                  <a:srgbClr val="FFFFFF"/>
                </a:solidFill>
                <a:latin typeface="Tahoma"/>
                <a:cs typeface="Tahoma"/>
              </a:rPr>
              <a:t>Empirical Strategies: Key Points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482E8A5-EBD2-4ECB-A4B8-11D59ADA995B}"/>
              </a:ext>
            </a:extLst>
          </p:cNvPr>
          <p:cNvGrpSpPr/>
          <p:nvPr/>
        </p:nvGrpSpPr>
        <p:grpSpPr>
          <a:xfrm>
            <a:off x="450991" y="1142158"/>
            <a:ext cx="1530226" cy="759669"/>
            <a:chOff x="339893" y="860593"/>
            <a:chExt cx="1530226" cy="759669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3B1090BD-BF42-4330-B90F-75A73D57C7FD}"/>
                </a:ext>
              </a:extLst>
            </p:cNvPr>
            <p:cNvSpPr/>
            <p:nvPr/>
          </p:nvSpPr>
          <p:spPr>
            <a:xfrm>
              <a:off x="350781" y="860593"/>
              <a:ext cx="1519338" cy="759669"/>
            </a:xfrm>
            <a:prstGeom prst="roundRect">
              <a:avLst>
                <a:gd name="adj" fmla="val 10000"/>
              </a:avLst>
            </a:prstGeom>
            <a:ln>
              <a:solidFill>
                <a:srgbClr val="3333B2"/>
              </a:solidFill>
            </a:ln>
          </p:spPr>
          <p:style>
            <a:lnRef idx="3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: Rounded Corners 4">
              <a:extLst>
                <a:ext uri="{FF2B5EF4-FFF2-40B4-BE49-F238E27FC236}">
                  <a16:creationId xmlns:a16="http://schemas.microsoft.com/office/drawing/2014/main" id="{BE5C7B43-DC15-4BE9-B481-4B1617ED2574}"/>
                </a:ext>
              </a:extLst>
            </p:cNvPr>
            <p:cNvSpPr txBox="1"/>
            <p:nvPr/>
          </p:nvSpPr>
          <p:spPr>
            <a:xfrm>
              <a:off x="339893" y="891529"/>
              <a:ext cx="1474838" cy="71516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100" kern="1200" dirty="0">
                  <a:latin typeface="Calisto MT" panose="02040603050505030304" pitchFamily="18" charset="0"/>
                  <a:ea typeface="+mn-ea"/>
                  <a:cs typeface="+mn-cs"/>
                </a:rPr>
                <a:t>1. </a:t>
              </a:r>
              <a:r>
                <a:rPr lang="en-US" sz="1100" kern="1200" dirty="0">
                  <a:latin typeface="Calisto MT" panose="02040603050505030304" pitchFamily="18" charset="0"/>
                </a:rPr>
                <a:t>decide how to measure the monetary policy change and income inequality</a:t>
              </a:r>
              <a:endParaRPr lang="en-US" sz="1100" kern="1200" dirty="0">
                <a:latin typeface="Calisto MT" panose="02040603050505030304" pitchFamily="18" charset="0"/>
                <a:ea typeface="+mn-ea"/>
                <a:cs typeface="+mn-cs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306497C-30BD-4CB9-A68D-187611D4299B}"/>
              </a:ext>
            </a:extLst>
          </p:cNvPr>
          <p:cNvGrpSpPr/>
          <p:nvPr/>
        </p:nvGrpSpPr>
        <p:grpSpPr>
          <a:xfrm>
            <a:off x="1560753" y="2263775"/>
            <a:ext cx="1519338" cy="759669"/>
            <a:chOff x="220631" y="853779"/>
            <a:chExt cx="1519338" cy="759669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33D11169-5DAD-4ECF-9C63-84882D5A5423}"/>
                </a:ext>
              </a:extLst>
            </p:cNvPr>
            <p:cNvSpPr/>
            <p:nvPr/>
          </p:nvSpPr>
          <p:spPr>
            <a:xfrm>
              <a:off x="220631" y="853779"/>
              <a:ext cx="1519338" cy="759669"/>
            </a:xfrm>
            <a:prstGeom prst="roundRect">
              <a:avLst>
                <a:gd name="adj" fmla="val 10000"/>
              </a:avLst>
            </a:prstGeom>
            <a:ln>
              <a:solidFill>
                <a:srgbClr val="3333B2"/>
              </a:solidFill>
            </a:ln>
          </p:spPr>
          <p:style>
            <a:lnRef idx="3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: Rounded Corners 4">
              <a:extLst>
                <a:ext uri="{FF2B5EF4-FFF2-40B4-BE49-F238E27FC236}">
                  <a16:creationId xmlns:a16="http://schemas.microsoft.com/office/drawing/2014/main" id="{94D75BFF-92AB-4EF8-96A7-4A8DC563EFD2}"/>
                </a:ext>
              </a:extLst>
            </p:cNvPr>
            <p:cNvSpPr txBox="1"/>
            <p:nvPr/>
          </p:nvSpPr>
          <p:spPr>
            <a:xfrm>
              <a:off x="242881" y="876029"/>
              <a:ext cx="1474838" cy="71516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100" kern="1200" dirty="0">
                  <a:latin typeface="Calisto MT" panose="02040603050505030304" pitchFamily="18" charset="0"/>
                </a:rPr>
                <a:t>3. decide on the empirical strategy and econometric techniques to be used </a:t>
              </a:r>
              <a:endParaRPr lang="en-US" sz="1100" kern="1200" dirty="0">
                <a:latin typeface="Calisto MT" panose="02040603050505030304" pitchFamily="18" charset="0"/>
                <a:ea typeface="+mn-ea"/>
                <a:cs typeface="+mn-cs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C8A08EA-50E2-4E54-ABC1-E4BBD7A1B001}"/>
              </a:ext>
            </a:extLst>
          </p:cNvPr>
          <p:cNvGrpSpPr/>
          <p:nvPr/>
        </p:nvGrpSpPr>
        <p:grpSpPr>
          <a:xfrm>
            <a:off x="2563021" y="1135671"/>
            <a:ext cx="1519338" cy="759669"/>
            <a:chOff x="220631" y="853779"/>
            <a:chExt cx="1519338" cy="759669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54ECE932-0D2B-4C31-9C9F-08EC35835235}"/>
                </a:ext>
              </a:extLst>
            </p:cNvPr>
            <p:cNvSpPr/>
            <p:nvPr/>
          </p:nvSpPr>
          <p:spPr>
            <a:xfrm>
              <a:off x="220631" y="853779"/>
              <a:ext cx="1519338" cy="759669"/>
            </a:xfrm>
            <a:prstGeom prst="roundRect">
              <a:avLst>
                <a:gd name="adj" fmla="val 10000"/>
              </a:avLst>
            </a:prstGeom>
            <a:ln>
              <a:solidFill>
                <a:srgbClr val="3333B2"/>
              </a:solidFill>
            </a:ln>
          </p:spPr>
          <p:style>
            <a:lnRef idx="3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: Rounded Corners 4">
              <a:extLst>
                <a:ext uri="{FF2B5EF4-FFF2-40B4-BE49-F238E27FC236}">
                  <a16:creationId xmlns:a16="http://schemas.microsoft.com/office/drawing/2014/main" id="{8673D65B-5C81-4ABB-8832-022C06A5B5B5}"/>
                </a:ext>
              </a:extLst>
            </p:cNvPr>
            <p:cNvSpPr txBox="1"/>
            <p:nvPr/>
          </p:nvSpPr>
          <p:spPr>
            <a:xfrm>
              <a:off x="242881" y="876029"/>
              <a:ext cx="1474838" cy="71516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100" kern="1200" dirty="0">
                  <a:latin typeface="Calisto MT" panose="02040603050505030304" pitchFamily="18" charset="0"/>
                  <a:ea typeface="+mn-ea"/>
                  <a:cs typeface="+mn-cs"/>
                </a:rPr>
                <a:t>2.</a:t>
              </a:r>
              <a:r>
                <a:rPr lang="en-US" sz="1100" kern="1200" dirty="0">
                  <a:latin typeface="Calisto MT" panose="02040603050505030304" pitchFamily="18" charset="0"/>
                </a:rPr>
                <a:t> choose what type of monetary policy change to be considered </a:t>
              </a:r>
              <a:r>
                <a:rPr lang="en-US" sz="1100" kern="1200" dirty="0">
                  <a:latin typeface="Calisto MT" panose="02040603050505030304" pitchFamily="18" charset="0"/>
                  <a:ea typeface="+mn-ea"/>
                  <a:cs typeface="+mn-cs"/>
                </a:rPr>
                <a:t> </a:t>
              </a:r>
            </a:p>
          </p:txBody>
        </p: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82E34A1-0BC5-41AB-A1F3-4DCDDC6C6696}"/>
              </a:ext>
            </a:extLst>
          </p:cNvPr>
          <p:cNvCxnSpPr>
            <a:cxnSpLocks/>
          </p:cNvCxnSpPr>
          <p:nvPr/>
        </p:nvCxnSpPr>
        <p:spPr>
          <a:xfrm flipH="1" flipV="1">
            <a:off x="1983533" y="1709667"/>
            <a:ext cx="320462" cy="276282"/>
          </a:xfrm>
          <a:prstGeom prst="straightConnector1">
            <a:avLst/>
          </a:prstGeom>
          <a:ln w="28575">
            <a:solidFill>
              <a:srgbClr val="3333B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136C2E6-9554-461C-9660-5C09FB81F62B}"/>
              </a:ext>
            </a:extLst>
          </p:cNvPr>
          <p:cNvCxnSpPr>
            <a:cxnSpLocks/>
          </p:cNvCxnSpPr>
          <p:nvPr/>
        </p:nvCxnSpPr>
        <p:spPr>
          <a:xfrm flipV="1">
            <a:off x="2294369" y="1687417"/>
            <a:ext cx="268652" cy="270728"/>
          </a:xfrm>
          <a:prstGeom prst="straightConnector1">
            <a:avLst/>
          </a:prstGeom>
          <a:ln w="28575">
            <a:solidFill>
              <a:srgbClr val="3333B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7E74F98-DA15-4FC7-933F-49AD9A1D2682}"/>
              </a:ext>
            </a:extLst>
          </p:cNvPr>
          <p:cNvCxnSpPr>
            <a:cxnSpLocks/>
          </p:cNvCxnSpPr>
          <p:nvPr/>
        </p:nvCxnSpPr>
        <p:spPr>
          <a:xfrm>
            <a:off x="2294369" y="1958144"/>
            <a:ext cx="7725" cy="305631"/>
          </a:xfrm>
          <a:prstGeom prst="straightConnector1">
            <a:avLst/>
          </a:prstGeom>
          <a:ln w="28575">
            <a:solidFill>
              <a:srgbClr val="3333B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303995" y="0"/>
            <a:ext cx="2304415" cy="548005"/>
          </a:xfrm>
          <a:custGeom>
            <a:avLst/>
            <a:gdLst/>
            <a:ahLst/>
            <a:cxnLst/>
            <a:rect l="l" t="t" r="r" b="b"/>
            <a:pathLst>
              <a:path w="2304415" h="548005">
                <a:moveTo>
                  <a:pt x="2303995" y="0"/>
                </a:moveTo>
                <a:lnTo>
                  <a:pt x="0" y="0"/>
                </a:lnTo>
                <a:lnTo>
                  <a:pt x="0" y="548004"/>
                </a:lnTo>
                <a:lnTo>
                  <a:pt x="2303995" y="548004"/>
                </a:lnTo>
                <a:lnTo>
                  <a:pt x="230399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60887" y="147783"/>
            <a:ext cx="1721854" cy="448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n-US" sz="5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Measures of the variables</a:t>
            </a:r>
          </a:p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n-US" sz="50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Type of Monetary Policy Change</a:t>
            </a:r>
          </a:p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n-US" sz="50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Empirical Strategies and Econometric Models</a:t>
            </a: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lang="en-US" sz="500" dirty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500" dirty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0" y="548005"/>
            <a:ext cx="4608195" cy="293029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lang="en-US" sz="140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Measures of the variables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47650" y="958031"/>
            <a:ext cx="4145545" cy="1615186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595"/>
              </a:spcBef>
              <a:buClr>
                <a:srgbClr val="3333B2"/>
              </a:buClr>
              <a:buSzPct val="80000"/>
              <a:tabLst>
                <a:tab pos="186690" algn="l"/>
              </a:tabLst>
            </a:pPr>
            <a:endParaRPr lang="en-US" sz="1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7465">
              <a:lnSpc>
                <a:spcPct val="100000"/>
              </a:lnSpc>
              <a:spcBef>
                <a:spcPts val="595"/>
              </a:spcBef>
              <a:buClr>
                <a:srgbClr val="3333B2"/>
              </a:buClr>
              <a:buSzPct val="80000"/>
              <a:tabLst>
                <a:tab pos="186690" algn="l"/>
              </a:tabLst>
            </a:pPr>
            <a:endParaRPr lang="en-US" sz="1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7465">
              <a:lnSpc>
                <a:spcPct val="100000"/>
              </a:lnSpc>
              <a:spcBef>
                <a:spcPts val="595"/>
              </a:spcBef>
              <a:buClr>
                <a:srgbClr val="3333B2"/>
              </a:buClr>
              <a:buSzPct val="80000"/>
              <a:tabLst>
                <a:tab pos="186690" algn="l"/>
              </a:tabLst>
            </a:pPr>
            <a:endParaRPr lang="en-US" sz="1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7465">
              <a:lnSpc>
                <a:spcPct val="100000"/>
              </a:lnSpc>
              <a:spcBef>
                <a:spcPts val="595"/>
              </a:spcBef>
              <a:buClr>
                <a:srgbClr val="3333B2"/>
              </a:buClr>
              <a:buSzPct val="80000"/>
              <a:tabLst>
                <a:tab pos="186690" algn="l"/>
              </a:tabLst>
            </a:pPr>
            <a:endParaRPr lang="en-US" sz="1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7465">
              <a:lnSpc>
                <a:spcPct val="100000"/>
              </a:lnSpc>
              <a:spcBef>
                <a:spcPts val="595"/>
              </a:spcBef>
              <a:buClr>
                <a:srgbClr val="3333B2"/>
              </a:buClr>
              <a:buSzPct val="80000"/>
              <a:tabLst>
                <a:tab pos="186690" algn="l"/>
              </a:tabLst>
            </a:pPr>
            <a:endParaRPr lang="en-US" sz="1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7465">
              <a:lnSpc>
                <a:spcPct val="100000"/>
              </a:lnSpc>
              <a:spcBef>
                <a:spcPts val="595"/>
              </a:spcBef>
              <a:buClr>
                <a:srgbClr val="3333B2"/>
              </a:buClr>
              <a:buSzPct val="80000"/>
              <a:tabLst>
                <a:tab pos="186690" algn="l"/>
              </a:tabLst>
            </a:pPr>
            <a:endParaRPr lang="en-US" sz="1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7465">
              <a:lnSpc>
                <a:spcPct val="100000"/>
              </a:lnSpc>
              <a:spcBef>
                <a:spcPts val="595"/>
              </a:spcBef>
              <a:buClr>
                <a:srgbClr val="3333B2"/>
              </a:buClr>
              <a:buSzPct val="80000"/>
              <a:tabLst>
                <a:tab pos="186690" algn="l"/>
              </a:tabLst>
            </a:pPr>
            <a:endParaRPr sz="1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6721455C-0EB6-4408-B17D-467F242F88E9}"/>
              </a:ext>
            </a:extLst>
          </p:cNvPr>
          <p:cNvSpPr txBox="1"/>
          <p:nvPr/>
        </p:nvSpPr>
        <p:spPr>
          <a:xfrm>
            <a:off x="-396247" y="-33091"/>
            <a:ext cx="2700242" cy="666721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464945" marR="5715" indent="173355" algn="r">
              <a:lnSpc>
                <a:spcPts val="670"/>
              </a:lnSpc>
              <a:spcBef>
                <a:spcPts val="160"/>
              </a:spcBef>
            </a:pPr>
            <a:r>
              <a:rPr lang="en-US" sz="500" b="1" spc="-20" dirty="0">
                <a:solidFill>
                  <a:srgbClr val="7F7F7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Introduction</a:t>
            </a:r>
          </a:p>
          <a:p>
            <a:pPr marL="1464945" marR="5715" indent="173355" algn="r">
              <a:lnSpc>
                <a:spcPts val="670"/>
              </a:lnSpc>
              <a:spcBef>
                <a:spcPts val="160"/>
              </a:spcBef>
            </a:pPr>
            <a:r>
              <a:rPr lang="en-US" sz="500" b="1" dirty="0">
                <a:solidFill>
                  <a:srgbClr val="7F7F7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Transmission Channels</a:t>
            </a:r>
            <a:endParaRPr sz="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Empirical Strategies</a:t>
            </a: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Survey of the Empirical Literature</a:t>
            </a: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Discussion</a:t>
            </a: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Conclusion</a:t>
            </a:r>
            <a:endParaRPr lang="en-US" sz="500" b="1" spc="-10" dirty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R="6350" algn="r">
              <a:lnSpc>
                <a:spcPts val="695"/>
              </a:lnSpc>
            </a:pPr>
            <a:endParaRPr sz="500" dirty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16AC9DA-B222-4BC0-A657-300B05E0536A}"/>
              </a:ext>
            </a:extLst>
          </p:cNvPr>
          <p:cNvGrpSpPr/>
          <p:nvPr/>
        </p:nvGrpSpPr>
        <p:grpSpPr>
          <a:xfrm>
            <a:off x="415925" y="1540736"/>
            <a:ext cx="1714715" cy="790224"/>
            <a:chOff x="350781" y="860593"/>
            <a:chExt cx="1562855" cy="787577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5D9DAEB4-8231-4133-B835-58BEFDE0965A}"/>
                </a:ext>
              </a:extLst>
            </p:cNvPr>
            <p:cNvSpPr/>
            <p:nvPr/>
          </p:nvSpPr>
          <p:spPr>
            <a:xfrm>
              <a:off x="350781" y="860593"/>
              <a:ext cx="1519338" cy="759669"/>
            </a:xfrm>
            <a:prstGeom prst="roundRect">
              <a:avLst>
                <a:gd name="adj" fmla="val 10000"/>
              </a:avLst>
            </a:prstGeom>
            <a:ln>
              <a:solidFill>
                <a:srgbClr val="3333B2"/>
              </a:solidFill>
            </a:ln>
          </p:spPr>
          <p:style>
            <a:lnRef idx="3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: Rounded Corners 4">
              <a:extLst>
                <a:ext uri="{FF2B5EF4-FFF2-40B4-BE49-F238E27FC236}">
                  <a16:creationId xmlns:a16="http://schemas.microsoft.com/office/drawing/2014/main" id="{F5856BA7-7858-46B1-9E76-FB52A5799DF5}"/>
                </a:ext>
              </a:extLst>
            </p:cNvPr>
            <p:cNvSpPr txBox="1"/>
            <p:nvPr/>
          </p:nvSpPr>
          <p:spPr>
            <a:xfrm>
              <a:off x="438798" y="933001"/>
              <a:ext cx="1474838" cy="71516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R="0" lvl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F81BD"/>
                </a:buClr>
                <a:buSzTx/>
                <a:tabLst>
                  <a:tab pos="1376363" algn="l"/>
                </a:tabLst>
                <a:defRPr/>
              </a:pPr>
              <a:r>
                <a:rPr lang="en-US" sz="11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 Conventional MP </a:t>
              </a:r>
            </a:p>
            <a:p>
              <a:pPr marR="0" lvl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F81BD"/>
                </a:buClr>
                <a:buSzTx/>
                <a:tabLst>
                  <a:tab pos="1376363" algn="l"/>
                </a:tabLst>
                <a:defRPr/>
              </a:pPr>
              <a:r>
                <a:rPr lang="en-US" sz="750" dirty="0">
                  <a:solidFill>
                    <a:sysClr val="windowText" lastClr="00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- short-term interest rates  </a:t>
              </a:r>
            </a:p>
            <a:p>
              <a:pPr marR="0" lvl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F81BD"/>
                </a:buClr>
                <a:buSzTx/>
                <a:tabLst>
                  <a:tab pos="1376363" algn="l"/>
                </a:tabLst>
                <a:defRPr/>
              </a:pPr>
              <a:r>
                <a:rPr lang="en-US" sz="750" dirty="0">
                  <a:solidFill>
                    <a:sysClr val="windowText" lastClr="00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- shadow interest rates</a:t>
              </a:r>
            </a:p>
            <a:p>
              <a:pPr marR="0" lvl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F81BD"/>
                </a:buClr>
                <a:buSzTx/>
                <a:tabLst>
                  <a:tab pos="1376363" algn="l"/>
                </a:tabLst>
                <a:defRPr/>
              </a:pPr>
              <a:r>
                <a:rPr lang="en-US" sz="750" dirty="0">
                  <a:solidFill>
                    <a:sysClr val="windowText" lastClr="00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(case of periods with zero lower bound) </a:t>
              </a:r>
            </a:p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1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0671A3A-4B9E-44AE-A21E-F5B6F6D75C5F}"/>
              </a:ext>
            </a:extLst>
          </p:cNvPr>
          <p:cNvGrpSpPr/>
          <p:nvPr/>
        </p:nvGrpSpPr>
        <p:grpSpPr>
          <a:xfrm>
            <a:off x="403631" y="2519463"/>
            <a:ext cx="1727009" cy="803185"/>
            <a:chOff x="339893" y="860593"/>
            <a:chExt cx="1530226" cy="759669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38BBCE89-67DC-49F0-AE91-BFA53B698E97}"/>
                </a:ext>
              </a:extLst>
            </p:cNvPr>
            <p:cNvSpPr/>
            <p:nvPr/>
          </p:nvSpPr>
          <p:spPr>
            <a:xfrm>
              <a:off x="350781" y="860593"/>
              <a:ext cx="1519338" cy="759669"/>
            </a:xfrm>
            <a:prstGeom prst="roundRect">
              <a:avLst>
                <a:gd name="adj" fmla="val 10000"/>
              </a:avLst>
            </a:prstGeom>
            <a:ln>
              <a:solidFill>
                <a:srgbClr val="3333B2"/>
              </a:solidFill>
            </a:ln>
          </p:spPr>
          <p:style>
            <a:lnRef idx="3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Rectangle: Rounded Corners 4">
              <a:extLst>
                <a:ext uri="{FF2B5EF4-FFF2-40B4-BE49-F238E27FC236}">
                  <a16:creationId xmlns:a16="http://schemas.microsoft.com/office/drawing/2014/main" id="{82BEF84E-C767-4C5F-AE0E-12E65306B305}"/>
                </a:ext>
              </a:extLst>
            </p:cNvPr>
            <p:cNvSpPr txBox="1"/>
            <p:nvPr/>
          </p:nvSpPr>
          <p:spPr>
            <a:xfrm>
              <a:off x="339893" y="891529"/>
              <a:ext cx="1474838" cy="71516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1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C69A6EC-8CCE-45C3-9E9D-2805BB97D0C2}"/>
              </a:ext>
            </a:extLst>
          </p:cNvPr>
          <p:cNvGrpSpPr/>
          <p:nvPr/>
        </p:nvGrpSpPr>
        <p:grpSpPr>
          <a:xfrm>
            <a:off x="2562466" y="2532910"/>
            <a:ext cx="1530226" cy="759669"/>
            <a:chOff x="339893" y="860593"/>
            <a:chExt cx="1530226" cy="759669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7BE72CEF-542F-46D3-B4C0-CF96B2C4A006}"/>
                </a:ext>
              </a:extLst>
            </p:cNvPr>
            <p:cNvSpPr/>
            <p:nvPr/>
          </p:nvSpPr>
          <p:spPr>
            <a:xfrm>
              <a:off x="350781" y="860593"/>
              <a:ext cx="1519338" cy="759669"/>
            </a:xfrm>
            <a:prstGeom prst="roundRect">
              <a:avLst>
                <a:gd name="adj" fmla="val 10000"/>
              </a:avLst>
            </a:prstGeom>
            <a:ln>
              <a:solidFill>
                <a:srgbClr val="3333B2"/>
              </a:solidFill>
            </a:ln>
          </p:spPr>
          <p:style>
            <a:lnRef idx="3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: Rounded Corners 4">
              <a:extLst>
                <a:ext uri="{FF2B5EF4-FFF2-40B4-BE49-F238E27FC236}">
                  <a16:creationId xmlns:a16="http://schemas.microsoft.com/office/drawing/2014/main" id="{F9806C23-D550-4371-BEFC-C90AE432319C}"/>
                </a:ext>
              </a:extLst>
            </p:cNvPr>
            <p:cNvSpPr txBox="1"/>
            <p:nvPr/>
          </p:nvSpPr>
          <p:spPr>
            <a:xfrm>
              <a:off x="339893" y="891529"/>
              <a:ext cx="1474838" cy="71516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1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6929D10-90E4-402D-96E5-2666979442BA}"/>
              </a:ext>
            </a:extLst>
          </p:cNvPr>
          <p:cNvGrpSpPr/>
          <p:nvPr/>
        </p:nvGrpSpPr>
        <p:grpSpPr>
          <a:xfrm>
            <a:off x="2563403" y="1540736"/>
            <a:ext cx="1519338" cy="773582"/>
            <a:chOff x="350781" y="860593"/>
            <a:chExt cx="1519338" cy="810588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68431E6B-0759-4E27-B013-C357C73B65D9}"/>
                </a:ext>
              </a:extLst>
            </p:cNvPr>
            <p:cNvSpPr/>
            <p:nvPr/>
          </p:nvSpPr>
          <p:spPr>
            <a:xfrm>
              <a:off x="350781" y="860593"/>
              <a:ext cx="1519338" cy="759669"/>
            </a:xfrm>
            <a:prstGeom prst="roundRect">
              <a:avLst>
                <a:gd name="adj" fmla="val 10000"/>
              </a:avLst>
            </a:prstGeom>
            <a:ln>
              <a:solidFill>
                <a:srgbClr val="3333B2"/>
              </a:solidFill>
            </a:ln>
          </p:spPr>
          <p:style>
            <a:lnRef idx="3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: Rounded Corners 4">
              <a:extLst>
                <a:ext uri="{FF2B5EF4-FFF2-40B4-BE49-F238E27FC236}">
                  <a16:creationId xmlns:a16="http://schemas.microsoft.com/office/drawing/2014/main" id="{21D676EB-194F-48A6-AF0F-D38384FA3902}"/>
                </a:ext>
              </a:extLst>
            </p:cNvPr>
            <p:cNvSpPr txBox="1"/>
            <p:nvPr/>
          </p:nvSpPr>
          <p:spPr>
            <a:xfrm>
              <a:off x="373031" y="956012"/>
              <a:ext cx="1474838" cy="71516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000" b="1" kern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Gini coefficient</a:t>
              </a:r>
            </a:p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800" kern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- to measure gross income (pre-tax, pre-transfer income) or net income (post-tax, post-transfer income)</a:t>
              </a:r>
            </a:p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800" kern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BFB9FB2-A74A-465A-9779-EEF1026AE14A}"/>
              </a:ext>
            </a:extLst>
          </p:cNvPr>
          <p:cNvGrpSpPr/>
          <p:nvPr/>
        </p:nvGrpSpPr>
        <p:grpSpPr>
          <a:xfrm>
            <a:off x="491319" y="938697"/>
            <a:ext cx="1561719" cy="405607"/>
            <a:chOff x="318535" y="860593"/>
            <a:chExt cx="1551584" cy="759669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851006CB-E7F6-459D-BDA3-252D2B314A5B}"/>
                </a:ext>
              </a:extLst>
            </p:cNvPr>
            <p:cNvSpPr/>
            <p:nvPr/>
          </p:nvSpPr>
          <p:spPr>
            <a:xfrm>
              <a:off x="350781" y="860593"/>
              <a:ext cx="1519338" cy="759669"/>
            </a:xfrm>
            <a:prstGeom prst="roundRect">
              <a:avLst>
                <a:gd name="adj" fmla="val 10000"/>
              </a:avLst>
            </a:prstGeom>
            <a:ln>
              <a:solidFill>
                <a:srgbClr val="3333B2"/>
              </a:solidFill>
            </a:ln>
          </p:spPr>
          <p:style>
            <a:lnRef idx="3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Rectangle: Rounded Corners 4">
              <a:extLst>
                <a:ext uri="{FF2B5EF4-FFF2-40B4-BE49-F238E27FC236}">
                  <a16:creationId xmlns:a16="http://schemas.microsoft.com/office/drawing/2014/main" id="{636C3432-3547-466B-9B4D-DB888E603ACD}"/>
                </a:ext>
              </a:extLst>
            </p:cNvPr>
            <p:cNvSpPr txBox="1"/>
            <p:nvPr/>
          </p:nvSpPr>
          <p:spPr>
            <a:xfrm>
              <a:off x="318535" y="892888"/>
              <a:ext cx="1474838" cy="71517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100" b="1" kern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1. Changes in MP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BBED9AC-B401-41B8-AF7B-25E80A1706FA}"/>
              </a:ext>
            </a:extLst>
          </p:cNvPr>
          <p:cNvGrpSpPr/>
          <p:nvPr/>
        </p:nvGrpSpPr>
        <p:grpSpPr>
          <a:xfrm>
            <a:off x="2517107" y="923337"/>
            <a:ext cx="1601673" cy="405607"/>
            <a:chOff x="318535" y="860593"/>
            <a:chExt cx="1551584" cy="759669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C0995E3A-FB44-4699-91CF-15EC3F199C52}"/>
                </a:ext>
              </a:extLst>
            </p:cNvPr>
            <p:cNvSpPr/>
            <p:nvPr/>
          </p:nvSpPr>
          <p:spPr>
            <a:xfrm>
              <a:off x="350781" y="860593"/>
              <a:ext cx="1519338" cy="759669"/>
            </a:xfrm>
            <a:prstGeom prst="roundRect">
              <a:avLst>
                <a:gd name="adj" fmla="val 10000"/>
              </a:avLst>
            </a:prstGeom>
            <a:ln>
              <a:solidFill>
                <a:srgbClr val="3333B2"/>
              </a:solidFill>
            </a:ln>
          </p:spPr>
          <p:style>
            <a:lnRef idx="3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1" name="Rectangle: Rounded Corners 4">
              <a:extLst>
                <a:ext uri="{FF2B5EF4-FFF2-40B4-BE49-F238E27FC236}">
                  <a16:creationId xmlns:a16="http://schemas.microsoft.com/office/drawing/2014/main" id="{114784DB-6E1F-405A-B4DB-C0F5D79DC977}"/>
                </a:ext>
              </a:extLst>
            </p:cNvPr>
            <p:cNvSpPr txBox="1"/>
            <p:nvPr/>
          </p:nvSpPr>
          <p:spPr>
            <a:xfrm>
              <a:off x="318535" y="892888"/>
              <a:ext cx="1474838" cy="71517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100" b="1" kern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2. Inequality</a:t>
              </a:r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32593A92-B1A0-4464-8928-DA15DCD64781}"/>
              </a:ext>
            </a:extLst>
          </p:cNvPr>
          <p:cNvSpPr/>
          <p:nvPr/>
        </p:nvSpPr>
        <p:spPr>
          <a:xfrm>
            <a:off x="396043" y="2482991"/>
            <a:ext cx="1907951" cy="11003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1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Unconventional MP</a:t>
            </a:r>
          </a:p>
          <a:p>
            <a:r>
              <a:rPr lang="en-US" sz="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FED Quantitative Easing of the</a:t>
            </a:r>
          </a:p>
          <a:p>
            <a:r>
              <a:rPr lang="en-US" sz="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ECB’s asset purchase program </a:t>
            </a:r>
          </a:p>
          <a:p>
            <a:pPr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tabLst>
                <a:tab pos="1376363" algn="l"/>
              </a:tabLst>
              <a:defRPr/>
            </a:pPr>
            <a:r>
              <a:rPr lang="en-US" sz="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monetary base</a:t>
            </a:r>
          </a:p>
          <a:p>
            <a:pPr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tabLst>
                <a:tab pos="1376363" algn="l"/>
              </a:tabLst>
              <a:defRPr/>
            </a:pPr>
            <a:r>
              <a:rPr lang="en-US" sz="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size of the monetary authority’s  balance sheet.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AF570CE-15C5-43FB-992A-BC9C6640B325}"/>
              </a:ext>
            </a:extLst>
          </p:cNvPr>
          <p:cNvSpPr/>
          <p:nvPr/>
        </p:nvSpPr>
        <p:spPr>
          <a:xfrm>
            <a:off x="2544991" y="2604153"/>
            <a:ext cx="1573789" cy="592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tabLst>
                <a:tab pos="1376363" algn="l"/>
              </a:tabLst>
              <a:defRPr/>
            </a:pPr>
            <a:r>
              <a:rPr lang="en-US" sz="1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90/10 or 80/20 ratio</a:t>
            </a:r>
          </a:p>
          <a:p>
            <a:pPr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tabLst>
                <a:tab pos="1376363" algn="l"/>
              </a:tabLst>
              <a:defRPr/>
            </a:pPr>
            <a:r>
              <a:rPr lang="en-US" sz="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the ratio between the incomes of the top decile and the lowest decile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CEF48F7-276A-44F1-9884-ECDFDB9258E6}"/>
              </a:ext>
            </a:extLst>
          </p:cNvPr>
          <p:cNvCxnSpPr>
            <a:cxnSpLocks/>
          </p:cNvCxnSpPr>
          <p:nvPr/>
        </p:nvCxnSpPr>
        <p:spPr>
          <a:xfrm>
            <a:off x="1193397" y="1329807"/>
            <a:ext cx="0" cy="213763"/>
          </a:xfrm>
          <a:prstGeom prst="straightConnector1">
            <a:avLst/>
          </a:prstGeom>
          <a:ln w="28575">
            <a:solidFill>
              <a:srgbClr val="3333B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B34FA03-5BB7-4C03-969B-912EAECAEFBA}"/>
              </a:ext>
            </a:extLst>
          </p:cNvPr>
          <p:cNvCxnSpPr>
            <a:cxnSpLocks/>
          </p:cNvCxnSpPr>
          <p:nvPr/>
        </p:nvCxnSpPr>
        <p:spPr>
          <a:xfrm>
            <a:off x="1193397" y="2287765"/>
            <a:ext cx="0" cy="213763"/>
          </a:xfrm>
          <a:prstGeom prst="straightConnector1">
            <a:avLst/>
          </a:prstGeom>
          <a:ln w="28575">
            <a:solidFill>
              <a:srgbClr val="3333B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DE1A63A-C49F-4EDF-9376-82D1DE68A98D}"/>
              </a:ext>
            </a:extLst>
          </p:cNvPr>
          <p:cNvCxnSpPr>
            <a:cxnSpLocks/>
          </p:cNvCxnSpPr>
          <p:nvPr/>
        </p:nvCxnSpPr>
        <p:spPr>
          <a:xfrm>
            <a:off x="3321849" y="1322428"/>
            <a:ext cx="0" cy="213763"/>
          </a:xfrm>
          <a:prstGeom prst="straightConnector1">
            <a:avLst/>
          </a:prstGeom>
          <a:ln w="28575">
            <a:solidFill>
              <a:srgbClr val="3333B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96ED837-9041-4245-ADA3-D95B38E6BF0D}"/>
              </a:ext>
            </a:extLst>
          </p:cNvPr>
          <p:cNvCxnSpPr>
            <a:cxnSpLocks/>
            <a:stCxn id="27" idx="2"/>
          </p:cNvCxnSpPr>
          <p:nvPr/>
        </p:nvCxnSpPr>
        <p:spPr>
          <a:xfrm>
            <a:off x="3323072" y="2314318"/>
            <a:ext cx="8813" cy="213763"/>
          </a:xfrm>
          <a:prstGeom prst="straightConnector1">
            <a:avLst/>
          </a:prstGeom>
          <a:ln w="28575">
            <a:solidFill>
              <a:srgbClr val="3333B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7155675"/>
      </p:ext>
    </p:extLst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303995" y="0"/>
            <a:ext cx="2304415" cy="548005"/>
          </a:xfrm>
          <a:custGeom>
            <a:avLst/>
            <a:gdLst/>
            <a:ahLst/>
            <a:cxnLst/>
            <a:rect l="l" t="t" r="r" b="b"/>
            <a:pathLst>
              <a:path w="2304415" h="548005">
                <a:moveTo>
                  <a:pt x="2303995" y="0"/>
                </a:moveTo>
                <a:lnTo>
                  <a:pt x="0" y="0"/>
                </a:lnTo>
                <a:lnTo>
                  <a:pt x="0" y="548004"/>
                </a:lnTo>
                <a:lnTo>
                  <a:pt x="2303995" y="548004"/>
                </a:lnTo>
                <a:lnTo>
                  <a:pt x="230399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0" y="548005"/>
            <a:ext cx="4608195" cy="293029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of Monetary Policy Change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47650" y="958031"/>
            <a:ext cx="4145545" cy="1615186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595"/>
              </a:spcBef>
              <a:buClr>
                <a:srgbClr val="3333B2"/>
              </a:buClr>
              <a:buSzPct val="80000"/>
              <a:tabLst>
                <a:tab pos="186690" algn="l"/>
              </a:tabLst>
            </a:pPr>
            <a:endParaRPr 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465">
              <a:lnSpc>
                <a:spcPct val="100000"/>
              </a:lnSpc>
              <a:spcBef>
                <a:spcPts val="595"/>
              </a:spcBef>
              <a:buClr>
                <a:srgbClr val="3333B2"/>
              </a:buClr>
              <a:buSzPct val="80000"/>
              <a:tabLst>
                <a:tab pos="186690" algn="l"/>
              </a:tabLst>
            </a:pPr>
            <a:endParaRPr 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465">
              <a:lnSpc>
                <a:spcPct val="100000"/>
              </a:lnSpc>
              <a:spcBef>
                <a:spcPts val="595"/>
              </a:spcBef>
              <a:buClr>
                <a:srgbClr val="3333B2"/>
              </a:buClr>
              <a:buSzPct val="80000"/>
              <a:tabLst>
                <a:tab pos="186690" algn="l"/>
              </a:tabLst>
            </a:pPr>
            <a:endParaRPr 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465">
              <a:lnSpc>
                <a:spcPct val="100000"/>
              </a:lnSpc>
              <a:spcBef>
                <a:spcPts val="595"/>
              </a:spcBef>
              <a:buClr>
                <a:srgbClr val="3333B2"/>
              </a:buClr>
              <a:buSzPct val="80000"/>
              <a:tabLst>
                <a:tab pos="186690" algn="l"/>
              </a:tabLst>
            </a:pPr>
            <a:endParaRPr 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465">
              <a:lnSpc>
                <a:spcPct val="100000"/>
              </a:lnSpc>
              <a:spcBef>
                <a:spcPts val="595"/>
              </a:spcBef>
              <a:buClr>
                <a:srgbClr val="3333B2"/>
              </a:buClr>
              <a:buSzPct val="80000"/>
              <a:tabLst>
                <a:tab pos="186690" algn="l"/>
              </a:tabLst>
            </a:pPr>
            <a:endParaRPr 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465">
              <a:lnSpc>
                <a:spcPct val="100000"/>
              </a:lnSpc>
              <a:spcBef>
                <a:spcPts val="595"/>
              </a:spcBef>
              <a:buClr>
                <a:srgbClr val="3333B2"/>
              </a:buClr>
              <a:buSzPct val="80000"/>
              <a:tabLst>
                <a:tab pos="186690" algn="l"/>
              </a:tabLst>
            </a:pPr>
            <a:endParaRPr 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465">
              <a:lnSpc>
                <a:spcPct val="100000"/>
              </a:lnSpc>
              <a:spcBef>
                <a:spcPts val="595"/>
              </a:spcBef>
              <a:buClr>
                <a:srgbClr val="3333B2"/>
              </a:buClr>
              <a:buSzPct val="80000"/>
              <a:tabLst>
                <a:tab pos="186690" algn="l"/>
              </a:tabLst>
            </a:pPr>
            <a:endParaRPr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4BE5DAAC-C150-453A-9617-D5DC9832A479}"/>
              </a:ext>
            </a:extLst>
          </p:cNvPr>
          <p:cNvSpPr txBox="1"/>
          <p:nvPr/>
        </p:nvSpPr>
        <p:spPr>
          <a:xfrm>
            <a:off x="-396247" y="-33091"/>
            <a:ext cx="2700242" cy="666721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464945" marR="5715" indent="173355" algn="r">
              <a:lnSpc>
                <a:spcPts val="670"/>
              </a:lnSpc>
              <a:spcBef>
                <a:spcPts val="160"/>
              </a:spcBef>
            </a:pPr>
            <a:r>
              <a:rPr lang="en-US" sz="500" b="1" spc="-20" dirty="0">
                <a:solidFill>
                  <a:srgbClr val="7F7F7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Introduction</a:t>
            </a:r>
          </a:p>
          <a:p>
            <a:pPr marL="1464945" marR="5715" indent="173355" algn="r">
              <a:lnSpc>
                <a:spcPts val="670"/>
              </a:lnSpc>
              <a:spcBef>
                <a:spcPts val="160"/>
              </a:spcBef>
            </a:pPr>
            <a:r>
              <a:rPr lang="en-US" sz="500" b="1" dirty="0">
                <a:solidFill>
                  <a:srgbClr val="7F7F7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Transmission Channels</a:t>
            </a:r>
            <a:endParaRPr sz="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Empirical Strategies</a:t>
            </a: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Survey of the Empirical Literature</a:t>
            </a: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Discussion</a:t>
            </a: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Conclusion</a:t>
            </a:r>
            <a:endParaRPr lang="en-US" sz="500" b="1" spc="-10" dirty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R="6350" algn="r">
              <a:lnSpc>
                <a:spcPts val="695"/>
              </a:lnSpc>
            </a:pPr>
            <a:endParaRPr sz="500" dirty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object 4">
            <a:extLst>
              <a:ext uri="{FF2B5EF4-FFF2-40B4-BE49-F238E27FC236}">
                <a16:creationId xmlns:a16="http://schemas.microsoft.com/office/drawing/2014/main" id="{9A295B98-23F0-40C3-8C04-F5BE3696C382}"/>
              </a:ext>
            </a:extLst>
          </p:cNvPr>
          <p:cNvSpPr txBox="1"/>
          <p:nvPr/>
        </p:nvSpPr>
        <p:spPr>
          <a:xfrm>
            <a:off x="2339745" y="159316"/>
            <a:ext cx="1721854" cy="448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n-US" sz="5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Measures of the variables</a:t>
            </a:r>
          </a:p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n-US" sz="5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Type of Monetary Policy Change</a:t>
            </a:r>
          </a:p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n-US" sz="5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Empirical Strategies and Econometric Models</a:t>
            </a: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lang="en-US" sz="5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5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1C03CB5-EFBD-452F-80D5-13AAD3812EFD}"/>
              </a:ext>
            </a:extLst>
          </p:cNvPr>
          <p:cNvGrpSpPr/>
          <p:nvPr/>
        </p:nvGrpSpPr>
        <p:grpSpPr>
          <a:xfrm>
            <a:off x="95250" y="1545872"/>
            <a:ext cx="1530226" cy="759669"/>
            <a:chOff x="339893" y="860593"/>
            <a:chExt cx="1530226" cy="759669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6F36AB33-8757-4CD3-BB0A-17C626383674}"/>
                </a:ext>
              </a:extLst>
            </p:cNvPr>
            <p:cNvSpPr/>
            <p:nvPr/>
          </p:nvSpPr>
          <p:spPr>
            <a:xfrm>
              <a:off x="350781" y="860593"/>
              <a:ext cx="1519338" cy="759669"/>
            </a:xfrm>
            <a:prstGeom prst="roundRect">
              <a:avLst>
                <a:gd name="adj" fmla="val 10000"/>
              </a:avLst>
            </a:prstGeom>
            <a:ln>
              <a:solidFill>
                <a:srgbClr val="3333B2"/>
              </a:solidFill>
            </a:ln>
          </p:spPr>
          <p:style>
            <a:lnRef idx="3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: Rounded Corners 4">
              <a:extLst>
                <a:ext uri="{FF2B5EF4-FFF2-40B4-BE49-F238E27FC236}">
                  <a16:creationId xmlns:a16="http://schemas.microsoft.com/office/drawing/2014/main" id="{A9359642-1CE0-4DC6-B21E-C15A920400A3}"/>
                </a:ext>
              </a:extLst>
            </p:cNvPr>
            <p:cNvSpPr txBox="1"/>
            <p:nvPr/>
          </p:nvSpPr>
          <p:spPr>
            <a:xfrm>
              <a:off x="339893" y="891529"/>
              <a:ext cx="1474838" cy="71516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100" b="1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Sign restrictions</a:t>
              </a:r>
            </a:p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8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(Hafemann, et al.,2018; Mumtaz and Theophilopoulou, 2017 ; Uhlig, 2005)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CCE3ECD-9503-45BD-AAFC-6D86DF425CCC}"/>
              </a:ext>
            </a:extLst>
          </p:cNvPr>
          <p:cNvGrpSpPr/>
          <p:nvPr/>
        </p:nvGrpSpPr>
        <p:grpSpPr>
          <a:xfrm>
            <a:off x="570154" y="2438608"/>
            <a:ext cx="1530226" cy="759669"/>
            <a:chOff x="339893" y="860593"/>
            <a:chExt cx="1530226" cy="759669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41D27716-8D06-4BD8-B459-D6302A08C14F}"/>
                </a:ext>
              </a:extLst>
            </p:cNvPr>
            <p:cNvSpPr/>
            <p:nvPr/>
          </p:nvSpPr>
          <p:spPr>
            <a:xfrm>
              <a:off x="350781" y="860593"/>
              <a:ext cx="1519338" cy="759669"/>
            </a:xfrm>
            <a:prstGeom prst="roundRect">
              <a:avLst>
                <a:gd name="adj" fmla="val 10000"/>
              </a:avLst>
            </a:prstGeom>
            <a:ln>
              <a:solidFill>
                <a:srgbClr val="3333B2"/>
              </a:solidFill>
            </a:ln>
          </p:spPr>
          <p:style>
            <a:lnRef idx="3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: Rounded Corners 4">
              <a:extLst>
                <a:ext uri="{FF2B5EF4-FFF2-40B4-BE49-F238E27FC236}">
                  <a16:creationId xmlns:a16="http://schemas.microsoft.com/office/drawing/2014/main" id="{686DAFB5-D28C-4E6F-83AD-C79A8FCA0E2F}"/>
                </a:ext>
              </a:extLst>
            </p:cNvPr>
            <p:cNvSpPr txBox="1"/>
            <p:nvPr/>
          </p:nvSpPr>
          <p:spPr>
            <a:xfrm>
              <a:off x="339893" y="891529"/>
              <a:ext cx="1474838" cy="71516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800" b="1" kern="12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Residual of the regression of the federal funds rate, GDP deflator and unemployment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kern="12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(Coibion et al.,2017; Davtyan, 2016)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FAB9120-9CE2-4CBD-99B6-06385F765DB5}"/>
              </a:ext>
            </a:extLst>
          </p:cNvPr>
          <p:cNvGrpSpPr/>
          <p:nvPr/>
        </p:nvGrpSpPr>
        <p:grpSpPr>
          <a:xfrm>
            <a:off x="2411996" y="2445512"/>
            <a:ext cx="1530226" cy="759669"/>
            <a:chOff x="339893" y="860593"/>
            <a:chExt cx="1530226" cy="75966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03EEA63B-BC69-4E0A-9DE3-A1280819F769}"/>
                </a:ext>
              </a:extLst>
            </p:cNvPr>
            <p:cNvSpPr/>
            <p:nvPr/>
          </p:nvSpPr>
          <p:spPr>
            <a:xfrm>
              <a:off x="350781" y="860593"/>
              <a:ext cx="1519338" cy="759669"/>
            </a:xfrm>
            <a:prstGeom prst="roundRect">
              <a:avLst>
                <a:gd name="adj" fmla="val 10000"/>
              </a:avLst>
            </a:prstGeom>
            <a:ln>
              <a:solidFill>
                <a:srgbClr val="3333B2"/>
              </a:solidFill>
            </a:ln>
          </p:spPr>
          <p:style>
            <a:lnRef idx="3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: Rounded Corners 4">
              <a:extLst>
                <a:ext uri="{FF2B5EF4-FFF2-40B4-BE49-F238E27FC236}">
                  <a16:creationId xmlns:a16="http://schemas.microsoft.com/office/drawing/2014/main" id="{CF783E34-A3F5-4A4F-AE9B-1E9609A4A30A}"/>
                </a:ext>
              </a:extLst>
            </p:cNvPr>
            <p:cNvSpPr txBox="1"/>
            <p:nvPr/>
          </p:nvSpPr>
          <p:spPr>
            <a:xfrm>
              <a:off x="339893" y="891529"/>
              <a:ext cx="1519338" cy="71516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900" b="1" kern="12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Forecast errors for interest rate, GDP and inflation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kern="12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sz="800" kern="12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Furceri, et al. .2018; Auerbach and Gorodnichenko, 2013</a:t>
              </a:r>
              <a:r>
                <a:rPr lang="en-US" sz="1000" kern="12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91442C4-2D33-441D-9C07-57DA09BEBAF2}"/>
              </a:ext>
            </a:extLst>
          </p:cNvPr>
          <p:cNvGrpSpPr/>
          <p:nvPr/>
        </p:nvGrpSpPr>
        <p:grpSpPr>
          <a:xfrm>
            <a:off x="2873857" y="1542559"/>
            <a:ext cx="1519338" cy="762363"/>
            <a:chOff x="350781" y="857899"/>
            <a:chExt cx="1519338" cy="762363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972A7D00-0929-4A66-BEA3-CAC9241476EF}"/>
                </a:ext>
              </a:extLst>
            </p:cNvPr>
            <p:cNvSpPr/>
            <p:nvPr/>
          </p:nvSpPr>
          <p:spPr>
            <a:xfrm>
              <a:off x="350781" y="860593"/>
              <a:ext cx="1519338" cy="759669"/>
            </a:xfrm>
            <a:prstGeom prst="roundRect">
              <a:avLst>
                <a:gd name="adj" fmla="val 10000"/>
              </a:avLst>
            </a:prstGeom>
            <a:ln>
              <a:solidFill>
                <a:srgbClr val="3333B2"/>
              </a:solidFill>
            </a:ln>
          </p:spPr>
          <p:style>
            <a:lnRef idx="3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: Rounded Corners 4">
              <a:extLst>
                <a:ext uri="{FF2B5EF4-FFF2-40B4-BE49-F238E27FC236}">
                  <a16:creationId xmlns:a16="http://schemas.microsoft.com/office/drawing/2014/main" id="{7D864C8F-E235-4753-BC69-5F7827C28FC9}"/>
                </a:ext>
              </a:extLst>
            </p:cNvPr>
            <p:cNvSpPr txBox="1"/>
            <p:nvPr/>
          </p:nvSpPr>
          <p:spPr>
            <a:xfrm>
              <a:off x="367212" y="857899"/>
              <a:ext cx="1474838" cy="71516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algn="ctr" rtl="0">
                <a:lnSpc>
                  <a:spcPct val="150000"/>
                </a:lnSpc>
              </a:pPr>
              <a:r>
                <a:rPr lang="en-US" sz="1100" b="1" kern="12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External instruments </a:t>
              </a:r>
            </a:p>
            <a:p>
              <a:pPr lvl="0" algn="ctr" rtl="0"/>
              <a:r>
                <a:rPr lang="en-US" sz="800" kern="12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(Herradi and Leroy, 2019; Stock and Watson, 2018)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E64F95D-6395-47C8-A81C-7B075D3922D3}"/>
              </a:ext>
            </a:extLst>
          </p:cNvPr>
          <p:cNvGrpSpPr/>
          <p:nvPr/>
        </p:nvGrpSpPr>
        <p:grpSpPr>
          <a:xfrm>
            <a:off x="1498866" y="920650"/>
            <a:ext cx="1508527" cy="357547"/>
            <a:chOff x="350781" y="860593"/>
            <a:chExt cx="1519338" cy="759669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8C0383E5-F8F4-4BDC-954F-BACFDB131A53}"/>
                </a:ext>
              </a:extLst>
            </p:cNvPr>
            <p:cNvSpPr/>
            <p:nvPr/>
          </p:nvSpPr>
          <p:spPr>
            <a:xfrm>
              <a:off x="350781" y="860593"/>
              <a:ext cx="1519338" cy="759669"/>
            </a:xfrm>
            <a:prstGeom prst="roundRect">
              <a:avLst>
                <a:gd name="adj" fmla="val 10000"/>
              </a:avLst>
            </a:prstGeom>
            <a:ln>
              <a:solidFill>
                <a:srgbClr val="3333B2"/>
              </a:solidFill>
            </a:ln>
          </p:spPr>
          <p:style>
            <a:lnRef idx="3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Rectangle: Rounded Corners 4">
              <a:extLst>
                <a:ext uri="{FF2B5EF4-FFF2-40B4-BE49-F238E27FC236}">
                  <a16:creationId xmlns:a16="http://schemas.microsoft.com/office/drawing/2014/main" id="{7821C3E4-BD3F-4675-AA40-2AA10101E8DF}"/>
                </a:ext>
              </a:extLst>
            </p:cNvPr>
            <p:cNvSpPr txBox="1"/>
            <p:nvPr/>
          </p:nvSpPr>
          <p:spPr>
            <a:xfrm>
              <a:off x="386690" y="877512"/>
              <a:ext cx="1474838" cy="71517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1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Surprise or Unexpected Shock</a:t>
              </a:r>
              <a:endParaRPr lang="en-US" sz="1100" b="1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743A367-33BC-4387-B9E2-DF331C243B80}"/>
              </a:ext>
            </a:extLst>
          </p:cNvPr>
          <p:cNvCxnSpPr/>
          <p:nvPr/>
        </p:nvCxnSpPr>
        <p:spPr>
          <a:xfrm flipH="1">
            <a:off x="1307573" y="1286160"/>
            <a:ext cx="692677" cy="259712"/>
          </a:xfrm>
          <a:prstGeom prst="line">
            <a:avLst/>
          </a:prstGeom>
          <a:ln w="28575">
            <a:solidFill>
              <a:srgbClr val="3333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D942C1D-0503-4BFA-94C3-A17D99C8C052}"/>
              </a:ext>
            </a:extLst>
          </p:cNvPr>
          <p:cNvCxnSpPr>
            <a:cxnSpLocks/>
          </p:cNvCxnSpPr>
          <p:nvPr/>
        </p:nvCxnSpPr>
        <p:spPr>
          <a:xfrm>
            <a:off x="2360835" y="1262265"/>
            <a:ext cx="742882" cy="259549"/>
          </a:xfrm>
          <a:prstGeom prst="line">
            <a:avLst/>
          </a:prstGeom>
          <a:ln w="28575">
            <a:solidFill>
              <a:srgbClr val="3333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79CB5A8-0F1B-4521-BE52-95FBC407AEAC}"/>
              </a:ext>
            </a:extLst>
          </p:cNvPr>
          <p:cNvCxnSpPr>
            <a:cxnSpLocks/>
          </p:cNvCxnSpPr>
          <p:nvPr/>
        </p:nvCxnSpPr>
        <p:spPr>
          <a:xfrm flipH="1">
            <a:off x="1702201" y="1302597"/>
            <a:ext cx="524997" cy="1136011"/>
          </a:xfrm>
          <a:prstGeom prst="line">
            <a:avLst/>
          </a:prstGeom>
          <a:ln w="28575">
            <a:solidFill>
              <a:srgbClr val="3333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76526FC-C05C-4E64-997E-52D8FE884DFF}"/>
              </a:ext>
            </a:extLst>
          </p:cNvPr>
          <p:cNvCxnSpPr>
            <a:cxnSpLocks/>
          </p:cNvCxnSpPr>
          <p:nvPr/>
        </p:nvCxnSpPr>
        <p:spPr>
          <a:xfrm>
            <a:off x="2323522" y="1298191"/>
            <a:ext cx="538697" cy="1147321"/>
          </a:xfrm>
          <a:prstGeom prst="line">
            <a:avLst/>
          </a:prstGeom>
          <a:ln w="28575">
            <a:solidFill>
              <a:srgbClr val="3333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9022411"/>
      </p:ext>
    </p:extLst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303995" y="0"/>
            <a:ext cx="2304415" cy="548005"/>
          </a:xfrm>
          <a:custGeom>
            <a:avLst/>
            <a:gdLst/>
            <a:ahLst/>
            <a:cxnLst/>
            <a:rect l="l" t="t" r="r" b="b"/>
            <a:pathLst>
              <a:path w="2304415" h="548005">
                <a:moveTo>
                  <a:pt x="2303995" y="0"/>
                </a:moveTo>
                <a:lnTo>
                  <a:pt x="0" y="0"/>
                </a:lnTo>
                <a:lnTo>
                  <a:pt x="0" y="548004"/>
                </a:lnTo>
                <a:lnTo>
                  <a:pt x="2303995" y="548004"/>
                </a:lnTo>
                <a:lnTo>
                  <a:pt x="230399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2411996" y="201693"/>
            <a:ext cx="388620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endParaRPr sz="6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2564" y="1129101"/>
            <a:ext cx="3682861" cy="76880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37465">
              <a:lnSpc>
                <a:spcPct val="150000"/>
              </a:lnSpc>
              <a:spcBef>
                <a:spcPts val="595"/>
              </a:spcBef>
              <a:buClr>
                <a:srgbClr val="3333B2"/>
              </a:buClr>
              <a:buSzPct val="80000"/>
              <a:tabLst>
                <a:tab pos="186690" algn="l"/>
              </a:tabLst>
            </a:pPr>
            <a:endParaRPr lang="en-US" sz="1000" dirty="0">
              <a:latin typeface="Tahoma"/>
              <a:cs typeface="Tahoma"/>
            </a:endParaRPr>
          </a:p>
          <a:p>
            <a:pPr marL="37465">
              <a:lnSpc>
                <a:spcPct val="100000"/>
              </a:lnSpc>
              <a:spcBef>
                <a:spcPts val="595"/>
              </a:spcBef>
              <a:buClr>
                <a:srgbClr val="3333B2"/>
              </a:buClr>
              <a:buSzPct val="80000"/>
              <a:tabLst>
                <a:tab pos="186690" algn="l"/>
              </a:tabLst>
            </a:pPr>
            <a:r>
              <a:rPr lang="en-US" sz="1000" dirty="0">
                <a:latin typeface="Tahoma"/>
                <a:cs typeface="Tahoma"/>
              </a:rPr>
              <a:t> </a:t>
            </a:r>
          </a:p>
          <a:p>
            <a:pPr marL="37465">
              <a:lnSpc>
                <a:spcPct val="100000"/>
              </a:lnSpc>
              <a:spcBef>
                <a:spcPts val="595"/>
              </a:spcBef>
              <a:buClr>
                <a:srgbClr val="3333B2"/>
              </a:buClr>
              <a:buSzPct val="80000"/>
              <a:tabLst>
                <a:tab pos="186690" algn="l"/>
              </a:tabLst>
            </a:pPr>
            <a:endParaRPr sz="1000" dirty="0">
              <a:latin typeface="Tahoma"/>
              <a:cs typeface="Tahoma"/>
            </a:endParaRPr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BAB1440E-408D-4FB7-AEDE-4FA1072F1AAC}"/>
              </a:ext>
            </a:extLst>
          </p:cNvPr>
          <p:cNvSpPr txBox="1"/>
          <p:nvPr/>
        </p:nvSpPr>
        <p:spPr>
          <a:xfrm>
            <a:off x="-396247" y="-33091"/>
            <a:ext cx="2700242" cy="666721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464945" marR="5715" indent="173355" algn="r">
              <a:lnSpc>
                <a:spcPts val="670"/>
              </a:lnSpc>
              <a:spcBef>
                <a:spcPts val="160"/>
              </a:spcBef>
            </a:pPr>
            <a:r>
              <a:rPr lang="en-US" sz="500" b="1" spc="-20" dirty="0">
                <a:solidFill>
                  <a:srgbClr val="7F7F7F"/>
                </a:solidFill>
                <a:latin typeface="Arial"/>
                <a:cs typeface="Arial"/>
              </a:rPr>
              <a:t>Introduction</a:t>
            </a:r>
          </a:p>
          <a:p>
            <a:pPr marL="1464945" marR="5715" indent="173355" algn="r">
              <a:lnSpc>
                <a:spcPts val="670"/>
              </a:lnSpc>
              <a:spcBef>
                <a:spcPts val="160"/>
              </a:spcBef>
            </a:pPr>
            <a:r>
              <a:rPr lang="en-US" sz="500" b="1" dirty="0">
                <a:solidFill>
                  <a:srgbClr val="7F7F7F"/>
                </a:solidFill>
                <a:latin typeface="Arial"/>
                <a:cs typeface="Arial"/>
              </a:rPr>
              <a:t>Transmission Channels</a:t>
            </a:r>
            <a:endParaRPr sz="500" dirty="0">
              <a:latin typeface="Arial"/>
              <a:cs typeface="Arial"/>
            </a:endParaRP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Empirical Strategies</a:t>
            </a: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bg1"/>
                </a:solidFill>
                <a:latin typeface="Arial"/>
                <a:cs typeface="Arial"/>
              </a:rPr>
              <a:t>A Survey of the Empirical Literature</a:t>
            </a: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Discussion</a:t>
            </a: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Conclusion</a:t>
            </a:r>
            <a:endParaRPr lang="en-US" sz="500" b="1" spc="-10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cs typeface="Arial"/>
            </a:endParaRPr>
          </a:p>
          <a:p>
            <a:pPr marR="6350" algn="r">
              <a:lnSpc>
                <a:spcPts val="695"/>
              </a:lnSpc>
            </a:pPr>
            <a:endParaRPr sz="500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cs typeface="Arial"/>
            </a:endParaRPr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0B5D02D9-2386-46E8-8B72-D98A03C785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7905407"/>
              </p:ext>
            </p:extLst>
          </p:nvPr>
        </p:nvGraphicFramePr>
        <p:xfrm>
          <a:off x="312817" y="725300"/>
          <a:ext cx="4125833" cy="26209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object 4">
            <a:extLst>
              <a:ext uri="{FF2B5EF4-FFF2-40B4-BE49-F238E27FC236}">
                <a16:creationId xmlns:a16="http://schemas.microsoft.com/office/drawing/2014/main" id="{63813EC6-5E80-4EBC-A50D-CCA1664CBAB5}"/>
              </a:ext>
            </a:extLst>
          </p:cNvPr>
          <p:cNvSpPr txBox="1"/>
          <p:nvPr/>
        </p:nvSpPr>
        <p:spPr>
          <a:xfrm>
            <a:off x="2348267" y="139485"/>
            <a:ext cx="1721854" cy="448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n-US" sz="5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Measures of the variables</a:t>
            </a:r>
          </a:p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n-US" sz="50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Type of Monetary Policy Change</a:t>
            </a:r>
          </a:p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n-US" sz="5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Empirical Strategies and Econometric Models</a:t>
            </a: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lang="en-US" sz="500" dirty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500" dirty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9500843"/>
      </p:ext>
    </p:extLst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303995" y="0"/>
            <a:ext cx="2304415" cy="548005"/>
          </a:xfrm>
          <a:custGeom>
            <a:avLst/>
            <a:gdLst/>
            <a:ahLst/>
            <a:cxnLst/>
            <a:rect l="l" t="t" r="r" b="b"/>
            <a:pathLst>
              <a:path w="2304415" h="548005">
                <a:moveTo>
                  <a:pt x="2303995" y="0"/>
                </a:moveTo>
                <a:lnTo>
                  <a:pt x="0" y="0"/>
                </a:lnTo>
                <a:lnTo>
                  <a:pt x="0" y="548004"/>
                </a:lnTo>
                <a:lnTo>
                  <a:pt x="2303995" y="548004"/>
                </a:lnTo>
                <a:lnTo>
                  <a:pt x="230399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2411996" y="201693"/>
            <a:ext cx="388620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endParaRPr sz="6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2564" y="1129101"/>
            <a:ext cx="3682861" cy="76880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37465">
              <a:lnSpc>
                <a:spcPct val="150000"/>
              </a:lnSpc>
              <a:spcBef>
                <a:spcPts val="595"/>
              </a:spcBef>
              <a:buClr>
                <a:srgbClr val="3333B2"/>
              </a:buClr>
              <a:buSzPct val="80000"/>
              <a:tabLst>
                <a:tab pos="186690" algn="l"/>
              </a:tabLst>
            </a:pPr>
            <a:endParaRPr lang="en-US" sz="1000" dirty="0">
              <a:latin typeface="Tahoma"/>
              <a:cs typeface="Tahoma"/>
            </a:endParaRPr>
          </a:p>
          <a:p>
            <a:pPr marL="37465">
              <a:lnSpc>
                <a:spcPct val="100000"/>
              </a:lnSpc>
              <a:spcBef>
                <a:spcPts val="595"/>
              </a:spcBef>
              <a:buClr>
                <a:srgbClr val="3333B2"/>
              </a:buClr>
              <a:buSzPct val="80000"/>
              <a:tabLst>
                <a:tab pos="186690" algn="l"/>
              </a:tabLst>
            </a:pPr>
            <a:r>
              <a:rPr lang="en-US" sz="1000" dirty="0">
                <a:latin typeface="Tahoma"/>
                <a:cs typeface="Tahoma"/>
              </a:rPr>
              <a:t> </a:t>
            </a:r>
          </a:p>
          <a:p>
            <a:pPr marL="37465">
              <a:lnSpc>
                <a:spcPct val="100000"/>
              </a:lnSpc>
              <a:spcBef>
                <a:spcPts val="595"/>
              </a:spcBef>
              <a:buClr>
                <a:srgbClr val="3333B2"/>
              </a:buClr>
              <a:buSzPct val="80000"/>
              <a:tabLst>
                <a:tab pos="186690" algn="l"/>
              </a:tabLst>
            </a:pPr>
            <a:endParaRPr sz="1000" dirty="0">
              <a:latin typeface="Tahoma"/>
              <a:cs typeface="Tahoma"/>
            </a:endParaRPr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BAB1440E-408D-4FB7-AEDE-4FA1072F1AAC}"/>
              </a:ext>
            </a:extLst>
          </p:cNvPr>
          <p:cNvSpPr txBox="1"/>
          <p:nvPr/>
        </p:nvSpPr>
        <p:spPr>
          <a:xfrm>
            <a:off x="-396247" y="-33091"/>
            <a:ext cx="2700242" cy="666721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464945" marR="5715" indent="173355" algn="r">
              <a:lnSpc>
                <a:spcPts val="670"/>
              </a:lnSpc>
              <a:spcBef>
                <a:spcPts val="160"/>
              </a:spcBef>
            </a:pPr>
            <a:r>
              <a:rPr lang="en-US" sz="500" b="1" spc="-20" dirty="0">
                <a:solidFill>
                  <a:srgbClr val="7F7F7F"/>
                </a:solidFill>
                <a:latin typeface="Arial"/>
                <a:cs typeface="Arial"/>
              </a:rPr>
              <a:t>Introduction</a:t>
            </a:r>
          </a:p>
          <a:p>
            <a:pPr marL="1464945" marR="5715" indent="173355" algn="r">
              <a:lnSpc>
                <a:spcPts val="670"/>
              </a:lnSpc>
              <a:spcBef>
                <a:spcPts val="160"/>
              </a:spcBef>
            </a:pPr>
            <a:r>
              <a:rPr lang="en-US" sz="500" b="1" dirty="0">
                <a:solidFill>
                  <a:srgbClr val="7F7F7F"/>
                </a:solidFill>
                <a:latin typeface="Arial"/>
                <a:cs typeface="Arial"/>
              </a:rPr>
              <a:t>Transmission Channels</a:t>
            </a:r>
            <a:endParaRPr sz="500" dirty="0">
              <a:latin typeface="Arial"/>
              <a:cs typeface="Arial"/>
            </a:endParaRP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Empirical Strategies</a:t>
            </a: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bg1"/>
                </a:solidFill>
                <a:latin typeface="Arial"/>
                <a:cs typeface="Arial"/>
              </a:rPr>
              <a:t>A Survey of the Empirical Literature</a:t>
            </a: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Discussion</a:t>
            </a: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Conclusion</a:t>
            </a:r>
            <a:endParaRPr lang="en-US" sz="500" b="1" spc="-10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cs typeface="Arial"/>
            </a:endParaRPr>
          </a:p>
          <a:p>
            <a:pPr marR="6350" algn="r">
              <a:lnSpc>
                <a:spcPts val="695"/>
              </a:lnSpc>
            </a:pPr>
            <a:endParaRPr sz="500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cs typeface="Arial"/>
            </a:endParaRPr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0B5D02D9-2386-46E8-8B72-D98A03C785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8547479"/>
              </p:ext>
            </p:extLst>
          </p:nvPr>
        </p:nvGraphicFramePr>
        <p:xfrm>
          <a:off x="247650" y="693818"/>
          <a:ext cx="3982355" cy="25093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object 4">
            <a:extLst>
              <a:ext uri="{FF2B5EF4-FFF2-40B4-BE49-F238E27FC236}">
                <a16:creationId xmlns:a16="http://schemas.microsoft.com/office/drawing/2014/main" id="{E653820E-50D3-4AB3-9D2F-CB2E580A829D}"/>
              </a:ext>
            </a:extLst>
          </p:cNvPr>
          <p:cNvSpPr txBox="1"/>
          <p:nvPr/>
        </p:nvSpPr>
        <p:spPr>
          <a:xfrm>
            <a:off x="2378730" y="139670"/>
            <a:ext cx="1650960" cy="2686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n-US" sz="50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Studies on unconventional MP</a:t>
            </a:r>
            <a:endParaRPr lang="en-US" sz="500" spc="-20" dirty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n-US" sz="500" dirty="0">
                <a:solidFill>
                  <a:srgbClr val="7F7F7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Studies on conventional MP</a:t>
            </a:r>
          </a:p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n-US" sz="500" dirty="0">
                <a:solidFill>
                  <a:srgbClr val="7F7F7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Studies on both MPs</a:t>
            </a:r>
          </a:p>
        </p:txBody>
      </p:sp>
    </p:spTree>
    <p:extLst>
      <p:ext uri="{BB962C8B-B14F-4D97-AF65-F5344CB8AC3E}">
        <p14:creationId xmlns:p14="http://schemas.microsoft.com/office/powerpoint/2010/main" val="2289240845"/>
      </p:ext>
    </p:extLst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303995" y="0"/>
            <a:ext cx="2304415" cy="548005"/>
          </a:xfrm>
          <a:custGeom>
            <a:avLst/>
            <a:gdLst/>
            <a:ahLst/>
            <a:cxnLst/>
            <a:rect l="l" t="t" r="r" b="b"/>
            <a:pathLst>
              <a:path w="2304415" h="548005">
                <a:moveTo>
                  <a:pt x="2303995" y="0"/>
                </a:moveTo>
                <a:lnTo>
                  <a:pt x="0" y="0"/>
                </a:lnTo>
                <a:lnTo>
                  <a:pt x="0" y="548004"/>
                </a:lnTo>
                <a:lnTo>
                  <a:pt x="2303995" y="548004"/>
                </a:lnTo>
                <a:lnTo>
                  <a:pt x="230399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2411996" y="201693"/>
            <a:ext cx="388620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endParaRPr sz="600" dirty="0">
              <a:latin typeface="Arial"/>
              <a:cs typeface="Arial"/>
            </a:endParaRPr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AEED48AA-EBED-4D93-B003-FCC4982D961E}"/>
              </a:ext>
            </a:extLst>
          </p:cNvPr>
          <p:cNvSpPr txBox="1"/>
          <p:nvPr/>
        </p:nvSpPr>
        <p:spPr>
          <a:xfrm>
            <a:off x="-396247" y="-33091"/>
            <a:ext cx="2700242" cy="666721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464945" marR="5715" indent="173355" algn="r">
              <a:lnSpc>
                <a:spcPts val="670"/>
              </a:lnSpc>
              <a:spcBef>
                <a:spcPts val="160"/>
              </a:spcBef>
            </a:pPr>
            <a:r>
              <a:rPr lang="en-US" sz="500" b="1" spc="-20" dirty="0">
                <a:solidFill>
                  <a:srgbClr val="7F7F7F"/>
                </a:solidFill>
                <a:latin typeface="Arial"/>
                <a:cs typeface="Arial"/>
              </a:rPr>
              <a:t>Introduction</a:t>
            </a:r>
          </a:p>
          <a:p>
            <a:pPr marL="1464945" marR="5715" indent="173355" algn="r">
              <a:lnSpc>
                <a:spcPts val="670"/>
              </a:lnSpc>
              <a:spcBef>
                <a:spcPts val="160"/>
              </a:spcBef>
            </a:pPr>
            <a:r>
              <a:rPr lang="en-US" sz="500" b="1" dirty="0">
                <a:solidFill>
                  <a:srgbClr val="7F7F7F"/>
                </a:solidFill>
                <a:latin typeface="Arial"/>
                <a:cs typeface="Arial"/>
              </a:rPr>
              <a:t>Transmission Channels</a:t>
            </a:r>
            <a:endParaRPr sz="500" dirty="0">
              <a:latin typeface="Arial"/>
              <a:cs typeface="Arial"/>
            </a:endParaRP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Empirical Strategies</a:t>
            </a: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bg1"/>
                </a:solidFill>
                <a:latin typeface="Arial"/>
                <a:cs typeface="Arial"/>
              </a:rPr>
              <a:t>A Survey of the Empirical Literature</a:t>
            </a: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Discussion</a:t>
            </a: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Conclusion</a:t>
            </a:r>
            <a:endParaRPr lang="en-US" sz="500" b="1" spc="-10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cs typeface="Arial"/>
            </a:endParaRPr>
          </a:p>
          <a:p>
            <a:pPr marR="6350" algn="r">
              <a:lnSpc>
                <a:spcPts val="695"/>
              </a:lnSpc>
            </a:pPr>
            <a:endParaRPr sz="500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cs typeface="Arial"/>
            </a:endParaRPr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EF8BF868-6E70-466C-810B-26932CD84E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1876380"/>
              </p:ext>
            </p:extLst>
          </p:nvPr>
        </p:nvGraphicFramePr>
        <p:xfrm>
          <a:off x="76090" y="966128"/>
          <a:ext cx="4323932" cy="24406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object 5">
            <a:extLst>
              <a:ext uri="{FF2B5EF4-FFF2-40B4-BE49-F238E27FC236}">
                <a16:creationId xmlns:a16="http://schemas.microsoft.com/office/drawing/2014/main" id="{AF562104-245F-4DC4-B341-DC3DCC7168B1}"/>
              </a:ext>
            </a:extLst>
          </p:cNvPr>
          <p:cNvSpPr txBox="1"/>
          <p:nvPr/>
        </p:nvSpPr>
        <p:spPr>
          <a:xfrm>
            <a:off x="0" y="548005"/>
            <a:ext cx="4608195" cy="246862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lang="en-US" sz="1100" dirty="0">
                <a:solidFill>
                  <a:srgbClr val="FFFFFF"/>
                </a:solidFill>
                <a:latin typeface="Tahoma"/>
                <a:cs typeface="Tahoma"/>
              </a:rPr>
              <a:t>1. Studies dealing with the distributional effects of Unconventional MP</a:t>
            </a: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45637B95-A677-4A75-B7DD-218D8804AA0E}"/>
              </a:ext>
            </a:extLst>
          </p:cNvPr>
          <p:cNvSpPr txBox="1"/>
          <p:nvPr/>
        </p:nvSpPr>
        <p:spPr>
          <a:xfrm>
            <a:off x="2384416" y="165937"/>
            <a:ext cx="1650960" cy="2686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n-US" sz="5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Studies on unconventional MP</a:t>
            </a:r>
            <a:endParaRPr lang="en-US" sz="500" spc="-2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n-US" sz="500" dirty="0">
                <a:solidFill>
                  <a:srgbClr val="7F7F7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Studies on conventional MP</a:t>
            </a:r>
          </a:p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n-US" sz="500" dirty="0">
                <a:solidFill>
                  <a:srgbClr val="7F7F7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Studies on both MPs</a:t>
            </a:r>
          </a:p>
        </p:txBody>
      </p:sp>
    </p:spTree>
    <p:extLst>
      <p:ext uri="{BB962C8B-B14F-4D97-AF65-F5344CB8AC3E}">
        <p14:creationId xmlns:p14="http://schemas.microsoft.com/office/powerpoint/2010/main" val="3152599158"/>
      </p:ext>
    </p:extLst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302358" y="0"/>
            <a:ext cx="2304415" cy="548005"/>
          </a:xfrm>
          <a:custGeom>
            <a:avLst/>
            <a:gdLst/>
            <a:ahLst/>
            <a:cxnLst/>
            <a:rect l="l" t="t" r="r" b="b"/>
            <a:pathLst>
              <a:path w="2304415" h="548005">
                <a:moveTo>
                  <a:pt x="2303995" y="0"/>
                </a:moveTo>
                <a:lnTo>
                  <a:pt x="0" y="0"/>
                </a:lnTo>
                <a:lnTo>
                  <a:pt x="0" y="548004"/>
                </a:lnTo>
                <a:lnTo>
                  <a:pt x="2303995" y="548004"/>
                </a:lnTo>
                <a:lnTo>
                  <a:pt x="230399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11996" y="201693"/>
            <a:ext cx="388620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endParaRPr sz="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AEED48AA-EBED-4D93-B003-FCC4982D961E}"/>
              </a:ext>
            </a:extLst>
          </p:cNvPr>
          <p:cNvSpPr txBox="1"/>
          <p:nvPr/>
        </p:nvSpPr>
        <p:spPr>
          <a:xfrm>
            <a:off x="-396247" y="-33091"/>
            <a:ext cx="2700242" cy="666721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464945" marR="5715" indent="173355" algn="r">
              <a:lnSpc>
                <a:spcPts val="670"/>
              </a:lnSpc>
              <a:spcBef>
                <a:spcPts val="160"/>
              </a:spcBef>
            </a:pPr>
            <a:r>
              <a:rPr lang="en-US" sz="500" b="1" spc="-20" dirty="0">
                <a:solidFill>
                  <a:srgbClr val="7F7F7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Introduction</a:t>
            </a:r>
          </a:p>
          <a:p>
            <a:pPr marL="1464945" marR="5715" indent="173355" algn="r">
              <a:lnSpc>
                <a:spcPts val="670"/>
              </a:lnSpc>
              <a:spcBef>
                <a:spcPts val="160"/>
              </a:spcBef>
            </a:pPr>
            <a:r>
              <a:rPr lang="en-US" sz="500" b="1" dirty="0">
                <a:solidFill>
                  <a:srgbClr val="7F7F7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Transmission Channels</a:t>
            </a:r>
            <a:endParaRPr sz="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Empirical Strategies</a:t>
            </a: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Survey of the Empirical Literature</a:t>
            </a: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Discussion</a:t>
            </a: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Conclusion</a:t>
            </a:r>
            <a:endParaRPr lang="en-US" sz="500" b="1" spc="-10" dirty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R="6350" algn="r">
              <a:lnSpc>
                <a:spcPts val="695"/>
              </a:lnSpc>
            </a:pPr>
            <a:endParaRPr sz="500" dirty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EF8BF868-6E70-466C-810B-26932CD84E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43518406"/>
              </p:ext>
            </p:extLst>
          </p:nvPr>
        </p:nvGraphicFramePr>
        <p:xfrm>
          <a:off x="76090" y="966128"/>
          <a:ext cx="4323932" cy="24901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object 5">
            <a:extLst>
              <a:ext uri="{FF2B5EF4-FFF2-40B4-BE49-F238E27FC236}">
                <a16:creationId xmlns:a16="http://schemas.microsoft.com/office/drawing/2014/main" id="{EFE45B6C-68DC-4536-B967-7ECFF7F020F1}"/>
              </a:ext>
            </a:extLst>
          </p:cNvPr>
          <p:cNvSpPr txBox="1"/>
          <p:nvPr/>
        </p:nvSpPr>
        <p:spPr>
          <a:xfrm>
            <a:off x="-1422" y="543290"/>
            <a:ext cx="4608195" cy="246862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lang="en-US" sz="110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 Studies dealing with the distributional effects of conventional MP</a:t>
            </a: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8C9E2EA0-15BA-4131-B106-02B46EF0A4A5}"/>
              </a:ext>
            </a:extLst>
          </p:cNvPr>
          <p:cNvSpPr txBox="1"/>
          <p:nvPr/>
        </p:nvSpPr>
        <p:spPr>
          <a:xfrm>
            <a:off x="2331335" y="156086"/>
            <a:ext cx="1650960" cy="2686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n-US" sz="50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Studies on unconventional MP</a:t>
            </a:r>
            <a:endParaRPr lang="en-US" sz="500" spc="-20" dirty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n-US" sz="5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Studies on conventional MP</a:t>
            </a:r>
          </a:p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n-US" sz="500" dirty="0">
                <a:solidFill>
                  <a:srgbClr val="7F7F7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Studies on both MPs</a:t>
            </a:r>
          </a:p>
        </p:txBody>
      </p:sp>
    </p:spTree>
    <p:extLst>
      <p:ext uri="{BB962C8B-B14F-4D97-AF65-F5344CB8AC3E}">
        <p14:creationId xmlns:p14="http://schemas.microsoft.com/office/powerpoint/2010/main" val="2261574913"/>
      </p:ext>
    </p:extLst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303995" y="0"/>
            <a:ext cx="2304415" cy="548005"/>
          </a:xfrm>
          <a:custGeom>
            <a:avLst/>
            <a:gdLst/>
            <a:ahLst/>
            <a:cxnLst/>
            <a:rect l="l" t="t" r="r" b="b"/>
            <a:pathLst>
              <a:path w="2304415" h="548005">
                <a:moveTo>
                  <a:pt x="2303995" y="0"/>
                </a:moveTo>
                <a:lnTo>
                  <a:pt x="0" y="0"/>
                </a:lnTo>
                <a:lnTo>
                  <a:pt x="0" y="548004"/>
                </a:lnTo>
                <a:lnTo>
                  <a:pt x="2303995" y="548004"/>
                </a:lnTo>
                <a:lnTo>
                  <a:pt x="230399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2411996" y="201693"/>
            <a:ext cx="388620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endParaRPr sz="600" dirty="0">
              <a:latin typeface="Arial"/>
              <a:cs typeface="Arial"/>
            </a:endParaRPr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AEED48AA-EBED-4D93-B003-FCC4982D961E}"/>
              </a:ext>
            </a:extLst>
          </p:cNvPr>
          <p:cNvSpPr txBox="1"/>
          <p:nvPr/>
        </p:nvSpPr>
        <p:spPr>
          <a:xfrm>
            <a:off x="-396247" y="-33091"/>
            <a:ext cx="2700242" cy="666721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464945" marR="5715" indent="173355" algn="r">
              <a:lnSpc>
                <a:spcPts val="670"/>
              </a:lnSpc>
              <a:spcBef>
                <a:spcPts val="160"/>
              </a:spcBef>
            </a:pPr>
            <a:r>
              <a:rPr lang="en-US" sz="500" b="1" spc="-20" dirty="0">
                <a:solidFill>
                  <a:srgbClr val="7F7F7F"/>
                </a:solidFill>
                <a:latin typeface="Arial"/>
                <a:cs typeface="Arial"/>
              </a:rPr>
              <a:t>Introduction</a:t>
            </a:r>
          </a:p>
          <a:p>
            <a:pPr marL="1464945" marR="5715" indent="173355" algn="r">
              <a:lnSpc>
                <a:spcPts val="670"/>
              </a:lnSpc>
              <a:spcBef>
                <a:spcPts val="160"/>
              </a:spcBef>
            </a:pPr>
            <a:r>
              <a:rPr lang="en-US" sz="500" b="1" dirty="0">
                <a:solidFill>
                  <a:srgbClr val="7F7F7F"/>
                </a:solidFill>
                <a:latin typeface="Arial"/>
                <a:cs typeface="Arial"/>
              </a:rPr>
              <a:t>Transmission Channels</a:t>
            </a:r>
            <a:endParaRPr sz="500" dirty="0">
              <a:latin typeface="Arial"/>
              <a:cs typeface="Arial"/>
            </a:endParaRP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Empirical Strategies</a:t>
            </a: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bg1"/>
                </a:solidFill>
                <a:latin typeface="Arial"/>
                <a:cs typeface="Arial"/>
              </a:rPr>
              <a:t>A Survey of the Empirical Literature</a:t>
            </a: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Discussion</a:t>
            </a: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Conclusion</a:t>
            </a:r>
            <a:endParaRPr lang="en-US" sz="500" b="1" spc="-10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cs typeface="Arial"/>
            </a:endParaRPr>
          </a:p>
          <a:p>
            <a:pPr marR="6350" algn="r">
              <a:lnSpc>
                <a:spcPts val="695"/>
              </a:lnSpc>
            </a:pPr>
            <a:endParaRPr sz="500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cs typeface="Arial"/>
            </a:endParaRPr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EF8BF868-6E70-466C-810B-26932CD84E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3809462"/>
              </p:ext>
            </p:extLst>
          </p:nvPr>
        </p:nvGraphicFramePr>
        <p:xfrm>
          <a:off x="171450" y="970072"/>
          <a:ext cx="4275725" cy="24906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object 5">
            <a:extLst>
              <a:ext uri="{FF2B5EF4-FFF2-40B4-BE49-F238E27FC236}">
                <a16:creationId xmlns:a16="http://schemas.microsoft.com/office/drawing/2014/main" id="{7631DFF1-2F18-421D-AE0B-F886BEE55590}"/>
              </a:ext>
            </a:extLst>
          </p:cNvPr>
          <p:cNvSpPr txBox="1"/>
          <p:nvPr/>
        </p:nvSpPr>
        <p:spPr>
          <a:xfrm>
            <a:off x="0" y="548005"/>
            <a:ext cx="4608195" cy="246862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lang="en-US" sz="1100" dirty="0">
                <a:solidFill>
                  <a:srgbClr val="FFFFFF"/>
                </a:solidFill>
                <a:latin typeface="Tahoma"/>
                <a:cs typeface="Tahoma"/>
              </a:rPr>
              <a:t>3. Studies dealing with the distributional effects of both MPs</a:t>
            </a: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7FA1D8DA-31EE-4509-9C28-6C0DC5152C47}"/>
              </a:ext>
            </a:extLst>
          </p:cNvPr>
          <p:cNvSpPr txBox="1"/>
          <p:nvPr/>
        </p:nvSpPr>
        <p:spPr>
          <a:xfrm>
            <a:off x="2398064" y="165937"/>
            <a:ext cx="1650960" cy="2686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n-US" sz="50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Studies on unconventional MP</a:t>
            </a:r>
            <a:endParaRPr lang="en-US" sz="500" spc="-20" dirty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n-US" sz="50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Studies on conventional MP</a:t>
            </a:r>
          </a:p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n-US" sz="5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Studies on both MPs</a:t>
            </a:r>
          </a:p>
        </p:txBody>
      </p:sp>
    </p:spTree>
    <p:extLst>
      <p:ext uri="{BB962C8B-B14F-4D97-AF65-F5344CB8AC3E}">
        <p14:creationId xmlns:p14="http://schemas.microsoft.com/office/powerpoint/2010/main" val="111651816"/>
      </p:ext>
    </p:extLst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303995" y="0"/>
            <a:ext cx="2304415" cy="548005"/>
          </a:xfrm>
          <a:custGeom>
            <a:avLst/>
            <a:gdLst/>
            <a:ahLst/>
            <a:cxnLst/>
            <a:rect l="l" t="t" r="r" b="b"/>
            <a:pathLst>
              <a:path w="2304415" h="548005">
                <a:moveTo>
                  <a:pt x="2303995" y="0"/>
                </a:moveTo>
                <a:lnTo>
                  <a:pt x="0" y="0"/>
                </a:lnTo>
                <a:lnTo>
                  <a:pt x="0" y="548004"/>
                </a:lnTo>
                <a:lnTo>
                  <a:pt x="2303995" y="548004"/>
                </a:lnTo>
                <a:lnTo>
                  <a:pt x="230399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11996" y="201693"/>
            <a:ext cx="388620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endParaRPr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AEED48AA-EBED-4D93-B003-FCC4982D961E}"/>
              </a:ext>
            </a:extLst>
          </p:cNvPr>
          <p:cNvSpPr txBox="1"/>
          <p:nvPr/>
        </p:nvSpPr>
        <p:spPr>
          <a:xfrm>
            <a:off x="-396247" y="-33091"/>
            <a:ext cx="2700242" cy="666721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464945" marR="5715" indent="173355" algn="r">
              <a:lnSpc>
                <a:spcPts val="670"/>
              </a:lnSpc>
              <a:spcBef>
                <a:spcPts val="160"/>
              </a:spcBef>
            </a:pPr>
            <a:r>
              <a:rPr lang="en-US" sz="500" b="1" spc="-20" dirty="0">
                <a:solidFill>
                  <a:srgbClr val="7F7F7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Introduction</a:t>
            </a:r>
          </a:p>
          <a:p>
            <a:pPr marL="1464945" marR="5715" indent="173355" algn="r">
              <a:lnSpc>
                <a:spcPts val="670"/>
              </a:lnSpc>
              <a:spcBef>
                <a:spcPts val="160"/>
              </a:spcBef>
            </a:pPr>
            <a:r>
              <a:rPr lang="en-US" sz="500" b="1" dirty="0">
                <a:solidFill>
                  <a:srgbClr val="7F7F7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Transmission Channels</a:t>
            </a:r>
            <a:endParaRPr sz="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Empirical Strategies</a:t>
            </a: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Survey of the Empirical Literature</a:t>
            </a: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Discussion</a:t>
            </a: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Conclusion</a:t>
            </a:r>
            <a:endParaRPr lang="en-US" sz="500" b="1" spc="-10" dirty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R="6350" algn="r">
              <a:lnSpc>
                <a:spcPts val="695"/>
              </a:lnSpc>
            </a:pPr>
            <a:endParaRPr sz="500" dirty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489AD079-2D92-45AF-8E90-9A049DE70002}"/>
              </a:ext>
            </a:extLst>
          </p:cNvPr>
          <p:cNvSpPr txBox="1"/>
          <p:nvPr/>
        </p:nvSpPr>
        <p:spPr>
          <a:xfrm>
            <a:off x="0" y="548005"/>
            <a:ext cx="4608195" cy="293029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FD89496-B32D-409C-8887-CBB6613F2968}"/>
              </a:ext>
            </a:extLst>
          </p:cNvPr>
          <p:cNvGrpSpPr/>
          <p:nvPr/>
        </p:nvGrpSpPr>
        <p:grpSpPr>
          <a:xfrm>
            <a:off x="1197522" y="960945"/>
            <a:ext cx="2119487" cy="766870"/>
            <a:chOff x="1711317" y="2036"/>
            <a:chExt cx="2162207" cy="121893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85CDE687-7B7E-4021-A6DA-E5F07E671C71}"/>
                </a:ext>
              </a:extLst>
            </p:cNvPr>
            <p:cNvSpPr/>
            <p:nvPr/>
          </p:nvSpPr>
          <p:spPr>
            <a:xfrm>
              <a:off x="1711317" y="2036"/>
              <a:ext cx="2162207" cy="1218938"/>
            </a:xfrm>
            <a:prstGeom prst="roundRect">
              <a:avLst>
                <a:gd name="adj" fmla="val 10000"/>
              </a:avLst>
            </a:prstGeom>
            <a:ln>
              <a:solidFill>
                <a:srgbClr val="3333B2"/>
              </a:solidFill>
            </a:ln>
          </p:spPr>
          <p:style>
            <a:lnRef idx="3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Rectangle: Rounded Corners 4">
              <a:extLst>
                <a:ext uri="{FF2B5EF4-FFF2-40B4-BE49-F238E27FC236}">
                  <a16:creationId xmlns:a16="http://schemas.microsoft.com/office/drawing/2014/main" id="{307F6C63-23A5-4AFB-89B6-B2A04FEDE93F}"/>
                </a:ext>
              </a:extLst>
            </p:cNvPr>
            <p:cNvSpPr txBox="1"/>
            <p:nvPr/>
          </p:nvSpPr>
          <p:spPr>
            <a:xfrm>
              <a:off x="1747019" y="37737"/>
              <a:ext cx="2083786" cy="113542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350" tIns="6350" rIns="6350" bIns="6350" numCol="1" spcCol="1270" anchor="ctr" anchorCtr="0">
              <a:no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000" b="1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Mixed results</a:t>
              </a:r>
            </a:p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000" b="1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 </a:t>
              </a:r>
              <a:r>
                <a:rPr lang="en-US" sz="8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evidence tends more towards  that expansionary monetary policy decreases inequality, or that contractionary monetary policy increases income inequality.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D36FFA5-DB64-44E1-B209-ADAD2FCAA5DB}"/>
              </a:ext>
            </a:extLst>
          </p:cNvPr>
          <p:cNvGrpSpPr/>
          <p:nvPr/>
        </p:nvGrpSpPr>
        <p:grpSpPr>
          <a:xfrm>
            <a:off x="2352550" y="1922589"/>
            <a:ext cx="2162207" cy="1249021"/>
            <a:chOff x="1711033" y="-54067"/>
            <a:chExt cx="2162207" cy="1249021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C37CA440-BB02-4995-A654-7D79A2582E7D}"/>
                </a:ext>
              </a:extLst>
            </p:cNvPr>
            <p:cNvSpPr/>
            <p:nvPr/>
          </p:nvSpPr>
          <p:spPr>
            <a:xfrm>
              <a:off x="1711033" y="-23984"/>
              <a:ext cx="2162207" cy="1218938"/>
            </a:xfrm>
            <a:prstGeom prst="roundRect">
              <a:avLst>
                <a:gd name="adj" fmla="val 10000"/>
              </a:avLst>
            </a:prstGeom>
            <a:ln>
              <a:solidFill>
                <a:srgbClr val="3333B2"/>
              </a:solidFill>
            </a:ln>
          </p:spPr>
          <p:style>
            <a:lnRef idx="3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Rectangle: Rounded Corners 4">
              <a:extLst>
                <a:ext uri="{FF2B5EF4-FFF2-40B4-BE49-F238E27FC236}">
                  <a16:creationId xmlns:a16="http://schemas.microsoft.com/office/drawing/2014/main" id="{5C2B49D0-FDAC-4E4D-BE5B-0FA857713691}"/>
                </a:ext>
              </a:extLst>
            </p:cNvPr>
            <p:cNvSpPr txBox="1"/>
            <p:nvPr/>
          </p:nvSpPr>
          <p:spPr>
            <a:xfrm>
              <a:off x="1720984" y="-54067"/>
              <a:ext cx="2116839" cy="114753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350" tIns="6350" rIns="6350" bIns="6350" numCol="1" spcCol="1270" anchor="ctr" anchorCtr="0">
              <a:no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000" b="1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Unconventional Monetary Policy </a:t>
              </a:r>
            </a:p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ts val="362"/>
                </a:spcAft>
                <a:buNone/>
              </a:pPr>
              <a:r>
                <a:rPr lang="en-US" sz="8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sz="800" b="1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8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This policy is exclusively expansionary</a:t>
              </a:r>
            </a:p>
            <a:p>
              <a:pPr lvl="0" algn="ctr" defTabSz="444500">
                <a:spcBef>
                  <a:spcPct val="0"/>
                </a:spcBef>
                <a:spcAft>
                  <a:spcPts val="362"/>
                </a:spcAft>
              </a:pPr>
              <a:r>
                <a:rPr lang="en-US" sz="8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 The evidence is less conclusive. The impact of UMP appears to be contingent on the specific country context; A reduction in inequality in Europe but an increase in the US and Japan.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E22B626-0E0A-41F8-AD32-341E815CBF78}"/>
              </a:ext>
            </a:extLst>
          </p:cNvPr>
          <p:cNvGrpSpPr/>
          <p:nvPr/>
        </p:nvGrpSpPr>
        <p:grpSpPr>
          <a:xfrm>
            <a:off x="95059" y="1958975"/>
            <a:ext cx="2162207" cy="1218938"/>
            <a:chOff x="1711317" y="2036"/>
            <a:chExt cx="2162207" cy="1218938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D2ADF288-E389-4F65-B5C1-657CB25A6F5E}"/>
                </a:ext>
              </a:extLst>
            </p:cNvPr>
            <p:cNvSpPr/>
            <p:nvPr/>
          </p:nvSpPr>
          <p:spPr>
            <a:xfrm>
              <a:off x="1711317" y="2036"/>
              <a:ext cx="2162207" cy="1218938"/>
            </a:xfrm>
            <a:prstGeom prst="roundRect">
              <a:avLst>
                <a:gd name="adj" fmla="val 10000"/>
              </a:avLst>
            </a:prstGeom>
            <a:ln>
              <a:solidFill>
                <a:srgbClr val="3333B2"/>
              </a:solidFill>
            </a:ln>
          </p:spPr>
          <p:style>
            <a:lnRef idx="3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: Rounded Corners 4">
              <a:extLst>
                <a:ext uri="{FF2B5EF4-FFF2-40B4-BE49-F238E27FC236}">
                  <a16:creationId xmlns:a16="http://schemas.microsoft.com/office/drawing/2014/main" id="{D192BAB8-7508-438A-9A72-A9B90E08C8E0}"/>
                </a:ext>
              </a:extLst>
            </p:cNvPr>
            <p:cNvSpPr txBox="1"/>
            <p:nvPr/>
          </p:nvSpPr>
          <p:spPr>
            <a:xfrm>
              <a:off x="1747018" y="37737"/>
              <a:ext cx="2126506" cy="114753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350" tIns="6350" rIns="6350" bIns="6350" numCol="1" spcCol="1270" anchor="ctr" anchorCtr="0">
              <a:no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000" b="1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Conventional Monetary Policy</a:t>
              </a:r>
            </a:p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8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 </a:t>
              </a:r>
              <a:r>
                <a:rPr lang="en-US" sz="800" u="sng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Case of expansionary policies</a:t>
              </a:r>
              <a:r>
                <a:rPr lang="en-US" sz="8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three panel data studies covering 43 countries suggest that such measures generally decrease income inequality.</a:t>
              </a:r>
            </a:p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8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 </a:t>
              </a:r>
              <a:r>
                <a:rPr lang="en-US" sz="800" u="sng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Case of contractionary policies, </a:t>
              </a:r>
              <a:r>
                <a:rPr lang="en-US" sz="8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with a focus on some works, mostly single-country studies, the evidence indicates an increase in income inequality for most countries</a:t>
              </a:r>
            </a:p>
          </p:txBody>
        </p:sp>
      </p:grp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C9D0CA6-A5D8-4E68-B3B2-263826CFDF90}"/>
              </a:ext>
            </a:extLst>
          </p:cNvPr>
          <p:cNvCxnSpPr/>
          <p:nvPr/>
        </p:nvCxnSpPr>
        <p:spPr>
          <a:xfrm flipH="1">
            <a:off x="1695450" y="1727815"/>
            <a:ext cx="304800" cy="224857"/>
          </a:xfrm>
          <a:prstGeom prst="straightConnector1">
            <a:avLst/>
          </a:prstGeom>
          <a:ln w="28575">
            <a:solidFill>
              <a:srgbClr val="3333B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FDB92B8-D4F4-4E7D-8ACB-605373FEC22A}"/>
              </a:ext>
            </a:extLst>
          </p:cNvPr>
          <p:cNvCxnSpPr>
            <a:cxnSpLocks/>
          </p:cNvCxnSpPr>
          <p:nvPr/>
        </p:nvCxnSpPr>
        <p:spPr>
          <a:xfrm>
            <a:off x="2586669" y="1736742"/>
            <a:ext cx="327981" cy="215930"/>
          </a:xfrm>
          <a:prstGeom prst="straightConnector1">
            <a:avLst/>
          </a:prstGeom>
          <a:ln w="28575">
            <a:solidFill>
              <a:srgbClr val="3333B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702400"/>
      </p:ext>
    </p:extLst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303995" y="0"/>
            <a:ext cx="2304415" cy="548005"/>
          </a:xfrm>
          <a:custGeom>
            <a:avLst/>
            <a:gdLst/>
            <a:ahLst/>
            <a:cxnLst/>
            <a:rect l="l" t="t" r="r" b="b"/>
            <a:pathLst>
              <a:path w="2304415" h="548005">
                <a:moveTo>
                  <a:pt x="2303995" y="0"/>
                </a:moveTo>
                <a:lnTo>
                  <a:pt x="0" y="0"/>
                </a:lnTo>
                <a:lnTo>
                  <a:pt x="0" y="548004"/>
                </a:lnTo>
                <a:lnTo>
                  <a:pt x="2303995" y="548004"/>
                </a:lnTo>
                <a:lnTo>
                  <a:pt x="230399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 dirty="0">
              <a:latin typeface="+mn-l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11996" y="201693"/>
            <a:ext cx="388620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endParaRPr sz="600" dirty="0">
              <a:latin typeface="+mn-lt"/>
              <a:cs typeface="Arial"/>
            </a:endParaRPr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AEED48AA-EBED-4D93-B003-FCC4982D961E}"/>
              </a:ext>
            </a:extLst>
          </p:cNvPr>
          <p:cNvSpPr txBox="1"/>
          <p:nvPr/>
        </p:nvSpPr>
        <p:spPr>
          <a:xfrm>
            <a:off x="-396247" y="-33091"/>
            <a:ext cx="2700242" cy="666721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464945" marR="5715" indent="173355" algn="r">
              <a:lnSpc>
                <a:spcPts val="670"/>
              </a:lnSpc>
              <a:spcBef>
                <a:spcPts val="160"/>
              </a:spcBef>
            </a:pPr>
            <a:r>
              <a:rPr lang="en-US" sz="500" b="1" spc="-20" dirty="0">
                <a:solidFill>
                  <a:srgbClr val="7F7F7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Introduction</a:t>
            </a:r>
          </a:p>
          <a:p>
            <a:pPr marL="1464945" marR="5715" indent="173355" algn="r">
              <a:lnSpc>
                <a:spcPts val="670"/>
              </a:lnSpc>
              <a:spcBef>
                <a:spcPts val="160"/>
              </a:spcBef>
            </a:pPr>
            <a:r>
              <a:rPr lang="en-US" sz="500" b="1" dirty="0">
                <a:solidFill>
                  <a:srgbClr val="7F7F7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Transmission Channels</a:t>
            </a:r>
            <a:endParaRPr sz="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Empirical Strategies</a:t>
            </a: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Survey of the Empirical Literature</a:t>
            </a: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Discussion</a:t>
            </a: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Conclusion</a:t>
            </a:r>
            <a:endParaRPr lang="en-US" sz="500" b="1" spc="-10" dirty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R="6350" algn="r">
              <a:lnSpc>
                <a:spcPts val="695"/>
              </a:lnSpc>
            </a:pPr>
            <a:endParaRPr sz="500" dirty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489AD079-2D92-45AF-8E90-9A049DE70002}"/>
              </a:ext>
            </a:extLst>
          </p:cNvPr>
          <p:cNvSpPr txBox="1"/>
          <p:nvPr/>
        </p:nvSpPr>
        <p:spPr>
          <a:xfrm>
            <a:off x="0" y="548005"/>
            <a:ext cx="4608195" cy="293029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lang="en-US" sz="1400" dirty="0">
                <a:solidFill>
                  <a:srgbClr val="FFFFFF"/>
                </a:solidFill>
                <a:latin typeface="+mn-lt"/>
                <a:cs typeface="Tahoma"/>
              </a:rPr>
              <a:t>Discussion (cont’d)</a:t>
            </a:r>
            <a:endParaRPr lang="en-US" sz="1400" dirty="0">
              <a:latin typeface="+mn-lt"/>
              <a:cs typeface="Tahoma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D36FFA5-DB64-44E1-B209-ADAD2FCAA5DB}"/>
              </a:ext>
            </a:extLst>
          </p:cNvPr>
          <p:cNvGrpSpPr/>
          <p:nvPr/>
        </p:nvGrpSpPr>
        <p:grpSpPr>
          <a:xfrm>
            <a:off x="2411996" y="1351069"/>
            <a:ext cx="2143726" cy="1338315"/>
            <a:chOff x="1711033" y="-23984"/>
            <a:chExt cx="2162207" cy="1254531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C37CA440-BB02-4995-A654-7D79A2582E7D}"/>
                </a:ext>
              </a:extLst>
            </p:cNvPr>
            <p:cNvSpPr/>
            <p:nvPr/>
          </p:nvSpPr>
          <p:spPr>
            <a:xfrm>
              <a:off x="1711033" y="-23984"/>
              <a:ext cx="2162207" cy="1218938"/>
            </a:xfrm>
            <a:prstGeom prst="roundRect">
              <a:avLst>
                <a:gd name="adj" fmla="val 10000"/>
              </a:avLst>
            </a:prstGeom>
            <a:ln>
              <a:solidFill>
                <a:srgbClr val="3333B2"/>
              </a:solidFill>
            </a:ln>
          </p:spPr>
          <p:style>
            <a:lnRef idx="3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Rectangle: Rounded Corners 4">
              <a:extLst>
                <a:ext uri="{FF2B5EF4-FFF2-40B4-BE49-F238E27FC236}">
                  <a16:creationId xmlns:a16="http://schemas.microsoft.com/office/drawing/2014/main" id="{5C2B49D0-FDAC-4E4D-BE5B-0FA857713691}"/>
                </a:ext>
              </a:extLst>
            </p:cNvPr>
            <p:cNvSpPr txBox="1"/>
            <p:nvPr/>
          </p:nvSpPr>
          <p:spPr>
            <a:xfrm>
              <a:off x="1758985" y="11609"/>
              <a:ext cx="2102625" cy="121893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350" tIns="6350" rIns="6350" bIns="6350" numCol="1" spcCol="1270" anchor="ctr" anchorCtr="0">
              <a:no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000" b="1" kern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Asymmetric Effects of Monetary Policy </a:t>
              </a:r>
            </a:p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ts val="362"/>
                </a:spcAft>
              </a:pPr>
              <a:r>
                <a:rPr lang="en-US" sz="750" b="1" kern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- </a:t>
              </a:r>
              <a:r>
                <a:rPr lang="en-US" sz="750" kern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Increases in interest rates have statistically significant effects on income distribution, whereas the effects of interest rate reductions are not statistically different from zero.</a:t>
              </a:r>
            </a:p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ts val="362"/>
                </a:spcAft>
              </a:pPr>
              <a:r>
                <a:rPr lang="en-US" sz="750" kern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- This contradicts the conventional view that distributional effects of interest rate changes are temporary and tend to balance out over the business cycle.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E22B626-0E0A-41F8-AD32-341E815CBF78}"/>
              </a:ext>
            </a:extLst>
          </p:cNvPr>
          <p:cNvGrpSpPr/>
          <p:nvPr/>
        </p:nvGrpSpPr>
        <p:grpSpPr>
          <a:xfrm>
            <a:off x="71314" y="1350503"/>
            <a:ext cx="2232681" cy="1291056"/>
            <a:chOff x="1711317" y="2036"/>
            <a:chExt cx="2162207" cy="1218938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D2ADF288-E389-4F65-B5C1-657CB25A6F5E}"/>
                </a:ext>
              </a:extLst>
            </p:cNvPr>
            <p:cNvSpPr/>
            <p:nvPr/>
          </p:nvSpPr>
          <p:spPr>
            <a:xfrm>
              <a:off x="1711317" y="2036"/>
              <a:ext cx="2162207" cy="1218938"/>
            </a:xfrm>
            <a:prstGeom prst="roundRect">
              <a:avLst>
                <a:gd name="adj" fmla="val 10000"/>
              </a:avLst>
            </a:prstGeom>
            <a:ln>
              <a:solidFill>
                <a:srgbClr val="3333B2"/>
              </a:solidFill>
            </a:ln>
          </p:spPr>
          <p:style>
            <a:lnRef idx="3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: Rounded Corners 4">
              <a:extLst>
                <a:ext uri="{FF2B5EF4-FFF2-40B4-BE49-F238E27FC236}">
                  <a16:creationId xmlns:a16="http://schemas.microsoft.com/office/drawing/2014/main" id="{D192BAB8-7508-438A-9A72-A9B90E08C8E0}"/>
                </a:ext>
              </a:extLst>
            </p:cNvPr>
            <p:cNvSpPr txBox="1"/>
            <p:nvPr/>
          </p:nvSpPr>
          <p:spPr>
            <a:xfrm>
              <a:off x="1764389" y="2036"/>
              <a:ext cx="2056061" cy="114753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350" tIns="6350" rIns="6350" bIns="6350" numCol="1" spcCol="1270" anchor="ctr" anchorCtr="0">
              <a:no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000" b="1" kern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Roles of Fiscal Policy Redistribution &amp; Labor Share </a:t>
              </a:r>
            </a:p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800" kern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- Shaping the ultimate impact of monetary policy on inequality</a:t>
              </a:r>
            </a:p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800" kern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-  Higher levels of redistribution diminish the impact of monetary policy on inequality </a:t>
              </a:r>
            </a:p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800" kern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- A higher labor share intensifies the impact of monetary policy on inequality.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83153058"/>
      </p:ext>
    </p:extLst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303995" y="0"/>
            <a:ext cx="2304415" cy="548005"/>
          </a:xfrm>
          <a:custGeom>
            <a:avLst/>
            <a:gdLst/>
            <a:ahLst/>
            <a:cxnLst/>
            <a:rect l="l" t="t" r="r" b="b"/>
            <a:pathLst>
              <a:path w="2304415" h="548005">
                <a:moveTo>
                  <a:pt x="2303995" y="0"/>
                </a:moveTo>
                <a:lnTo>
                  <a:pt x="0" y="0"/>
                </a:lnTo>
                <a:lnTo>
                  <a:pt x="0" y="548004"/>
                </a:lnTo>
                <a:lnTo>
                  <a:pt x="2303995" y="548004"/>
                </a:lnTo>
                <a:lnTo>
                  <a:pt x="230399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0A9ACF9F-1AC9-4013-BF97-E4EF09BDD462}"/>
              </a:ext>
            </a:extLst>
          </p:cNvPr>
          <p:cNvSpPr txBox="1"/>
          <p:nvPr/>
        </p:nvSpPr>
        <p:spPr>
          <a:xfrm>
            <a:off x="-396247" y="-33091"/>
            <a:ext cx="2700242" cy="666721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464945" marR="5715" indent="173355" algn="r">
              <a:lnSpc>
                <a:spcPts val="670"/>
              </a:lnSpc>
              <a:spcBef>
                <a:spcPts val="160"/>
              </a:spcBef>
            </a:pPr>
            <a:r>
              <a:rPr lang="en-US" sz="500" b="1" spc="-20" dirty="0">
                <a:solidFill>
                  <a:srgbClr val="7F7F7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Introduction</a:t>
            </a:r>
          </a:p>
          <a:p>
            <a:pPr marL="1464945" marR="5715" indent="173355" algn="r">
              <a:lnSpc>
                <a:spcPts val="670"/>
              </a:lnSpc>
              <a:spcBef>
                <a:spcPts val="160"/>
              </a:spcBef>
            </a:pPr>
            <a:r>
              <a:rPr lang="en-US" sz="500" b="1" dirty="0">
                <a:solidFill>
                  <a:srgbClr val="7F7F7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Transmission Channels</a:t>
            </a:r>
            <a:endParaRPr sz="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Empirical Strategies</a:t>
            </a: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Survey of the Empirical Literature</a:t>
            </a: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Discussion</a:t>
            </a: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Conclusion</a:t>
            </a:r>
            <a:endParaRPr lang="en-US" sz="500" b="1" spc="-1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R="6350" algn="r">
              <a:lnSpc>
                <a:spcPts val="695"/>
              </a:lnSpc>
            </a:pPr>
            <a:endParaRPr sz="500" dirty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07C267E-F8CE-4E93-969E-D14C8765E1AA}"/>
              </a:ext>
            </a:extLst>
          </p:cNvPr>
          <p:cNvGrpSpPr/>
          <p:nvPr/>
        </p:nvGrpSpPr>
        <p:grpSpPr>
          <a:xfrm>
            <a:off x="1377631" y="715810"/>
            <a:ext cx="1640928" cy="464630"/>
            <a:chOff x="1711317" y="2036"/>
            <a:chExt cx="2162207" cy="121893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50F54D-9712-495B-BE1A-7F5A7C3EADE5}"/>
                </a:ext>
              </a:extLst>
            </p:cNvPr>
            <p:cNvSpPr/>
            <p:nvPr/>
          </p:nvSpPr>
          <p:spPr>
            <a:xfrm>
              <a:off x="1711317" y="2036"/>
              <a:ext cx="2162207" cy="1218938"/>
            </a:xfrm>
            <a:prstGeom prst="roundRect">
              <a:avLst>
                <a:gd name="adj" fmla="val 10000"/>
              </a:avLst>
            </a:prstGeom>
            <a:ln>
              <a:solidFill>
                <a:srgbClr val="3333B2"/>
              </a:solidFill>
            </a:ln>
          </p:spPr>
          <p:style>
            <a:lnRef idx="3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: Rounded Corners 4">
              <a:extLst>
                <a:ext uri="{FF2B5EF4-FFF2-40B4-BE49-F238E27FC236}">
                  <a16:creationId xmlns:a16="http://schemas.microsoft.com/office/drawing/2014/main" id="{569A3FDB-C814-4356-9714-44EF985D319C}"/>
                </a:ext>
              </a:extLst>
            </p:cNvPr>
            <p:cNvSpPr txBox="1"/>
            <p:nvPr/>
          </p:nvSpPr>
          <p:spPr>
            <a:xfrm>
              <a:off x="1747019" y="37737"/>
              <a:ext cx="2083786" cy="113542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350" tIns="6350" rIns="6350" bIns="6350" numCol="1" spcCol="1270" anchor="ctr" anchorCtr="0">
              <a:no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b="1" kern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Concluding Remarks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EB73701-5E88-4C35-A669-C2D87FEA7139}"/>
              </a:ext>
            </a:extLst>
          </p:cNvPr>
          <p:cNvGrpSpPr/>
          <p:nvPr/>
        </p:nvGrpSpPr>
        <p:grpSpPr>
          <a:xfrm>
            <a:off x="92462" y="1440309"/>
            <a:ext cx="1939131" cy="755127"/>
            <a:chOff x="1711317" y="2036"/>
            <a:chExt cx="2162207" cy="1218938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AC56CADE-1C85-42CF-8D51-305D68417552}"/>
                </a:ext>
              </a:extLst>
            </p:cNvPr>
            <p:cNvSpPr/>
            <p:nvPr/>
          </p:nvSpPr>
          <p:spPr>
            <a:xfrm>
              <a:off x="1711317" y="2036"/>
              <a:ext cx="2162207" cy="1218938"/>
            </a:xfrm>
            <a:prstGeom prst="roundRect">
              <a:avLst>
                <a:gd name="adj" fmla="val 10000"/>
              </a:avLst>
            </a:prstGeom>
            <a:ln>
              <a:solidFill>
                <a:srgbClr val="3333B2"/>
              </a:solidFill>
            </a:ln>
          </p:spPr>
          <p:style>
            <a:lnRef idx="3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: Rounded Corners 4">
              <a:extLst>
                <a:ext uri="{FF2B5EF4-FFF2-40B4-BE49-F238E27FC236}">
                  <a16:creationId xmlns:a16="http://schemas.microsoft.com/office/drawing/2014/main" id="{E228AE97-A7CD-44D7-B69E-16AD1E3E84B2}"/>
                </a:ext>
              </a:extLst>
            </p:cNvPr>
            <p:cNvSpPr txBox="1"/>
            <p:nvPr/>
          </p:nvSpPr>
          <p:spPr>
            <a:xfrm>
              <a:off x="1747019" y="37737"/>
              <a:ext cx="2083786" cy="113542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350" tIns="6350" rIns="6350" bIns="6350" numCol="1" spcCol="1270" anchor="ctr" anchorCtr="0">
              <a:no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0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1030529-6B58-4300-9A2E-48F0FCCFFCDD}"/>
              </a:ext>
            </a:extLst>
          </p:cNvPr>
          <p:cNvGrpSpPr/>
          <p:nvPr/>
        </p:nvGrpSpPr>
        <p:grpSpPr>
          <a:xfrm>
            <a:off x="2547627" y="1462685"/>
            <a:ext cx="1958179" cy="725505"/>
            <a:chOff x="1711317" y="2036"/>
            <a:chExt cx="2162207" cy="1218938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581360FF-8584-4005-B9DC-3403A390FF96}"/>
                </a:ext>
              </a:extLst>
            </p:cNvPr>
            <p:cNvSpPr/>
            <p:nvPr/>
          </p:nvSpPr>
          <p:spPr>
            <a:xfrm>
              <a:off x="1711317" y="2036"/>
              <a:ext cx="2162207" cy="1218938"/>
            </a:xfrm>
            <a:prstGeom prst="roundRect">
              <a:avLst>
                <a:gd name="adj" fmla="val 10000"/>
              </a:avLst>
            </a:prstGeom>
            <a:ln>
              <a:solidFill>
                <a:srgbClr val="3333B2"/>
              </a:solidFill>
            </a:ln>
          </p:spPr>
          <p:style>
            <a:lnRef idx="3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: Rounded Corners 4">
              <a:extLst>
                <a:ext uri="{FF2B5EF4-FFF2-40B4-BE49-F238E27FC236}">
                  <a16:creationId xmlns:a16="http://schemas.microsoft.com/office/drawing/2014/main" id="{4858A43C-B468-4A93-9905-5C743BBB0A51}"/>
                </a:ext>
              </a:extLst>
            </p:cNvPr>
            <p:cNvSpPr txBox="1"/>
            <p:nvPr/>
          </p:nvSpPr>
          <p:spPr>
            <a:xfrm>
              <a:off x="1747019" y="37737"/>
              <a:ext cx="2083786" cy="113542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350" tIns="6350" rIns="6350" bIns="6350" numCol="1" spcCol="1270" anchor="ctr" anchorCtr="0">
              <a:no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0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BA2F93C-EBDA-4490-B3D7-A4E7EF9C745C}"/>
              </a:ext>
            </a:extLst>
          </p:cNvPr>
          <p:cNvGrpSpPr/>
          <p:nvPr/>
        </p:nvGrpSpPr>
        <p:grpSpPr>
          <a:xfrm>
            <a:off x="1403089" y="2470244"/>
            <a:ext cx="1896226" cy="796821"/>
            <a:chOff x="1711317" y="-37672"/>
            <a:chExt cx="2197036" cy="1258646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2FA285AC-3DFE-4F39-891B-6DF34F79E066}"/>
                </a:ext>
              </a:extLst>
            </p:cNvPr>
            <p:cNvSpPr/>
            <p:nvPr/>
          </p:nvSpPr>
          <p:spPr>
            <a:xfrm>
              <a:off x="1711317" y="-37672"/>
              <a:ext cx="2197036" cy="1258646"/>
            </a:xfrm>
            <a:prstGeom prst="roundRect">
              <a:avLst>
                <a:gd name="adj" fmla="val 10000"/>
              </a:avLst>
            </a:prstGeom>
            <a:ln>
              <a:solidFill>
                <a:srgbClr val="3333B2"/>
              </a:solidFill>
            </a:ln>
          </p:spPr>
          <p:style>
            <a:lnRef idx="3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: Rounded Corners 4">
              <a:extLst>
                <a:ext uri="{FF2B5EF4-FFF2-40B4-BE49-F238E27FC236}">
                  <a16:creationId xmlns:a16="http://schemas.microsoft.com/office/drawing/2014/main" id="{A03A3A42-51BA-404D-B189-50ADFAD95AF1}"/>
                </a:ext>
              </a:extLst>
            </p:cNvPr>
            <p:cNvSpPr txBox="1"/>
            <p:nvPr/>
          </p:nvSpPr>
          <p:spPr>
            <a:xfrm>
              <a:off x="1802757" y="9118"/>
              <a:ext cx="2083786" cy="113542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350" tIns="6350" rIns="6350" bIns="6350" numCol="1" spcCol="1270" anchor="ctr" anchorCtr="0">
              <a:noAutofit/>
            </a:bodyPr>
            <a:lstStyle/>
            <a:p>
              <a:pPr marR="0" lvl="0" rtl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75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There is consistent evidence that higher fiscal policy redistribution is associated with lower inequality impacts of monetary policy and higher wage share is associated with higher impacts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84678D11-C706-4A12-A6FA-135C63F9B687}"/>
              </a:ext>
            </a:extLst>
          </p:cNvPr>
          <p:cNvSpPr/>
          <p:nvPr/>
        </p:nvSpPr>
        <p:spPr>
          <a:xfrm>
            <a:off x="-172800" y="1489640"/>
            <a:ext cx="2304415" cy="6072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Char char="-"/>
              <a:tabLst/>
              <a:defRPr/>
            </a:pPr>
            <a:r>
              <a:rPr lang="en-US" sz="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conventional monetary policy, the strongest evidence suggests that expansionary MP decreases inequality, while contractionary MP increases it.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38BB2E-B721-4AF2-8964-102306EDD926}"/>
              </a:ext>
            </a:extLst>
          </p:cNvPr>
          <p:cNvSpPr/>
          <p:nvPr/>
        </p:nvSpPr>
        <p:spPr>
          <a:xfrm>
            <a:off x="2568328" y="1471581"/>
            <a:ext cx="1958179" cy="738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tabLst/>
              <a:defRPr/>
            </a:pPr>
            <a:r>
              <a:rPr lang="en-US" sz="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unconventional MP, methodologies indicate that UMP generally reduces inequality, although there is some contradictory evidence, case of Japan and US.</a:t>
            </a:r>
          </a:p>
        </p:txBody>
      </p:sp>
      <p:sp>
        <p:nvSpPr>
          <p:cNvPr id="22" name="object 4">
            <a:extLst>
              <a:ext uri="{FF2B5EF4-FFF2-40B4-BE49-F238E27FC236}">
                <a16:creationId xmlns:a16="http://schemas.microsoft.com/office/drawing/2014/main" id="{8AF14345-D6FD-4992-8C39-A71A269A8AB7}"/>
              </a:ext>
            </a:extLst>
          </p:cNvPr>
          <p:cNvSpPr txBox="1"/>
          <p:nvPr/>
        </p:nvSpPr>
        <p:spPr>
          <a:xfrm>
            <a:off x="2381250" y="193684"/>
            <a:ext cx="1650960" cy="1788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spcBef>
                <a:spcPts val="95"/>
              </a:spcBef>
            </a:pPr>
            <a:r>
              <a:rPr lang="en-US" sz="5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Concluding Remarks</a:t>
            </a:r>
          </a:p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n-US" sz="5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Recommendations</a:t>
            </a:r>
            <a:endParaRPr lang="en-US" sz="500" b="1" spc="-20" dirty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1F7FCF2-6886-4711-B773-6811B6DCFA81}"/>
              </a:ext>
            </a:extLst>
          </p:cNvPr>
          <p:cNvCxnSpPr>
            <a:cxnSpLocks/>
          </p:cNvCxnSpPr>
          <p:nvPr/>
        </p:nvCxnSpPr>
        <p:spPr>
          <a:xfrm>
            <a:off x="2244267" y="1197232"/>
            <a:ext cx="14807" cy="1293559"/>
          </a:xfrm>
          <a:prstGeom prst="straightConnector1">
            <a:avLst/>
          </a:prstGeom>
          <a:ln w="28575">
            <a:solidFill>
              <a:srgbClr val="3333B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89D1135-758B-454D-9D3E-786D8F8E3006}"/>
              </a:ext>
            </a:extLst>
          </p:cNvPr>
          <p:cNvCxnSpPr>
            <a:cxnSpLocks/>
          </p:cNvCxnSpPr>
          <p:nvPr/>
        </p:nvCxnSpPr>
        <p:spPr>
          <a:xfrm flipH="1">
            <a:off x="1543050" y="1192775"/>
            <a:ext cx="377354" cy="268783"/>
          </a:xfrm>
          <a:prstGeom prst="straightConnector1">
            <a:avLst/>
          </a:prstGeom>
          <a:ln w="28575">
            <a:solidFill>
              <a:srgbClr val="3333B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855F562-38AD-463A-B8DF-41FACC478597}"/>
              </a:ext>
            </a:extLst>
          </p:cNvPr>
          <p:cNvCxnSpPr>
            <a:cxnSpLocks/>
          </p:cNvCxnSpPr>
          <p:nvPr/>
        </p:nvCxnSpPr>
        <p:spPr>
          <a:xfrm>
            <a:off x="2612551" y="1197232"/>
            <a:ext cx="302099" cy="243077"/>
          </a:xfrm>
          <a:prstGeom prst="straightConnector1">
            <a:avLst/>
          </a:prstGeom>
          <a:ln w="28575">
            <a:solidFill>
              <a:srgbClr val="3333B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8642921"/>
      </p:ext>
    </p:extLst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303995" y="0"/>
            <a:ext cx="2304415" cy="548005"/>
          </a:xfrm>
          <a:custGeom>
            <a:avLst/>
            <a:gdLst/>
            <a:ahLst/>
            <a:cxnLst/>
            <a:rect l="l" t="t" r="r" b="b"/>
            <a:pathLst>
              <a:path w="2304415" h="548005">
                <a:moveTo>
                  <a:pt x="2303995" y="0"/>
                </a:moveTo>
                <a:lnTo>
                  <a:pt x="0" y="0"/>
                </a:lnTo>
                <a:lnTo>
                  <a:pt x="0" y="548004"/>
                </a:lnTo>
                <a:lnTo>
                  <a:pt x="2303995" y="548004"/>
                </a:lnTo>
                <a:lnTo>
                  <a:pt x="230399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object 4">
            <a:extLst>
              <a:ext uri="{FF2B5EF4-FFF2-40B4-BE49-F238E27FC236}">
                <a16:creationId xmlns:a16="http://schemas.microsoft.com/office/drawing/2014/main" id="{B4448D95-BDC8-47A1-81E1-FAB7396CFAA7}"/>
              </a:ext>
            </a:extLst>
          </p:cNvPr>
          <p:cNvSpPr txBox="1"/>
          <p:nvPr/>
        </p:nvSpPr>
        <p:spPr>
          <a:xfrm>
            <a:off x="2411996" y="201693"/>
            <a:ext cx="1650960" cy="1788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spcBef>
                <a:spcPts val="95"/>
              </a:spcBef>
            </a:pPr>
            <a:r>
              <a:rPr lang="en-US" sz="500" b="1" dirty="0">
                <a:solidFill>
                  <a:srgbClr val="7F7F7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Concluding Remarks</a:t>
            </a:r>
            <a:endParaRPr lang="en-US" sz="5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n-US" sz="5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Recommendations</a:t>
            </a:r>
            <a:endParaRPr lang="en-US" sz="500" b="1" spc="-2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0A9ACF9F-1AC9-4013-BF97-E4EF09BDD462}"/>
              </a:ext>
            </a:extLst>
          </p:cNvPr>
          <p:cNvSpPr txBox="1"/>
          <p:nvPr/>
        </p:nvSpPr>
        <p:spPr>
          <a:xfrm>
            <a:off x="-396247" y="-33091"/>
            <a:ext cx="2700242" cy="666721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464945" marR="5715" indent="173355" algn="r">
              <a:lnSpc>
                <a:spcPts val="670"/>
              </a:lnSpc>
              <a:spcBef>
                <a:spcPts val="160"/>
              </a:spcBef>
            </a:pPr>
            <a:r>
              <a:rPr lang="en-US" sz="500" b="1" spc="-20" dirty="0">
                <a:solidFill>
                  <a:srgbClr val="7F7F7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Introduction</a:t>
            </a:r>
          </a:p>
          <a:p>
            <a:pPr marL="1464945" marR="5715" indent="173355" algn="r">
              <a:lnSpc>
                <a:spcPts val="670"/>
              </a:lnSpc>
              <a:spcBef>
                <a:spcPts val="160"/>
              </a:spcBef>
            </a:pPr>
            <a:r>
              <a:rPr lang="en-US" sz="500" b="1" dirty="0">
                <a:solidFill>
                  <a:srgbClr val="7F7F7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Transmission Channels</a:t>
            </a:r>
            <a:endParaRPr sz="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Empirical Strategies</a:t>
            </a: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Survey of the Empirical Literature</a:t>
            </a: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Discussion</a:t>
            </a:r>
          </a:p>
          <a:p>
            <a:pPr marR="6350" algn="r">
              <a:lnSpc>
                <a:spcPts val="695"/>
              </a:lnSpc>
            </a:pPr>
            <a:r>
              <a:rPr lang="en-US" sz="500" b="1" spc="-35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Conclusion</a:t>
            </a:r>
            <a:endParaRPr lang="en-US" sz="500" b="1" spc="-10" dirty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R="6350" algn="r">
              <a:lnSpc>
                <a:spcPts val="695"/>
              </a:lnSpc>
            </a:pPr>
            <a:endParaRPr sz="500" dirty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07C267E-F8CE-4E93-969E-D14C8765E1AA}"/>
              </a:ext>
            </a:extLst>
          </p:cNvPr>
          <p:cNvGrpSpPr/>
          <p:nvPr/>
        </p:nvGrpSpPr>
        <p:grpSpPr>
          <a:xfrm>
            <a:off x="1370714" y="732764"/>
            <a:ext cx="1640928" cy="464630"/>
            <a:chOff x="1711317" y="2036"/>
            <a:chExt cx="2162207" cy="121893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50F54D-9712-495B-BE1A-7F5A7C3EADE5}"/>
                </a:ext>
              </a:extLst>
            </p:cNvPr>
            <p:cNvSpPr/>
            <p:nvPr/>
          </p:nvSpPr>
          <p:spPr>
            <a:xfrm>
              <a:off x="1711317" y="2036"/>
              <a:ext cx="2162207" cy="1218938"/>
            </a:xfrm>
            <a:prstGeom prst="roundRect">
              <a:avLst>
                <a:gd name="adj" fmla="val 10000"/>
              </a:avLst>
            </a:prstGeom>
            <a:ln>
              <a:solidFill>
                <a:srgbClr val="3333B2"/>
              </a:solidFill>
            </a:ln>
          </p:spPr>
          <p:style>
            <a:lnRef idx="3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: Rounded Corners 4">
              <a:extLst>
                <a:ext uri="{FF2B5EF4-FFF2-40B4-BE49-F238E27FC236}">
                  <a16:creationId xmlns:a16="http://schemas.microsoft.com/office/drawing/2014/main" id="{569A3FDB-C814-4356-9714-44EF985D319C}"/>
                </a:ext>
              </a:extLst>
            </p:cNvPr>
            <p:cNvSpPr txBox="1"/>
            <p:nvPr/>
          </p:nvSpPr>
          <p:spPr>
            <a:xfrm>
              <a:off x="1747019" y="37737"/>
              <a:ext cx="2083786" cy="113542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350" tIns="6350" rIns="6350" bIns="6350" numCol="1" spcCol="1270" anchor="ctr" anchorCtr="0">
              <a:no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100" b="1" kern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Recommendations for    Future Research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EB73701-5E88-4C35-A669-C2D87FEA7139}"/>
              </a:ext>
            </a:extLst>
          </p:cNvPr>
          <p:cNvGrpSpPr/>
          <p:nvPr/>
        </p:nvGrpSpPr>
        <p:grpSpPr>
          <a:xfrm>
            <a:off x="122831" y="1549687"/>
            <a:ext cx="1803424" cy="777255"/>
            <a:chOff x="1711317" y="2036"/>
            <a:chExt cx="2162207" cy="1218938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AC56CADE-1C85-42CF-8D51-305D68417552}"/>
                </a:ext>
              </a:extLst>
            </p:cNvPr>
            <p:cNvSpPr/>
            <p:nvPr/>
          </p:nvSpPr>
          <p:spPr>
            <a:xfrm>
              <a:off x="1711317" y="2036"/>
              <a:ext cx="2162207" cy="1218938"/>
            </a:xfrm>
            <a:prstGeom prst="roundRect">
              <a:avLst>
                <a:gd name="adj" fmla="val 10000"/>
              </a:avLst>
            </a:prstGeom>
            <a:ln>
              <a:solidFill>
                <a:srgbClr val="3333B2"/>
              </a:solidFill>
            </a:ln>
          </p:spPr>
          <p:style>
            <a:lnRef idx="3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: Rounded Corners 4">
              <a:extLst>
                <a:ext uri="{FF2B5EF4-FFF2-40B4-BE49-F238E27FC236}">
                  <a16:creationId xmlns:a16="http://schemas.microsoft.com/office/drawing/2014/main" id="{E228AE97-A7CD-44D7-B69E-16AD1E3E84B2}"/>
                </a:ext>
              </a:extLst>
            </p:cNvPr>
            <p:cNvSpPr txBox="1"/>
            <p:nvPr/>
          </p:nvSpPr>
          <p:spPr>
            <a:xfrm>
              <a:off x="1747019" y="37737"/>
              <a:ext cx="2083786" cy="113542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350" tIns="6350" rIns="6350" bIns="6350" numCol="1" spcCol="1270" anchor="ctr" anchorCtr="0">
              <a:no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0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1030529-6B58-4300-9A2E-48F0FCCFFCDD}"/>
              </a:ext>
            </a:extLst>
          </p:cNvPr>
          <p:cNvGrpSpPr/>
          <p:nvPr/>
        </p:nvGrpSpPr>
        <p:grpSpPr>
          <a:xfrm>
            <a:off x="2502262" y="1545204"/>
            <a:ext cx="1940160" cy="777255"/>
            <a:chOff x="1711317" y="2036"/>
            <a:chExt cx="2162207" cy="1218938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581360FF-8584-4005-B9DC-3403A390FF96}"/>
                </a:ext>
              </a:extLst>
            </p:cNvPr>
            <p:cNvSpPr/>
            <p:nvPr/>
          </p:nvSpPr>
          <p:spPr>
            <a:xfrm>
              <a:off x="1711317" y="2036"/>
              <a:ext cx="2162207" cy="1218938"/>
            </a:xfrm>
            <a:prstGeom prst="roundRect">
              <a:avLst>
                <a:gd name="adj" fmla="val 10000"/>
              </a:avLst>
            </a:prstGeom>
            <a:ln>
              <a:solidFill>
                <a:srgbClr val="3333B2"/>
              </a:solidFill>
            </a:ln>
          </p:spPr>
          <p:style>
            <a:lnRef idx="3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: Rounded Corners 4">
              <a:extLst>
                <a:ext uri="{FF2B5EF4-FFF2-40B4-BE49-F238E27FC236}">
                  <a16:creationId xmlns:a16="http://schemas.microsoft.com/office/drawing/2014/main" id="{4858A43C-B468-4A93-9905-5C743BBB0A51}"/>
                </a:ext>
              </a:extLst>
            </p:cNvPr>
            <p:cNvSpPr txBox="1"/>
            <p:nvPr/>
          </p:nvSpPr>
          <p:spPr>
            <a:xfrm>
              <a:off x="1747019" y="37737"/>
              <a:ext cx="2083786" cy="113542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350" tIns="6350" rIns="6350" bIns="6350" numCol="1" spcCol="1270" anchor="ctr" anchorCtr="0">
              <a:no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0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BA2F93C-EBDA-4490-B3D7-A4E7EF9C745C}"/>
              </a:ext>
            </a:extLst>
          </p:cNvPr>
          <p:cNvGrpSpPr/>
          <p:nvPr/>
        </p:nvGrpSpPr>
        <p:grpSpPr>
          <a:xfrm>
            <a:off x="1370714" y="2495671"/>
            <a:ext cx="1856982" cy="841207"/>
            <a:chOff x="1711317" y="2036"/>
            <a:chExt cx="2162207" cy="1218938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2FA285AC-3DFE-4F39-891B-6DF34F79E066}"/>
                </a:ext>
              </a:extLst>
            </p:cNvPr>
            <p:cNvSpPr/>
            <p:nvPr/>
          </p:nvSpPr>
          <p:spPr>
            <a:xfrm>
              <a:off x="1711317" y="2036"/>
              <a:ext cx="2162207" cy="1218938"/>
            </a:xfrm>
            <a:prstGeom prst="roundRect">
              <a:avLst>
                <a:gd name="adj" fmla="val 10000"/>
              </a:avLst>
            </a:prstGeom>
            <a:ln>
              <a:solidFill>
                <a:srgbClr val="3333B2"/>
              </a:solidFill>
            </a:ln>
          </p:spPr>
          <p:style>
            <a:lnRef idx="3">
              <a:scrgbClr r="0" g="0" b="0"/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: Rounded Corners 4">
              <a:extLst>
                <a:ext uri="{FF2B5EF4-FFF2-40B4-BE49-F238E27FC236}">
                  <a16:creationId xmlns:a16="http://schemas.microsoft.com/office/drawing/2014/main" id="{A03A3A42-51BA-404D-B189-50ADFAD95AF1}"/>
                </a:ext>
              </a:extLst>
            </p:cNvPr>
            <p:cNvSpPr txBox="1"/>
            <p:nvPr/>
          </p:nvSpPr>
          <p:spPr>
            <a:xfrm>
              <a:off x="1789738" y="50541"/>
              <a:ext cx="2083786" cy="113542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350" tIns="6350" rIns="6350" bIns="6350" numCol="1" spcCol="1270" anchor="ctr" anchorCtr="0">
              <a:noAutofit/>
            </a:bodyPr>
            <a:lstStyle/>
            <a:p>
              <a:pPr marR="0" lvl="0" rtl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7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Consider methodological robustness and samples’ length to avoid the misconceptual belief that the distributional effects of monetary policy diminish over time, a belief which contradicted with much empirical evidence. 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84678D11-C706-4A12-A6FA-135C63F9B687}"/>
              </a:ext>
            </a:extLst>
          </p:cNvPr>
          <p:cNvSpPr/>
          <p:nvPr/>
        </p:nvSpPr>
        <p:spPr>
          <a:xfrm>
            <a:off x="167678" y="1655640"/>
            <a:ext cx="1890099" cy="5430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tabLst/>
              <a:defRPr/>
            </a:pPr>
            <a:r>
              <a:rPr lang="en-US" sz="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Advocate for a more distributive fiscal policy and emphasizes the need for a precise estimation of the asymmetry between interest rate hikes and falls.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38BB2E-B721-4AF2-8964-102306EDD926}"/>
              </a:ext>
            </a:extLst>
          </p:cNvPr>
          <p:cNvSpPr/>
          <p:nvPr/>
        </p:nvSpPr>
        <p:spPr>
          <a:xfrm>
            <a:off x="2547109" y="1648131"/>
            <a:ext cx="1940160" cy="5430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tabLst/>
              <a:defRPr/>
            </a:pPr>
            <a:r>
              <a:rPr lang="en-US" sz="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Study the interactions between fiscal and monetary policies on income distribution and other dimensions of distributive impact, as gender and race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54F41A6-93E5-42D5-9EB5-F0372A01177B}"/>
              </a:ext>
            </a:extLst>
          </p:cNvPr>
          <p:cNvCxnSpPr/>
          <p:nvPr/>
        </p:nvCxnSpPr>
        <p:spPr>
          <a:xfrm flipH="1">
            <a:off x="1543050" y="1192775"/>
            <a:ext cx="377353" cy="356912"/>
          </a:xfrm>
          <a:prstGeom prst="straightConnector1">
            <a:avLst/>
          </a:prstGeom>
          <a:ln w="28575">
            <a:solidFill>
              <a:srgbClr val="3333B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CBDFD28-20A6-42F1-ABDD-0EAE56087B7B}"/>
              </a:ext>
            </a:extLst>
          </p:cNvPr>
          <p:cNvCxnSpPr>
            <a:cxnSpLocks/>
          </p:cNvCxnSpPr>
          <p:nvPr/>
        </p:nvCxnSpPr>
        <p:spPr>
          <a:xfrm>
            <a:off x="2210673" y="1202112"/>
            <a:ext cx="14807" cy="1293559"/>
          </a:xfrm>
          <a:prstGeom prst="straightConnector1">
            <a:avLst/>
          </a:prstGeom>
          <a:ln w="28575">
            <a:solidFill>
              <a:srgbClr val="3333B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9D253C9-A585-4763-84A9-5E721934F740}"/>
              </a:ext>
            </a:extLst>
          </p:cNvPr>
          <p:cNvCxnSpPr>
            <a:cxnSpLocks/>
          </p:cNvCxnSpPr>
          <p:nvPr/>
        </p:nvCxnSpPr>
        <p:spPr>
          <a:xfrm>
            <a:off x="2530559" y="1201932"/>
            <a:ext cx="295333" cy="335547"/>
          </a:xfrm>
          <a:prstGeom prst="straightConnector1">
            <a:avLst/>
          </a:prstGeom>
          <a:ln w="28575">
            <a:solidFill>
              <a:srgbClr val="3333B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5381941"/>
      </p:ext>
    </p:extLst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1778</TotalTime>
  <Words>2231</Words>
  <Application>Microsoft Office PowerPoint</Application>
  <PresentationFormat>Custom</PresentationFormat>
  <Paragraphs>412</Paragraphs>
  <Slides>21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Calibri</vt:lpstr>
      <vt:lpstr>Calisto MT</vt:lpstr>
      <vt:lpstr>Cambria Math</vt:lpstr>
      <vt:lpstr>Franklin Gothic Book</vt:lpstr>
      <vt:lpstr>Lucida Sans Unicode</vt:lpstr>
      <vt:lpstr>Tahoma</vt:lpstr>
      <vt:lpstr>Times New Roman</vt:lpstr>
      <vt:lpstr>Office Theme</vt:lpstr>
      <vt:lpstr>Monetary Policy and Personal Income Distribution:  A Survey of the Empirical Literature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Adaptation technology and free-riding incentives in international environmental agreements</dc:title>
  <cp:lastModifiedBy>Rawan Al Gharib</cp:lastModifiedBy>
  <cp:revision>150</cp:revision>
  <dcterms:created xsi:type="dcterms:W3CDTF">2023-03-11T18:12:38Z</dcterms:created>
  <dcterms:modified xsi:type="dcterms:W3CDTF">2026-03-08T18:11:19Z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2014-01-04T00:00:00Z</vt:filetime>
  </property>
  <property fmtid="{D5CDD505-2E9C-101B-9397-08002B2CF9AE}" pid="3" name="Creator">
    <vt:lpwstr>LaTeX with Beamer class version 3.10</vt:lpwstr>
  </property>
  <property fmtid="{D5CDD505-2E9C-101B-9397-08002B2CF9AE}" pid="4" name="LastSaved">
    <vt:filetime>2023-03-11T00:00:00Z</vt:filetime>
  </property>
</Properties>
</file>